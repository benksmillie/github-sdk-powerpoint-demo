
<file path=[Content_Types].xml><?xml version="1.0" encoding="utf-8"?>
<Types xmlns="http://schemas.openxmlformats.org/package/2006/content-types">
  <Default Extension="jpeg" ContentType="image/jpeg"/>
  <Default Extension="photo-1525625293386-3f8f99389edd" ContentType="image/photo-1525625293386-3f8f99389edd"/>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61" r:id="rId2"/>
    <p:sldId id="264" r:id="rId3"/>
    <p:sldId id="258" r:id="rId4"/>
    <p:sldId id="262" r:id="rId5"/>
    <p:sldId id="260" r:id="rId6"/>
    <p:sldId id="263" r:id="rId7"/>
    <p:sldId id="256" r:id="rId8"/>
  </p:sldIdLst>
  <p:sldSz cx="9144000" cy="5143500" type="screen16x9"/>
  <p:notesSz cx="6858000" cy="9144000"/>
  <p:defaultText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468"/>
    <p:restoredTop sz="94677"/>
  </p:normalViewPr>
  <p:slideViewPr>
    <p:cSldViewPr snapToGrid="0" snapToObjects="1">
      <p:cViewPr varScale="1">
        <p:scale>
          <a:sx n="137" d="100"/>
          <a:sy n="137" d="100"/>
        </p:scale>
        <p:origin x="192" y="1960"/>
      </p:cViewPr>
      <p:guideLst>
        <p:guide orient="horz" pos="162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65ADB7-7410-3445-AF9C-1CE71E165676}" type="datetimeFigureOut">
              <a:rPr lang="en-US" smtClean="0"/>
              <a:t>3/19/26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CE8620-84B8-444D-AB48-33C73ACB79DA}" type="slidenum">
              <a:rPr lang="en-US" smtClean="0"/>
              <a:t>‹#›</a:t>
            </a:fld>
            <a:endParaRPr lang="en-US"/>
          </a:p>
        </p:txBody>
      </p:sp>
    </p:spTree>
    <p:extLst>
      <p:ext uri="{BB962C8B-B14F-4D97-AF65-F5344CB8AC3E}">
        <p14:creationId xmlns:p14="http://schemas.microsoft.com/office/powerpoint/2010/main" val="5384500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0"/>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229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8"/>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4"/>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5BCAD085-E8A6-8845-BD4E-CB4CCA059FC4}" type="datetimeFigureOut">
              <a:rPr lang="en-US" smtClean="0"/>
              <a:t>3/19/26</a:t>
            </a:fld>
            <a:endParaRPr lang="en-US"/>
          </a:p>
        </p:txBody>
      </p:sp>
      <p:sp>
        <p:nvSpPr>
          <p:cNvPr id="5" name="Footer Placeholder 4"/>
          <p:cNvSpPr>
            <a:spLocks noGrp="1"/>
          </p:cNvSpPr>
          <p:nvPr>
            <p:ph type="ftr" sz="quarter" idx="3"/>
          </p:nvPr>
        </p:nvSpPr>
        <p:spPr>
          <a:xfrm>
            <a:off x="3124200" y="4767264"/>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4"/>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342900" rtl="0" eaLnBrk="1" latinLnBrk="0" hangingPunct="1">
        <a:spcBef>
          <a:spcPct val="20000"/>
        </a:spcBef>
        <a:buFont typeface="Arial"/>
        <a:buChar char="•"/>
        <a:defRPr sz="2400" kern="1200">
          <a:solidFill>
            <a:schemeClr val="tx1"/>
          </a:solidFill>
          <a:latin typeface="+mn-lt"/>
          <a:ea typeface="+mn-ea"/>
          <a:cs typeface="+mn-cs"/>
        </a:defRPr>
      </a:lvl1pPr>
      <a:lvl2pPr marL="557213" indent="-214313" algn="l" defTabSz="342900" rtl="0" eaLnBrk="1" latinLnBrk="0" hangingPunct="1">
        <a:spcBef>
          <a:spcPct val="20000"/>
        </a:spcBef>
        <a:buFont typeface="Arial"/>
        <a:buChar char="–"/>
        <a:defRPr sz="2100" kern="1200">
          <a:solidFill>
            <a:schemeClr val="tx1"/>
          </a:solidFill>
          <a:latin typeface="+mn-lt"/>
          <a:ea typeface="+mn-ea"/>
          <a:cs typeface="+mn-cs"/>
        </a:defRPr>
      </a:lvl2pPr>
      <a:lvl3pPr marL="857250" indent="-17145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200150" indent="-17145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543050" indent="-171450" algn="l" defTabSz="342900" rtl="0" eaLnBrk="1" latinLnBrk="0" hangingPunct="1">
        <a:spcBef>
          <a:spcPct val="20000"/>
        </a:spcBef>
        <a:buFont typeface="Arial"/>
        <a:buChar char="»"/>
        <a:defRPr sz="1500" kern="1200">
          <a:solidFill>
            <a:schemeClr val="tx1"/>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hoto-1525625293386-3f8f99389edd"/><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customer-stories/tokopedia"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8" Type="http://schemas.openxmlformats.org/officeDocument/2006/relationships/hyperlink" Target="https://github.com/customer-stories/duolingo" TargetMode="External"/><Relationship Id="rId3" Type="http://schemas.openxmlformats.org/officeDocument/2006/relationships/hyperlink" Target="https://github.com/customer-stories/tokopedia" TargetMode="External"/><Relationship Id="rId7" Type="http://schemas.openxmlformats.org/officeDocument/2006/relationships/hyperlink" Target="https://github.com/customer-stories/philips" TargetMode="External"/><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hyperlink" Target="https://github.com/customer-stories/mercedes-benz" TargetMode="External"/><Relationship Id="rId5" Type="http://schemas.openxmlformats.org/officeDocument/2006/relationships/hyperlink" Target="https://github.com/customer-stories/vodafone" TargetMode="External"/><Relationship Id="rId4" Type="http://schemas.openxmlformats.org/officeDocument/2006/relationships/hyperlink" Target="https://github.com/customer-stories/stripe" TargetMode="External"/><Relationship Id="rId9" Type="http://schemas.openxmlformats.org/officeDocument/2006/relationships/hyperlink" Target="https://github.com/customer-stories"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hyperlink" Target="https://github.com/features/copilot"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azure.microsoft.com/en-us/blog/microsofts-commitment-to-supporting-cloud-infrastructure-demand-in-asia/" TargetMode="External"/><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01411"/>
          </a:solidFill>
          <a:ln/>
        </p:spPr>
        <p:txBody>
          <a:bodyPr/>
          <a:lstStyle/>
          <a:p>
            <a:endParaRPr lang="en-US"/>
          </a:p>
        </p:txBody>
      </p:sp>
      <p:sp>
        <p:nvSpPr>
          <p:cNvPr id="3" name="Shape 1"/>
          <p:cNvSpPr/>
          <p:nvPr/>
        </p:nvSpPr>
        <p:spPr>
          <a:xfrm>
            <a:off x="0" y="0"/>
            <a:ext cx="9144000" cy="36576"/>
          </a:xfrm>
          <a:prstGeom prst="rect">
            <a:avLst/>
          </a:prstGeom>
          <a:solidFill>
            <a:srgbClr val="0FBF3E"/>
          </a:solidFill>
          <a:ln/>
        </p:spPr>
        <p:txBody>
          <a:bodyPr/>
          <a:lstStyle/>
          <a:p>
            <a:endParaRPr lang="en-US"/>
          </a:p>
        </p:txBody>
      </p:sp>
      <p:sp>
        <p:nvSpPr>
          <p:cNvPr id="4" name="Shape 2"/>
          <p:cNvSpPr/>
          <p:nvPr/>
        </p:nvSpPr>
        <p:spPr>
          <a:xfrm>
            <a:off x="640080" y="1097280"/>
            <a:ext cx="27432" cy="2377440"/>
          </a:xfrm>
          <a:prstGeom prst="rect">
            <a:avLst/>
          </a:prstGeom>
          <a:solidFill>
            <a:srgbClr val="232925"/>
          </a:solidFill>
          <a:ln/>
        </p:spPr>
        <p:txBody>
          <a:bodyPr/>
          <a:lstStyle/>
          <a:p>
            <a:endParaRPr lang="en-US"/>
          </a:p>
        </p:txBody>
      </p:sp>
      <p:pic>
        <p:nvPicPr>
          <p:cNvPr id="5" name="Image 0" descr="https://github.githubassets.com/images/modules/logos_page/GitHub-Mark.png"/>
          <p:cNvPicPr>
            <a:picLocks noChangeAspect="1"/>
          </p:cNvPicPr>
          <p:nvPr/>
        </p:nvPicPr>
        <p:blipFill>
          <a:blip r:embed="rId3"/>
          <a:stretch>
            <a:fillRect/>
          </a:stretch>
        </p:blipFill>
        <p:spPr>
          <a:xfrm>
            <a:off x="3886200" y="594360"/>
            <a:ext cx="1371600" cy="1371600"/>
          </a:xfrm>
          <a:prstGeom prst="rect">
            <a:avLst/>
          </a:prstGeom>
        </p:spPr>
      </p:pic>
      <p:sp>
        <p:nvSpPr>
          <p:cNvPr id="6" name="Text 3"/>
          <p:cNvSpPr/>
          <p:nvPr/>
        </p:nvSpPr>
        <p:spPr>
          <a:xfrm>
            <a:off x="457200" y="2103120"/>
            <a:ext cx="8229600" cy="640080"/>
          </a:xfrm>
          <a:prstGeom prst="rect">
            <a:avLst/>
          </a:prstGeom>
          <a:noFill/>
          <a:ln/>
        </p:spPr>
        <p:txBody>
          <a:bodyPr wrap="square" rtlCol="0" anchor="ctr"/>
          <a:lstStyle/>
          <a:p>
            <a:pPr marL="0" indent="0" algn="ctr">
              <a:buNone/>
            </a:pPr>
            <a:r>
              <a:rPr lang="en-US" sz="3200" b="1" dirty="0">
                <a:solidFill>
                  <a:srgbClr val="F2F5F3"/>
                </a:solidFill>
                <a:latin typeface="Mona Sans" pitchFamily="34" charset="0"/>
                <a:ea typeface="Mona Sans" pitchFamily="34" charset="-122"/>
                <a:cs typeface="Mona Sans" pitchFamily="34" charset="-120"/>
              </a:rPr>
              <a:t>GitHub SDK Demo Presentation</a:t>
            </a:r>
            <a:endParaRPr lang="en-US" sz="3200" dirty="0"/>
          </a:p>
        </p:txBody>
      </p:sp>
      <p:sp>
        <p:nvSpPr>
          <p:cNvPr id="7" name="Text 4"/>
          <p:cNvSpPr/>
          <p:nvPr/>
        </p:nvSpPr>
        <p:spPr>
          <a:xfrm>
            <a:off x="457200" y="2697480"/>
            <a:ext cx="8229600" cy="365760"/>
          </a:xfrm>
          <a:prstGeom prst="rect">
            <a:avLst/>
          </a:prstGeom>
          <a:noFill/>
          <a:ln/>
        </p:spPr>
        <p:txBody>
          <a:bodyPr wrap="square" rtlCol="0" anchor="ctr"/>
          <a:lstStyle/>
          <a:p>
            <a:pPr marL="0" indent="0" algn="ctr">
              <a:buNone/>
            </a:pPr>
            <a:r>
              <a:rPr lang="en-US" sz="1600" dirty="0">
                <a:solidFill>
                  <a:srgbClr val="B6BFB8"/>
                </a:solidFill>
                <a:latin typeface="Mona Sans" pitchFamily="34" charset="0"/>
                <a:ea typeface="Mona Sans" pitchFamily="34" charset="-122"/>
                <a:cs typeface="Mona Sans" pitchFamily="34" charset="-120"/>
              </a:rPr>
              <a:t>Demo Presentation</a:t>
            </a:r>
            <a:endParaRPr lang="en-US" sz="1600" dirty="0"/>
          </a:p>
        </p:txBody>
      </p:sp>
      <p:sp>
        <p:nvSpPr>
          <p:cNvPr id="8" name="Shape 5"/>
          <p:cNvSpPr/>
          <p:nvPr/>
        </p:nvSpPr>
        <p:spPr>
          <a:xfrm>
            <a:off x="3474720" y="3337560"/>
            <a:ext cx="2194560" cy="411480"/>
          </a:xfrm>
          <a:prstGeom prst="roundRect">
            <a:avLst>
              <a:gd name="adj" fmla="val 26667"/>
            </a:avLst>
          </a:prstGeom>
          <a:solidFill>
            <a:srgbClr val="1F883D"/>
          </a:solidFill>
          <a:ln/>
        </p:spPr>
        <p:txBody>
          <a:bodyPr/>
          <a:lstStyle/>
          <a:p>
            <a:endParaRPr lang="en-US"/>
          </a:p>
        </p:txBody>
      </p:sp>
      <p:sp>
        <p:nvSpPr>
          <p:cNvPr id="9" name="Text 6"/>
          <p:cNvSpPr/>
          <p:nvPr/>
        </p:nvSpPr>
        <p:spPr>
          <a:xfrm>
            <a:off x="3474720" y="3337560"/>
            <a:ext cx="2194560" cy="411480"/>
          </a:xfrm>
          <a:prstGeom prst="rect">
            <a:avLst/>
          </a:prstGeom>
          <a:noFill/>
          <a:ln/>
        </p:spPr>
        <p:txBody>
          <a:bodyPr wrap="square" rtlCol="0" anchor="ctr"/>
          <a:lstStyle/>
          <a:p>
            <a:pPr marL="0" indent="0" algn="ctr">
              <a:buNone/>
            </a:pPr>
            <a:r>
              <a:rPr lang="en-US" sz="1300" b="1" dirty="0">
                <a:solidFill>
                  <a:srgbClr val="FFFFFF"/>
                </a:solidFill>
                <a:latin typeface="Mona Sans" pitchFamily="34" charset="0"/>
                <a:ea typeface="Mona Sans" pitchFamily="34" charset="-122"/>
                <a:cs typeface="Mona Sans" pitchFamily="34" charset="-120"/>
              </a:rPr>
              <a:t>Get Started →</a:t>
            </a:r>
            <a:endParaRPr lang="en-US" sz="1300" dirty="0"/>
          </a:p>
        </p:txBody>
      </p:sp>
      <p:sp>
        <p:nvSpPr>
          <p:cNvPr id="10" name="Shape 7"/>
          <p:cNvSpPr/>
          <p:nvPr/>
        </p:nvSpPr>
        <p:spPr>
          <a:xfrm>
            <a:off x="2103120" y="4160520"/>
            <a:ext cx="45720" cy="45720"/>
          </a:xfrm>
          <a:prstGeom prst="ellipse">
            <a:avLst/>
          </a:prstGeom>
          <a:solidFill>
            <a:srgbClr val="232925"/>
          </a:solidFill>
          <a:ln/>
        </p:spPr>
        <p:txBody>
          <a:bodyPr/>
          <a:lstStyle/>
          <a:p>
            <a:endParaRPr lang="en-US"/>
          </a:p>
        </p:txBody>
      </p:sp>
      <p:sp>
        <p:nvSpPr>
          <p:cNvPr id="11" name="Shape 8"/>
          <p:cNvSpPr/>
          <p:nvPr/>
        </p:nvSpPr>
        <p:spPr>
          <a:xfrm>
            <a:off x="2414016" y="4160520"/>
            <a:ext cx="45720" cy="45720"/>
          </a:xfrm>
          <a:prstGeom prst="ellipse">
            <a:avLst/>
          </a:prstGeom>
          <a:solidFill>
            <a:srgbClr val="232925"/>
          </a:solidFill>
          <a:ln/>
        </p:spPr>
        <p:txBody>
          <a:bodyPr/>
          <a:lstStyle/>
          <a:p>
            <a:endParaRPr lang="en-US"/>
          </a:p>
        </p:txBody>
      </p:sp>
      <p:sp>
        <p:nvSpPr>
          <p:cNvPr id="12" name="Shape 9"/>
          <p:cNvSpPr/>
          <p:nvPr/>
        </p:nvSpPr>
        <p:spPr>
          <a:xfrm>
            <a:off x="2724912" y="4160520"/>
            <a:ext cx="45720" cy="45720"/>
          </a:xfrm>
          <a:prstGeom prst="ellipse">
            <a:avLst/>
          </a:prstGeom>
          <a:solidFill>
            <a:srgbClr val="232925"/>
          </a:solidFill>
          <a:ln/>
        </p:spPr>
        <p:txBody>
          <a:bodyPr/>
          <a:lstStyle/>
          <a:p>
            <a:endParaRPr lang="en-US"/>
          </a:p>
        </p:txBody>
      </p:sp>
      <p:sp>
        <p:nvSpPr>
          <p:cNvPr id="13" name="Shape 10"/>
          <p:cNvSpPr/>
          <p:nvPr/>
        </p:nvSpPr>
        <p:spPr>
          <a:xfrm>
            <a:off x="3035808" y="4160520"/>
            <a:ext cx="45720" cy="45720"/>
          </a:xfrm>
          <a:prstGeom prst="ellipse">
            <a:avLst/>
          </a:prstGeom>
          <a:solidFill>
            <a:srgbClr val="232925"/>
          </a:solidFill>
          <a:ln/>
        </p:spPr>
        <p:txBody>
          <a:bodyPr/>
          <a:lstStyle/>
          <a:p>
            <a:endParaRPr lang="en-US"/>
          </a:p>
        </p:txBody>
      </p:sp>
      <p:sp>
        <p:nvSpPr>
          <p:cNvPr id="14" name="Shape 11"/>
          <p:cNvSpPr/>
          <p:nvPr/>
        </p:nvSpPr>
        <p:spPr>
          <a:xfrm>
            <a:off x="3346704" y="4160520"/>
            <a:ext cx="45720" cy="45720"/>
          </a:xfrm>
          <a:prstGeom prst="ellipse">
            <a:avLst/>
          </a:prstGeom>
          <a:solidFill>
            <a:srgbClr val="232925"/>
          </a:solidFill>
          <a:ln/>
        </p:spPr>
        <p:txBody>
          <a:bodyPr/>
          <a:lstStyle/>
          <a:p>
            <a:endParaRPr lang="en-US"/>
          </a:p>
        </p:txBody>
      </p:sp>
      <p:sp>
        <p:nvSpPr>
          <p:cNvPr id="15" name="Shape 12"/>
          <p:cNvSpPr/>
          <p:nvPr/>
        </p:nvSpPr>
        <p:spPr>
          <a:xfrm>
            <a:off x="3657600" y="4160520"/>
            <a:ext cx="45720" cy="45720"/>
          </a:xfrm>
          <a:prstGeom prst="ellipse">
            <a:avLst/>
          </a:prstGeom>
          <a:solidFill>
            <a:srgbClr val="232925"/>
          </a:solidFill>
          <a:ln/>
        </p:spPr>
        <p:txBody>
          <a:bodyPr/>
          <a:lstStyle/>
          <a:p>
            <a:endParaRPr lang="en-US"/>
          </a:p>
        </p:txBody>
      </p:sp>
      <p:sp>
        <p:nvSpPr>
          <p:cNvPr id="16" name="Shape 13"/>
          <p:cNvSpPr/>
          <p:nvPr/>
        </p:nvSpPr>
        <p:spPr>
          <a:xfrm>
            <a:off x="3968496" y="4160520"/>
            <a:ext cx="45720" cy="45720"/>
          </a:xfrm>
          <a:prstGeom prst="ellipse">
            <a:avLst/>
          </a:prstGeom>
          <a:solidFill>
            <a:srgbClr val="232925"/>
          </a:solidFill>
          <a:ln/>
        </p:spPr>
        <p:txBody>
          <a:bodyPr/>
          <a:lstStyle/>
          <a:p>
            <a:endParaRPr lang="en-US"/>
          </a:p>
        </p:txBody>
      </p:sp>
      <p:sp>
        <p:nvSpPr>
          <p:cNvPr id="17" name="Shape 14"/>
          <p:cNvSpPr/>
          <p:nvPr/>
        </p:nvSpPr>
        <p:spPr>
          <a:xfrm>
            <a:off x="4279392" y="4160520"/>
            <a:ext cx="45720" cy="45720"/>
          </a:xfrm>
          <a:prstGeom prst="ellipse">
            <a:avLst/>
          </a:prstGeom>
          <a:solidFill>
            <a:srgbClr val="232925"/>
          </a:solidFill>
          <a:ln/>
        </p:spPr>
        <p:txBody>
          <a:bodyPr/>
          <a:lstStyle/>
          <a:p>
            <a:endParaRPr lang="en-US"/>
          </a:p>
        </p:txBody>
      </p:sp>
      <p:sp>
        <p:nvSpPr>
          <p:cNvPr id="18" name="Shape 15"/>
          <p:cNvSpPr/>
          <p:nvPr/>
        </p:nvSpPr>
        <p:spPr>
          <a:xfrm>
            <a:off x="4590288" y="4160520"/>
            <a:ext cx="45720" cy="45720"/>
          </a:xfrm>
          <a:prstGeom prst="ellipse">
            <a:avLst/>
          </a:prstGeom>
          <a:solidFill>
            <a:srgbClr val="232925"/>
          </a:solidFill>
          <a:ln/>
        </p:spPr>
        <p:txBody>
          <a:bodyPr/>
          <a:lstStyle/>
          <a:p>
            <a:endParaRPr lang="en-US"/>
          </a:p>
        </p:txBody>
      </p:sp>
      <p:sp>
        <p:nvSpPr>
          <p:cNvPr id="19" name="Shape 16"/>
          <p:cNvSpPr/>
          <p:nvPr/>
        </p:nvSpPr>
        <p:spPr>
          <a:xfrm>
            <a:off x="4901184" y="4160520"/>
            <a:ext cx="45720" cy="45720"/>
          </a:xfrm>
          <a:prstGeom prst="ellipse">
            <a:avLst/>
          </a:prstGeom>
          <a:solidFill>
            <a:srgbClr val="232925"/>
          </a:solidFill>
          <a:ln/>
        </p:spPr>
        <p:txBody>
          <a:bodyPr/>
          <a:lstStyle/>
          <a:p>
            <a:endParaRPr lang="en-US"/>
          </a:p>
        </p:txBody>
      </p:sp>
      <p:sp>
        <p:nvSpPr>
          <p:cNvPr id="20" name="Shape 17"/>
          <p:cNvSpPr/>
          <p:nvPr/>
        </p:nvSpPr>
        <p:spPr>
          <a:xfrm>
            <a:off x="5212080" y="4160520"/>
            <a:ext cx="45720" cy="45720"/>
          </a:xfrm>
          <a:prstGeom prst="ellipse">
            <a:avLst/>
          </a:prstGeom>
          <a:solidFill>
            <a:srgbClr val="232925"/>
          </a:solidFill>
          <a:ln/>
        </p:spPr>
        <p:txBody>
          <a:bodyPr/>
          <a:lstStyle/>
          <a:p>
            <a:endParaRPr lang="en-US"/>
          </a:p>
        </p:txBody>
      </p:sp>
      <p:sp>
        <p:nvSpPr>
          <p:cNvPr id="21" name="Shape 18"/>
          <p:cNvSpPr/>
          <p:nvPr/>
        </p:nvSpPr>
        <p:spPr>
          <a:xfrm>
            <a:off x="5522976" y="4160520"/>
            <a:ext cx="45720" cy="45720"/>
          </a:xfrm>
          <a:prstGeom prst="ellipse">
            <a:avLst/>
          </a:prstGeom>
          <a:solidFill>
            <a:srgbClr val="232925"/>
          </a:solidFill>
          <a:ln/>
        </p:spPr>
        <p:txBody>
          <a:bodyPr/>
          <a:lstStyle/>
          <a:p>
            <a:endParaRPr lang="en-US"/>
          </a:p>
        </p:txBody>
      </p:sp>
      <p:sp>
        <p:nvSpPr>
          <p:cNvPr id="22" name="Shape 19"/>
          <p:cNvSpPr/>
          <p:nvPr/>
        </p:nvSpPr>
        <p:spPr>
          <a:xfrm>
            <a:off x="5833872" y="4160520"/>
            <a:ext cx="45720" cy="45720"/>
          </a:xfrm>
          <a:prstGeom prst="ellipse">
            <a:avLst/>
          </a:prstGeom>
          <a:solidFill>
            <a:srgbClr val="232925"/>
          </a:solidFill>
          <a:ln/>
        </p:spPr>
        <p:txBody>
          <a:bodyPr/>
          <a:lstStyle/>
          <a:p>
            <a:endParaRPr lang="en-US"/>
          </a:p>
        </p:txBody>
      </p:sp>
      <p:sp>
        <p:nvSpPr>
          <p:cNvPr id="23" name="Shape 20"/>
          <p:cNvSpPr/>
          <p:nvPr/>
        </p:nvSpPr>
        <p:spPr>
          <a:xfrm>
            <a:off x="6144768" y="4160520"/>
            <a:ext cx="45720" cy="45720"/>
          </a:xfrm>
          <a:prstGeom prst="ellipse">
            <a:avLst/>
          </a:prstGeom>
          <a:solidFill>
            <a:srgbClr val="232925"/>
          </a:solidFill>
          <a:ln/>
        </p:spPr>
        <p:txBody>
          <a:bodyPr/>
          <a:lstStyle/>
          <a:p>
            <a:endParaRPr lang="en-US"/>
          </a:p>
        </p:txBody>
      </p:sp>
      <p:sp>
        <p:nvSpPr>
          <p:cNvPr id="24" name="Shape 21"/>
          <p:cNvSpPr/>
          <p:nvPr/>
        </p:nvSpPr>
        <p:spPr>
          <a:xfrm>
            <a:off x="6455664" y="4160520"/>
            <a:ext cx="45720" cy="45720"/>
          </a:xfrm>
          <a:prstGeom prst="ellipse">
            <a:avLst/>
          </a:prstGeom>
          <a:solidFill>
            <a:srgbClr val="232925"/>
          </a:solidFill>
          <a:ln/>
        </p:spPr>
        <p:txBody>
          <a:bodyPr/>
          <a:lstStyle/>
          <a:p>
            <a:endParaRPr lang="en-US"/>
          </a:p>
        </p:txBody>
      </p:sp>
      <p:sp>
        <p:nvSpPr>
          <p:cNvPr id="25" name="Shape 22"/>
          <p:cNvSpPr/>
          <p:nvPr/>
        </p:nvSpPr>
        <p:spPr>
          <a:xfrm>
            <a:off x="6766560" y="4160520"/>
            <a:ext cx="45720" cy="45720"/>
          </a:xfrm>
          <a:prstGeom prst="ellipse">
            <a:avLst/>
          </a:prstGeom>
          <a:solidFill>
            <a:srgbClr val="232925"/>
          </a:solidFill>
          <a:ln/>
        </p:spPr>
        <p:txBody>
          <a:bodyPr/>
          <a:lstStyle/>
          <a:p>
            <a:endParaRPr lang="en-US"/>
          </a:p>
        </p:txBody>
      </p:sp>
      <p:sp>
        <p:nvSpPr>
          <p:cNvPr id="26" name="Shape 23"/>
          <p:cNvSpPr/>
          <p:nvPr/>
        </p:nvSpPr>
        <p:spPr>
          <a:xfrm>
            <a:off x="2103120" y="4379976"/>
            <a:ext cx="45720" cy="45720"/>
          </a:xfrm>
          <a:prstGeom prst="ellipse">
            <a:avLst/>
          </a:prstGeom>
          <a:solidFill>
            <a:srgbClr val="232925"/>
          </a:solidFill>
          <a:ln/>
        </p:spPr>
        <p:txBody>
          <a:bodyPr/>
          <a:lstStyle/>
          <a:p>
            <a:endParaRPr lang="en-US"/>
          </a:p>
        </p:txBody>
      </p:sp>
      <p:sp>
        <p:nvSpPr>
          <p:cNvPr id="27" name="Shape 24"/>
          <p:cNvSpPr/>
          <p:nvPr/>
        </p:nvSpPr>
        <p:spPr>
          <a:xfrm>
            <a:off x="2414016" y="4379976"/>
            <a:ext cx="45720" cy="45720"/>
          </a:xfrm>
          <a:prstGeom prst="ellipse">
            <a:avLst/>
          </a:prstGeom>
          <a:solidFill>
            <a:srgbClr val="232925"/>
          </a:solidFill>
          <a:ln/>
        </p:spPr>
        <p:txBody>
          <a:bodyPr/>
          <a:lstStyle/>
          <a:p>
            <a:endParaRPr lang="en-US"/>
          </a:p>
        </p:txBody>
      </p:sp>
      <p:sp>
        <p:nvSpPr>
          <p:cNvPr id="28" name="Shape 25"/>
          <p:cNvSpPr/>
          <p:nvPr/>
        </p:nvSpPr>
        <p:spPr>
          <a:xfrm>
            <a:off x="2724912" y="4379976"/>
            <a:ext cx="45720" cy="45720"/>
          </a:xfrm>
          <a:prstGeom prst="ellipse">
            <a:avLst/>
          </a:prstGeom>
          <a:solidFill>
            <a:srgbClr val="232925"/>
          </a:solidFill>
          <a:ln/>
        </p:spPr>
        <p:txBody>
          <a:bodyPr/>
          <a:lstStyle/>
          <a:p>
            <a:endParaRPr lang="en-US"/>
          </a:p>
        </p:txBody>
      </p:sp>
      <p:sp>
        <p:nvSpPr>
          <p:cNvPr id="29" name="Shape 26"/>
          <p:cNvSpPr/>
          <p:nvPr/>
        </p:nvSpPr>
        <p:spPr>
          <a:xfrm>
            <a:off x="3035808" y="4379976"/>
            <a:ext cx="45720" cy="45720"/>
          </a:xfrm>
          <a:prstGeom prst="ellipse">
            <a:avLst/>
          </a:prstGeom>
          <a:solidFill>
            <a:srgbClr val="232925"/>
          </a:solidFill>
          <a:ln/>
        </p:spPr>
        <p:txBody>
          <a:bodyPr/>
          <a:lstStyle/>
          <a:p>
            <a:endParaRPr lang="en-US"/>
          </a:p>
        </p:txBody>
      </p:sp>
      <p:sp>
        <p:nvSpPr>
          <p:cNvPr id="30" name="Shape 27"/>
          <p:cNvSpPr/>
          <p:nvPr/>
        </p:nvSpPr>
        <p:spPr>
          <a:xfrm>
            <a:off x="3346704" y="4379976"/>
            <a:ext cx="45720" cy="45720"/>
          </a:xfrm>
          <a:prstGeom prst="ellipse">
            <a:avLst/>
          </a:prstGeom>
          <a:solidFill>
            <a:srgbClr val="232925"/>
          </a:solidFill>
          <a:ln/>
        </p:spPr>
        <p:txBody>
          <a:bodyPr/>
          <a:lstStyle/>
          <a:p>
            <a:endParaRPr lang="en-US"/>
          </a:p>
        </p:txBody>
      </p:sp>
      <p:sp>
        <p:nvSpPr>
          <p:cNvPr id="31" name="Shape 28"/>
          <p:cNvSpPr/>
          <p:nvPr/>
        </p:nvSpPr>
        <p:spPr>
          <a:xfrm>
            <a:off x="3657600" y="4379976"/>
            <a:ext cx="45720" cy="45720"/>
          </a:xfrm>
          <a:prstGeom prst="ellipse">
            <a:avLst/>
          </a:prstGeom>
          <a:solidFill>
            <a:srgbClr val="232925"/>
          </a:solidFill>
          <a:ln/>
        </p:spPr>
        <p:txBody>
          <a:bodyPr/>
          <a:lstStyle/>
          <a:p>
            <a:endParaRPr lang="en-US"/>
          </a:p>
        </p:txBody>
      </p:sp>
      <p:sp>
        <p:nvSpPr>
          <p:cNvPr id="32" name="Shape 29"/>
          <p:cNvSpPr/>
          <p:nvPr/>
        </p:nvSpPr>
        <p:spPr>
          <a:xfrm>
            <a:off x="3968496" y="4379976"/>
            <a:ext cx="45720" cy="45720"/>
          </a:xfrm>
          <a:prstGeom prst="ellipse">
            <a:avLst/>
          </a:prstGeom>
          <a:solidFill>
            <a:srgbClr val="232925"/>
          </a:solidFill>
          <a:ln/>
        </p:spPr>
        <p:txBody>
          <a:bodyPr/>
          <a:lstStyle/>
          <a:p>
            <a:endParaRPr lang="en-US"/>
          </a:p>
        </p:txBody>
      </p:sp>
      <p:sp>
        <p:nvSpPr>
          <p:cNvPr id="33" name="Shape 30"/>
          <p:cNvSpPr/>
          <p:nvPr/>
        </p:nvSpPr>
        <p:spPr>
          <a:xfrm>
            <a:off x="4279392" y="4379976"/>
            <a:ext cx="45720" cy="45720"/>
          </a:xfrm>
          <a:prstGeom prst="ellipse">
            <a:avLst/>
          </a:prstGeom>
          <a:solidFill>
            <a:srgbClr val="232925"/>
          </a:solidFill>
          <a:ln/>
        </p:spPr>
        <p:txBody>
          <a:bodyPr/>
          <a:lstStyle/>
          <a:p>
            <a:endParaRPr lang="en-US"/>
          </a:p>
        </p:txBody>
      </p:sp>
      <p:sp>
        <p:nvSpPr>
          <p:cNvPr id="34" name="Shape 31"/>
          <p:cNvSpPr/>
          <p:nvPr/>
        </p:nvSpPr>
        <p:spPr>
          <a:xfrm>
            <a:off x="4590288" y="4379976"/>
            <a:ext cx="45720" cy="45720"/>
          </a:xfrm>
          <a:prstGeom prst="ellipse">
            <a:avLst/>
          </a:prstGeom>
          <a:solidFill>
            <a:srgbClr val="232925"/>
          </a:solidFill>
          <a:ln/>
        </p:spPr>
        <p:txBody>
          <a:bodyPr/>
          <a:lstStyle/>
          <a:p>
            <a:endParaRPr lang="en-US"/>
          </a:p>
        </p:txBody>
      </p:sp>
      <p:sp>
        <p:nvSpPr>
          <p:cNvPr id="35" name="Shape 32"/>
          <p:cNvSpPr/>
          <p:nvPr/>
        </p:nvSpPr>
        <p:spPr>
          <a:xfrm>
            <a:off x="4901184" y="4379976"/>
            <a:ext cx="45720" cy="45720"/>
          </a:xfrm>
          <a:prstGeom prst="ellipse">
            <a:avLst/>
          </a:prstGeom>
          <a:solidFill>
            <a:srgbClr val="232925"/>
          </a:solidFill>
          <a:ln/>
        </p:spPr>
        <p:txBody>
          <a:bodyPr/>
          <a:lstStyle/>
          <a:p>
            <a:endParaRPr lang="en-US"/>
          </a:p>
        </p:txBody>
      </p:sp>
      <p:sp>
        <p:nvSpPr>
          <p:cNvPr id="36" name="Shape 33"/>
          <p:cNvSpPr/>
          <p:nvPr/>
        </p:nvSpPr>
        <p:spPr>
          <a:xfrm>
            <a:off x="5212080" y="4379976"/>
            <a:ext cx="45720" cy="45720"/>
          </a:xfrm>
          <a:prstGeom prst="ellipse">
            <a:avLst/>
          </a:prstGeom>
          <a:solidFill>
            <a:srgbClr val="232925"/>
          </a:solidFill>
          <a:ln/>
        </p:spPr>
        <p:txBody>
          <a:bodyPr/>
          <a:lstStyle/>
          <a:p>
            <a:endParaRPr lang="en-US"/>
          </a:p>
        </p:txBody>
      </p:sp>
      <p:sp>
        <p:nvSpPr>
          <p:cNvPr id="37" name="Shape 34"/>
          <p:cNvSpPr/>
          <p:nvPr/>
        </p:nvSpPr>
        <p:spPr>
          <a:xfrm>
            <a:off x="5522976" y="4379976"/>
            <a:ext cx="45720" cy="45720"/>
          </a:xfrm>
          <a:prstGeom prst="ellipse">
            <a:avLst/>
          </a:prstGeom>
          <a:solidFill>
            <a:srgbClr val="232925"/>
          </a:solidFill>
          <a:ln/>
        </p:spPr>
        <p:txBody>
          <a:bodyPr/>
          <a:lstStyle/>
          <a:p>
            <a:endParaRPr lang="en-US"/>
          </a:p>
        </p:txBody>
      </p:sp>
      <p:sp>
        <p:nvSpPr>
          <p:cNvPr id="38" name="Shape 35"/>
          <p:cNvSpPr/>
          <p:nvPr/>
        </p:nvSpPr>
        <p:spPr>
          <a:xfrm>
            <a:off x="5833872" y="4379976"/>
            <a:ext cx="45720" cy="45720"/>
          </a:xfrm>
          <a:prstGeom prst="ellipse">
            <a:avLst/>
          </a:prstGeom>
          <a:solidFill>
            <a:srgbClr val="232925"/>
          </a:solidFill>
          <a:ln/>
        </p:spPr>
        <p:txBody>
          <a:bodyPr/>
          <a:lstStyle/>
          <a:p>
            <a:endParaRPr lang="en-US"/>
          </a:p>
        </p:txBody>
      </p:sp>
      <p:sp>
        <p:nvSpPr>
          <p:cNvPr id="39" name="Shape 36"/>
          <p:cNvSpPr/>
          <p:nvPr/>
        </p:nvSpPr>
        <p:spPr>
          <a:xfrm>
            <a:off x="6144768" y="4379976"/>
            <a:ext cx="45720" cy="45720"/>
          </a:xfrm>
          <a:prstGeom prst="ellipse">
            <a:avLst/>
          </a:prstGeom>
          <a:solidFill>
            <a:srgbClr val="232925"/>
          </a:solidFill>
          <a:ln/>
        </p:spPr>
        <p:txBody>
          <a:bodyPr/>
          <a:lstStyle/>
          <a:p>
            <a:endParaRPr lang="en-US"/>
          </a:p>
        </p:txBody>
      </p:sp>
      <p:sp>
        <p:nvSpPr>
          <p:cNvPr id="40" name="Shape 37"/>
          <p:cNvSpPr/>
          <p:nvPr/>
        </p:nvSpPr>
        <p:spPr>
          <a:xfrm>
            <a:off x="6455664" y="4379976"/>
            <a:ext cx="45720" cy="45720"/>
          </a:xfrm>
          <a:prstGeom prst="ellipse">
            <a:avLst/>
          </a:prstGeom>
          <a:solidFill>
            <a:srgbClr val="232925"/>
          </a:solidFill>
          <a:ln/>
        </p:spPr>
        <p:txBody>
          <a:bodyPr/>
          <a:lstStyle/>
          <a:p>
            <a:endParaRPr lang="en-US"/>
          </a:p>
        </p:txBody>
      </p:sp>
      <p:sp>
        <p:nvSpPr>
          <p:cNvPr id="41" name="Shape 38"/>
          <p:cNvSpPr/>
          <p:nvPr/>
        </p:nvSpPr>
        <p:spPr>
          <a:xfrm>
            <a:off x="6766560" y="4379976"/>
            <a:ext cx="45720" cy="45720"/>
          </a:xfrm>
          <a:prstGeom prst="ellipse">
            <a:avLst/>
          </a:prstGeom>
          <a:solidFill>
            <a:srgbClr val="232925"/>
          </a:solidFill>
          <a:ln/>
        </p:spPr>
        <p:txBody>
          <a:bodyPr/>
          <a:lstStyle/>
          <a:p>
            <a:endParaRPr lang="en-US"/>
          </a:p>
        </p:txBody>
      </p:sp>
      <p:sp>
        <p:nvSpPr>
          <p:cNvPr id="42" name="Text 39"/>
          <p:cNvSpPr/>
          <p:nvPr/>
        </p:nvSpPr>
        <p:spPr>
          <a:xfrm>
            <a:off x="457200" y="4823460"/>
            <a:ext cx="1828800" cy="228600"/>
          </a:xfrm>
          <a:prstGeom prst="rect">
            <a:avLst/>
          </a:prstGeom>
          <a:noFill/>
          <a:ln/>
        </p:spPr>
        <p:txBody>
          <a:bodyPr wrap="square" rtlCol="0" anchor="ctr"/>
          <a:lstStyle/>
          <a:p>
            <a:pPr marL="0" indent="0">
              <a:buNone/>
            </a:pPr>
            <a:r>
              <a:rPr lang="en-US" sz="1200" b="1" dirty="0">
                <a:solidFill>
                  <a:srgbClr val="909692"/>
                </a:solidFill>
                <a:latin typeface="Mona Sans" pitchFamily="34" charset="0"/>
                <a:ea typeface="Mona Sans" pitchFamily="34" charset="-122"/>
                <a:cs typeface="Mona Sans" pitchFamily="34" charset="-120"/>
              </a:rPr>
              <a:t>GitHub</a:t>
            </a:r>
            <a:endParaRPr lang="en-US" sz="1200" dirty="0"/>
          </a:p>
        </p:txBody>
      </p:sp>
      <p:sp>
        <p:nvSpPr>
          <p:cNvPr id="43" name="Text 40"/>
          <p:cNvSpPr/>
          <p:nvPr/>
        </p:nvSpPr>
        <p:spPr>
          <a:xfrm>
            <a:off x="6858000" y="4823460"/>
            <a:ext cx="1828800" cy="228600"/>
          </a:xfrm>
          <a:prstGeom prst="rect">
            <a:avLst/>
          </a:prstGeom>
          <a:noFill/>
          <a:ln/>
        </p:spPr>
        <p:txBody>
          <a:bodyPr wrap="square" rtlCol="0" anchor="ctr"/>
          <a:lstStyle/>
          <a:p>
            <a:pPr marL="0" indent="0" algn="r">
              <a:buNone/>
            </a:pPr>
            <a:r>
              <a:rPr lang="en-US" sz="1100" dirty="0">
                <a:solidFill>
                  <a:srgbClr val="909692"/>
                </a:solidFill>
                <a:latin typeface="Mona Sans" pitchFamily="34" charset="0"/>
                <a:ea typeface="Mona Sans" pitchFamily="34" charset="-122"/>
                <a:cs typeface="Mona Sans" pitchFamily="34" charset="-120"/>
              </a:rPr>
              <a:t>March 2026</a:t>
            </a:r>
            <a:endParaRPr lang="en-US" sz="1100" dirty="0"/>
          </a:p>
        </p:txBody>
      </p:sp>
    </p:spTree>
    <p:extLst>
      <p:ext uri="{BB962C8B-B14F-4D97-AF65-F5344CB8AC3E}">
        <p14:creationId xmlns:p14="http://schemas.microsoft.com/office/powerpoint/2010/main" val="27922814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ttps://images.unsplash.com/photo-1525625293386-3f8f99389edd?w=1920&amp;q=80"/>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101411">
              <a:alpha val="65000"/>
            </a:srgbClr>
          </a:solidFill>
          <a:ln/>
        </p:spPr>
        <p:txBody>
          <a:bodyPr/>
          <a:lstStyle/>
          <a:p>
            <a:endParaRPr lang="en-US"/>
          </a:p>
        </p:txBody>
      </p:sp>
      <p:sp>
        <p:nvSpPr>
          <p:cNvPr id="4" name="Shape 1"/>
          <p:cNvSpPr/>
          <p:nvPr/>
        </p:nvSpPr>
        <p:spPr>
          <a:xfrm>
            <a:off x="0" y="1800225"/>
            <a:ext cx="9144000" cy="3343275"/>
          </a:xfrm>
          <a:prstGeom prst="rect">
            <a:avLst/>
          </a:prstGeom>
          <a:solidFill>
            <a:srgbClr val="101411">
              <a:alpha val="80000"/>
            </a:srgbClr>
          </a:solidFill>
          <a:ln/>
        </p:spPr>
        <p:txBody>
          <a:bodyPr/>
          <a:lstStyle/>
          <a:p>
            <a:endParaRPr lang="en-US"/>
          </a:p>
        </p:txBody>
      </p:sp>
      <p:sp>
        <p:nvSpPr>
          <p:cNvPr id="5" name="Shape 2"/>
          <p:cNvSpPr/>
          <p:nvPr/>
        </p:nvSpPr>
        <p:spPr>
          <a:xfrm>
            <a:off x="0" y="3086100"/>
            <a:ext cx="9144000" cy="2057400"/>
          </a:xfrm>
          <a:prstGeom prst="rect">
            <a:avLst/>
          </a:prstGeom>
          <a:solidFill>
            <a:srgbClr val="101411">
              <a:alpha val="90000"/>
            </a:srgbClr>
          </a:solidFill>
          <a:ln/>
        </p:spPr>
        <p:txBody>
          <a:bodyPr/>
          <a:lstStyle/>
          <a:p>
            <a:endParaRPr lang="en-US"/>
          </a:p>
        </p:txBody>
      </p:sp>
      <p:sp>
        <p:nvSpPr>
          <p:cNvPr id="6" name="Shape 3"/>
          <p:cNvSpPr/>
          <p:nvPr/>
        </p:nvSpPr>
        <p:spPr>
          <a:xfrm>
            <a:off x="0" y="0"/>
            <a:ext cx="9144000" cy="36576"/>
          </a:xfrm>
          <a:prstGeom prst="rect">
            <a:avLst/>
          </a:prstGeom>
          <a:solidFill>
            <a:srgbClr val="0FBF3E"/>
          </a:solidFill>
          <a:ln/>
        </p:spPr>
        <p:txBody>
          <a:bodyPr/>
          <a:lstStyle/>
          <a:p>
            <a:endParaRPr lang="en-US"/>
          </a:p>
        </p:txBody>
      </p:sp>
      <p:pic>
        <p:nvPicPr>
          <p:cNvPr id="7" name="Image 1" descr="https://github.githubassets.com/images/modules/logos_page/GitHub-Mark.png"/>
          <p:cNvPicPr>
            <a:picLocks noChangeAspect="1"/>
          </p:cNvPicPr>
          <p:nvPr/>
        </p:nvPicPr>
        <p:blipFill>
          <a:blip r:embed="rId4"/>
          <a:stretch>
            <a:fillRect/>
          </a:stretch>
        </p:blipFill>
        <p:spPr>
          <a:xfrm>
            <a:off x="457200" y="182880"/>
            <a:ext cx="411480" cy="411480"/>
          </a:xfrm>
          <a:prstGeom prst="rect">
            <a:avLst/>
          </a:prstGeom>
        </p:spPr>
      </p:pic>
      <p:sp>
        <p:nvSpPr>
          <p:cNvPr id="8" name="Text 4"/>
          <p:cNvSpPr/>
          <p:nvPr/>
        </p:nvSpPr>
        <p:spPr>
          <a:xfrm>
            <a:off x="6858000" y="256032"/>
            <a:ext cx="2011680" cy="146304"/>
          </a:xfrm>
          <a:prstGeom prst="rect">
            <a:avLst/>
          </a:prstGeom>
          <a:noFill/>
          <a:ln/>
        </p:spPr>
        <p:txBody>
          <a:bodyPr wrap="square" rtlCol="0" anchor="ctr"/>
          <a:lstStyle/>
          <a:p>
            <a:pPr marL="0" indent="0" algn="r">
              <a:buNone/>
            </a:pPr>
            <a:r>
              <a:rPr lang="en-US" sz="650" b="1" dirty="0">
                <a:solidFill>
                  <a:srgbClr val="909692"/>
                </a:solidFill>
                <a:latin typeface="Mona Sans" pitchFamily="34" charset="0"/>
                <a:ea typeface="Mona Sans" pitchFamily="34" charset="-122"/>
                <a:cs typeface="Mona Sans" pitchFamily="34" charset="-120"/>
              </a:rPr>
              <a:t>PRIMER  ·  GITHUB BRAND</a:t>
            </a:r>
            <a:endParaRPr lang="en-US" sz="650" dirty="0"/>
          </a:p>
        </p:txBody>
      </p:sp>
      <p:sp>
        <p:nvSpPr>
          <p:cNvPr id="9" name="Shape 5"/>
          <p:cNvSpPr/>
          <p:nvPr/>
        </p:nvSpPr>
        <p:spPr>
          <a:xfrm>
            <a:off x="457200" y="2651760"/>
            <a:ext cx="45720" cy="1554480"/>
          </a:xfrm>
          <a:prstGeom prst="rect">
            <a:avLst/>
          </a:prstGeom>
          <a:solidFill>
            <a:srgbClr val="0FBF3E"/>
          </a:solidFill>
          <a:ln/>
        </p:spPr>
        <p:txBody>
          <a:bodyPr/>
          <a:lstStyle/>
          <a:p>
            <a:endParaRPr lang="en-US"/>
          </a:p>
        </p:txBody>
      </p:sp>
      <p:sp>
        <p:nvSpPr>
          <p:cNvPr id="10" name="Text 6"/>
          <p:cNvSpPr/>
          <p:nvPr/>
        </p:nvSpPr>
        <p:spPr>
          <a:xfrm>
            <a:off x="685800" y="2606040"/>
            <a:ext cx="6400800" cy="1417320"/>
          </a:xfrm>
          <a:prstGeom prst="rect">
            <a:avLst/>
          </a:prstGeom>
          <a:noFill/>
          <a:ln/>
        </p:spPr>
        <p:txBody>
          <a:bodyPr wrap="square" rtlCol="0" anchor="ctr"/>
          <a:lstStyle/>
          <a:p>
            <a:pPr marL="0" indent="0">
              <a:lnSpc>
                <a:spcPct val="105000"/>
              </a:lnSpc>
              <a:buNone/>
            </a:pPr>
            <a:r>
              <a:rPr lang="en-US" sz="3600" b="1" dirty="0">
                <a:solidFill>
                  <a:srgbClr val="FFFFFF"/>
                </a:solidFill>
                <a:latin typeface="Mona Sans" pitchFamily="34" charset="0"/>
                <a:ea typeface="Mona Sans" pitchFamily="34" charset="-122"/>
                <a:cs typeface="Mona Sans" pitchFamily="34" charset="-120"/>
              </a:rPr>
              <a:t>The GitHub</a:t>
            </a:r>
            <a:endParaRPr lang="en-US" sz="3600" dirty="0"/>
          </a:p>
          <a:p>
            <a:pPr marL="0" indent="0">
              <a:lnSpc>
                <a:spcPct val="105000"/>
              </a:lnSpc>
              <a:buNone/>
            </a:pPr>
            <a:r>
              <a:rPr lang="en-US" sz="3600" b="1" dirty="0">
                <a:solidFill>
                  <a:srgbClr val="FFFFFF"/>
                </a:solidFill>
                <a:latin typeface="Mona Sans" pitchFamily="34" charset="0"/>
                <a:ea typeface="Mona Sans" pitchFamily="34" charset="-122"/>
                <a:cs typeface="Mona Sans" pitchFamily="34" charset="-120"/>
              </a:rPr>
              <a:t>Advantage in</a:t>
            </a:r>
            <a:endParaRPr lang="en-US" sz="3600" dirty="0"/>
          </a:p>
          <a:p>
            <a:pPr marL="0" indent="0">
              <a:lnSpc>
                <a:spcPct val="105000"/>
              </a:lnSpc>
              <a:buNone/>
            </a:pPr>
            <a:r>
              <a:rPr lang="en-US" sz="3600" b="1" dirty="0">
                <a:solidFill>
                  <a:srgbClr val="FFFFFF"/>
                </a:solidFill>
                <a:latin typeface="Mona Sans" pitchFamily="34" charset="0"/>
                <a:ea typeface="Mona Sans" pitchFamily="34" charset="-122"/>
                <a:cs typeface="Mona Sans" pitchFamily="34" charset="-120"/>
              </a:rPr>
              <a:t>South East Asia</a:t>
            </a:r>
            <a:endParaRPr lang="en-US" sz="3600" dirty="0"/>
          </a:p>
        </p:txBody>
      </p:sp>
      <p:sp>
        <p:nvSpPr>
          <p:cNvPr id="11" name="Text 7"/>
          <p:cNvSpPr/>
          <p:nvPr/>
        </p:nvSpPr>
        <p:spPr>
          <a:xfrm>
            <a:off x="685800" y="4069080"/>
            <a:ext cx="5486400" cy="274320"/>
          </a:xfrm>
          <a:prstGeom prst="rect">
            <a:avLst/>
          </a:prstGeom>
          <a:noFill/>
          <a:ln/>
        </p:spPr>
        <p:txBody>
          <a:bodyPr wrap="square" rtlCol="0" anchor="ctr"/>
          <a:lstStyle/>
          <a:p>
            <a:pPr marL="0" indent="0">
              <a:buNone/>
            </a:pPr>
            <a:r>
              <a:rPr lang="en-US" sz="1100" dirty="0">
                <a:solidFill>
                  <a:srgbClr val="B6BFB8"/>
                </a:solidFill>
                <a:latin typeface="Mona Sans" pitchFamily="34" charset="0"/>
                <a:ea typeface="Mona Sans" pitchFamily="34" charset="-122"/>
                <a:cs typeface="Mona Sans" pitchFamily="34" charset="-120"/>
              </a:rPr>
              <a:t>Accelerating innovation across the region's fastest-growing developer ecosystems</a:t>
            </a:r>
            <a:endParaRPr lang="en-US" sz="1100" dirty="0"/>
          </a:p>
        </p:txBody>
      </p:sp>
      <p:sp>
        <p:nvSpPr>
          <p:cNvPr id="12" name="Shape 8"/>
          <p:cNvSpPr/>
          <p:nvPr/>
        </p:nvSpPr>
        <p:spPr>
          <a:xfrm>
            <a:off x="0" y="4686300"/>
            <a:ext cx="9144000" cy="457200"/>
          </a:xfrm>
          <a:prstGeom prst="rect">
            <a:avLst/>
          </a:prstGeom>
          <a:solidFill>
            <a:srgbClr val="101411">
              <a:alpha val="85000"/>
            </a:srgbClr>
          </a:solidFill>
          <a:ln/>
        </p:spPr>
        <p:txBody>
          <a:bodyPr/>
          <a:lstStyle/>
          <a:p>
            <a:endParaRPr lang="en-US"/>
          </a:p>
        </p:txBody>
      </p:sp>
      <p:sp>
        <p:nvSpPr>
          <p:cNvPr id="13" name="Text 9"/>
          <p:cNvSpPr/>
          <p:nvPr/>
        </p:nvSpPr>
        <p:spPr>
          <a:xfrm>
            <a:off x="457200" y="4777740"/>
            <a:ext cx="2743200" cy="228600"/>
          </a:xfrm>
          <a:prstGeom prst="rect">
            <a:avLst/>
          </a:prstGeom>
          <a:noFill/>
          <a:ln/>
        </p:spPr>
        <p:txBody>
          <a:bodyPr wrap="square" rtlCol="0" anchor="ctr"/>
          <a:lstStyle/>
          <a:p>
            <a:pPr marL="0" indent="0">
              <a:buNone/>
            </a:pPr>
            <a:r>
              <a:rPr lang="en-US" sz="900" dirty="0">
                <a:solidFill>
                  <a:srgbClr val="909692"/>
                </a:solidFill>
                <a:latin typeface="Mona Sans" pitchFamily="34" charset="0"/>
                <a:ea typeface="Mona Sans" pitchFamily="34" charset="-122"/>
                <a:cs typeface="Mona Sans" pitchFamily="34" charset="-120"/>
              </a:rPr>
              <a:t>Singapore  ·  March 2026</a:t>
            </a:r>
            <a:endParaRPr lang="en-US" sz="900" dirty="0"/>
          </a:p>
        </p:txBody>
      </p:sp>
      <p:sp>
        <p:nvSpPr>
          <p:cNvPr id="14" name="Text 10"/>
          <p:cNvSpPr/>
          <p:nvPr/>
        </p:nvSpPr>
        <p:spPr>
          <a:xfrm>
            <a:off x="6858000" y="4777740"/>
            <a:ext cx="1828800" cy="228600"/>
          </a:xfrm>
          <a:prstGeom prst="rect">
            <a:avLst/>
          </a:prstGeom>
          <a:noFill/>
          <a:ln/>
        </p:spPr>
        <p:txBody>
          <a:bodyPr wrap="square" rtlCol="0" anchor="ctr"/>
          <a:lstStyle/>
          <a:p>
            <a:pPr marL="0" indent="0" algn="r">
              <a:buNone/>
            </a:pPr>
            <a:r>
              <a:rPr lang="en-US" sz="1400" b="1" dirty="0">
                <a:solidFill>
                  <a:srgbClr val="F2F5F3"/>
                </a:solidFill>
                <a:latin typeface="Mona Sans" pitchFamily="34" charset="0"/>
                <a:ea typeface="Mona Sans" pitchFamily="34" charset="-122"/>
                <a:cs typeface="Mona Sans" pitchFamily="34" charset="-120"/>
              </a:rPr>
              <a:t>GitHub</a:t>
            </a:r>
            <a:endParaRPr lang="en-US" sz="1400" dirty="0"/>
          </a:p>
        </p:txBody>
      </p:sp>
    </p:spTree>
    <p:extLst>
      <p:ext uri="{BB962C8B-B14F-4D97-AF65-F5344CB8AC3E}">
        <p14:creationId xmlns:p14="http://schemas.microsoft.com/office/powerpoint/2010/main" val="27861656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D1117"/>
          </a:solidFill>
          <a:ln/>
        </p:spPr>
        <p:txBody>
          <a:bodyPr/>
          <a:lstStyle/>
          <a:p>
            <a:endParaRPr lang="en-US"/>
          </a:p>
        </p:txBody>
      </p:sp>
      <p:sp>
        <p:nvSpPr>
          <p:cNvPr id="3" name="Shape 1"/>
          <p:cNvSpPr/>
          <p:nvPr/>
        </p:nvSpPr>
        <p:spPr>
          <a:xfrm>
            <a:off x="0" y="0"/>
            <a:ext cx="9144000" cy="32004"/>
          </a:xfrm>
          <a:prstGeom prst="rect">
            <a:avLst/>
          </a:prstGeom>
          <a:solidFill>
            <a:srgbClr val="3FB950"/>
          </a:solidFill>
          <a:ln/>
        </p:spPr>
        <p:txBody>
          <a:bodyPr/>
          <a:lstStyle/>
          <a:p>
            <a:endParaRPr lang="en-US"/>
          </a:p>
        </p:txBody>
      </p:sp>
      <p:sp>
        <p:nvSpPr>
          <p:cNvPr id="4" name="Text 2"/>
          <p:cNvSpPr/>
          <p:nvPr/>
        </p:nvSpPr>
        <p:spPr>
          <a:xfrm>
            <a:off x="457200" y="91440"/>
            <a:ext cx="4572000" cy="146304"/>
          </a:xfrm>
          <a:prstGeom prst="rect">
            <a:avLst/>
          </a:prstGeom>
          <a:noFill/>
          <a:ln/>
        </p:spPr>
        <p:txBody>
          <a:bodyPr wrap="square" rtlCol="0" anchor="ctr"/>
          <a:lstStyle/>
          <a:p>
            <a:pPr marL="0" indent="0">
              <a:buNone/>
            </a:pPr>
            <a:r>
              <a:rPr lang="en-US" sz="750" b="1" dirty="0">
                <a:solidFill>
                  <a:srgbClr val="3FB950"/>
                </a:solidFill>
                <a:latin typeface="Segoe UI" pitchFamily="34" charset="0"/>
                <a:ea typeface="Segoe UI" pitchFamily="34" charset="-122"/>
                <a:cs typeface="Segoe UI" pitchFamily="34" charset="-120"/>
              </a:rPr>
              <a:t>STATE OF THE OCTOVERSE 2025</a:t>
            </a:r>
            <a:endParaRPr lang="en-US" sz="750" dirty="0"/>
          </a:p>
        </p:txBody>
      </p:sp>
      <p:sp>
        <p:nvSpPr>
          <p:cNvPr id="5" name="Text 3"/>
          <p:cNvSpPr/>
          <p:nvPr/>
        </p:nvSpPr>
        <p:spPr>
          <a:xfrm>
            <a:off x="457200" y="228600"/>
            <a:ext cx="8229600" cy="292608"/>
          </a:xfrm>
          <a:prstGeom prst="rect">
            <a:avLst/>
          </a:prstGeom>
          <a:noFill/>
          <a:ln/>
        </p:spPr>
        <p:txBody>
          <a:bodyPr wrap="square" rtlCol="0" anchor="ctr"/>
          <a:lstStyle/>
          <a:p>
            <a:pPr marL="0" indent="0">
              <a:buNone/>
            </a:pPr>
            <a:r>
              <a:rPr lang="en-US" sz="2000" b="1" dirty="0">
                <a:solidFill>
                  <a:srgbClr val="F0F6FC"/>
                </a:solidFill>
                <a:latin typeface="Segoe UI" pitchFamily="34" charset="0"/>
                <a:ea typeface="Segoe UI" pitchFamily="34" charset="-122"/>
                <a:cs typeface="Segoe UI" pitchFamily="34" charset="-120"/>
              </a:rPr>
              <a:t>The Rise of Southeast Asia</a:t>
            </a:r>
            <a:endParaRPr lang="en-US" sz="2000" dirty="0"/>
          </a:p>
        </p:txBody>
      </p:sp>
      <p:sp>
        <p:nvSpPr>
          <p:cNvPr id="6" name="Text 4"/>
          <p:cNvSpPr/>
          <p:nvPr/>
        </p:nvSpPr>
        <p:spPr>
          <a:xfrm>
            <a:off x="457200" y="512064"/>
            <a:ext cx="7315200" cy="146304"/>
          </a:xfrm>
          <a:prstGeom prst="rect">
            <a:avLst/>
          </a:prstGeom>
          <a:noFill/>
          <a:ln/>
        </p:spPr>
        <p:txBody>
          <a:bodyPr wrap="square" rtlCol="0" anchor="ctr"/>
          <a:lstStyle/>
          <a:p>
            <a:pPr marL="0" indent="0">
              <a:buNone/>
            </a:pPr>
            <a:r>
              <a:rPr lang="en-US" sz="850" dirty="0">
                <a:solidFill>
                  <a:srgbClr val="8B949E"/>
                </a:solidFill>
                <a:latin typeface="Segoe UI" pitchFamily="34" charset="0"/>
                <a:ea typeface="Segoe UI" pitchFamily="34" charset="-122"/>
                <a:cs typeface="Segoe UI" pitchFamily="34" charset="-120"/>
              </a:rPr>
              <a:t>A fast-growing developer ecosystem powered by digital transformation, AI adoption &amp; open source</a:t>
            </a:r>
            <a:endParaRPr lang="en-US" sz="850" dirty="0"/>
          </a:p>
        </p:txBody>
      </p:sp>
      <p:sp>
        <p:nvSpPr>
          <p:cNvPr id="7" name="Shape 5"/>
          <p:cNvSpPr/>
          <p:nvPr/>
        </p:nvSpPr>
        <p:spPr>
          <a:xfrm>
            <a:off x="457200" y="694944"/>
            <a:ext cx="8229600" cy="5486"/>
          </a:xfrm>
          <a:prstGeom prst="rect">
            <a:avLst/>
          </a:prstGeom>
          <a:solidFill>
            <a:srgbClr val="21262D"/>
          </a:solidFill>
          <a:ln/>
        </p:spPr>
        <p:txBody>
          <a:bodyPr/>
          <a:lstStyle/>
          <a:p>
            <a:endParaRPr lang="en-US"/>
          </a:p>
        </p:txBody>
      </p:sp>
      <p:sp>
        <p:nvSpPr>
          <p:cNvPr id="8" name="Shape 6"/>
          <p:cNvSpPr/>
          <p:nvPr/>
        </p:nvSpPr>
        <p:spPr>
          <a:xfrm>
            <a:off x="457200" y="777240"/>
            <a:ext cx="3931920" cy="1463040"/>
          </a:xfrm>
          <a:prstGeom prst="roundRect">
            <a:avLst>
              <a:gd name="adj" fmla="val 5000"/>
            </a:avLst>
          </a:prstGeom>
          <a:solidFill>
            <a:srgbClr val="161B22"/>
          </a:solidFill>
          <a:ln w="12700">
            <a:solidFill>
              <a:srgbClr val="30363D"/>
            </a:solidFill>
            <a:prstDash val="solid"/>
          </a:ln>
        </p:spPr>
        <p:txBody>
          <a:bodyPr/>
          <a:lstStyle/>
          <a:p>
            <a:endParaRPr lang="en-US"/>
          </a:p>
        </p:txBody>
      </p:sp>
      <p:sp>
        <p:nvSpPr>
          <p:cNvPr id="9" name="Shape 7"/>
          <p:cNvSpPr/>
          <p:nvPr/>
        </p:nvSpPr>
        <p:spPr>
          <a:xfrm>
            <a:off x="603504" y="868680"/>
            <a:ext cx="91440" cy="91440"/>
          </a:xfrm>
          <a:prstGeom prst="ellipse">
            <a:avLst/>
          </a:prstGeom>
          <a:solidFill>
            <a:srgbClr val="DA3633"/>
          </a:solidFill>
          <a:ln/>
        </p:spPr>
        <p:txBody>
          <a:bodyPr/>
          <a:lstStyle/>
          <a:p>
            <a:endParaRPr lang="en-US"/>
          </a:p>
        </p:txBody>
      </p:sp>
      <p:sp>
        <p:nvSpPr>
          <p:cNvPr id="10" name="Text 8"/>
          <p:cNvSpPr/>
          <p:nvPr/>
        </p:nvSpPr>
        <p:spPr>
          <a:xfrm>
            <a:off x="731520" y="822960"/>
            <a:ext cx="3383280" cy="164592"/>
          </a:xfrm>
          <a:prstGeom prst="rect">
            <a:avLst/>
          </a:prstGeom>
          <a:noFill/>
          <a:ln/>
        </p:spPr>
        <p:txBody>
          <a:bodyPr wrap="square" rtlCol="0" anchor="ctr"/>
          <a:lstStyle/>
          <a:p>
            <a:pPr marL="0" indent="0">
              <a:buNone/>
            </a:pPr>
            <a:r>
              <a:rPr lang="en-US" sz="850" b="1" dirty="0">
                <a:solidFill>
                  <a:srgbClr val="F0F6FC"/>
                </a:solidFill>
                <a:latin typeface="Segoe UI" pitchFamily="34" charset="0"/>
                <a:ea typeface="Segoe UI" pitchFamily="34" charset="-122"/>
                <a:cs typeface="Segoe UI" pitchFamily="34" charset="-120"/>
              </a:rPr>
              <a:t>Indonesia  ·  SE Asia's Digital Powerhouse</a:t>
            </a:r>
            <a:endParaRPr lang="en-US" sz="850" dirty="0"/>
          </a:p>
        </p:txBody>
      </p:sp>
      <p:sp>
        <p:nvSpPr>
          <p:cNvPr id="11" name="Text 9"/>
          <p:cNvSpPr/>
          <p:nvPr/>
        </p:nvSpPr>
        <p:spPr>
          <a:xfrm>
            <a:off x="603504" y="1005840"/>
            <a:ext cx="3200400" cy="347472"/>
          </a:xfrm>
          <a:prstGeom prst="rect">
            <a:avLst/>
          </a:prstGeom>
          <a:noFill/>
          <a:ln/>
        </p:spPr>
        <p:txBody>
          <a:bodyPr wrap="square" rtlCol="0" anchor="ctr"/>
          <a:lstStyle/>
          <a:p>
            <a:pPr marL="0" indent="0">
              <a:buNone/>
            </a:pPr>
            <a:r>
              <a:rPr lang="en-US" sz="2800" b="1" dirty="0">
                <a:solidFill>
                  <a:srgbClr val="58A6FF"/>
                </a:solidFill>
                <a:latin typeface="Segoe UI" pitchFamily="34" charset="0"/>
                <a:ea typeface="Segoe UI" pitchFamily="34" charset="-122"/>
                <a:cs typeface="Segoe UI" pitchFamily="34" charset="-120"/>
              </a:rPr>
              <a:t>4.37M</a:t>
            </a:r>
            <a:endParaRPr lang="en-US" sz="2800" dirty="0"/>
          </a:p>
        </p:txBody>
      </p:sp>
      <p:sp>
        <p:nvSpPr>
          <p:cNvPr id="12" name="Text 10"/>
          <p:cNvSpPr/>
          <p:nvPr/>
        </p:nvSpPr>
        <p:spPr>
          <a:xfrm>
            <a:off x="603504" y="1344168"/>
            <a:ext cx="3200400" cy="128016"/>
          </a:xfrm>
          <a:prstGeom prst="rect">
            <a:avLst/>
          </a:prstGeom>
          <a:noFill/>
          <a:ln/>
        </p:spPr>
        <p:txBody>
          <a:bodyPr wrap="square" rtlCol="0" anchor="ctr"/>
          <a:lstStyle/>
          <a:p>
            <a:pPr marL="0" indent="0">
              <a:buNone/>
            </a:pPr>
            <a:r>
              <a:rPr lang="en-US" sz="800" dirty="0">
                <a:solidFill>
                  <a:srgbClr val="8B949E"/>
                </a:solidFill>
                <a:latin typeface="Segoe UI" pitchFamily="34" charset="0"/>
                <a:ea typeface="Segoe UI" pitchFamily="34" charset="-122"/>
                <a:cs typeface="Segoe UI" pitchFamily="34" charset="-120"/>
              </a:rPr>
              <a:t>developers on GitHub in 2025</a:t>
            </a:r>
            <a:endParaRPr lang="en-US" sz="800" dirty="0"/>
          </a:p>
        </p:txBody>
      </p:sp>
      <p:sp>
        <p:nvSpPr>
          <p:cNvPr id="13" name="Shape 11"/>
          <p:cNvSpPr/>
          <p:nvPr/>
        </p:nvSpPr>
        <p:spPr>
          <a:xfrm>
            <a:off x="603504" y="1527048"/>
            <a:ext cx="1234440" cy="182880"/>
          </a:xfrm>
          <a:prstGeom prst="roundRect">
            <a:avLst>
              <a:gd name="adj" fmla="val 20000"/>
            </a:avLst>
          </a:prstGeom>
          <a:solidFill>
            <a:srgbClr val="0E3A1E"/>
          </a:solidFill>
          <a:ln/>
        </p:spPr>
        <p:txBody>
          <a:bodyPr/>
          <a:lstStyle/>
          <a:p>
            <a:endParaRPr lang="en-US"/>
          </a:p>
        </p:txBody>
      </p:sp>
      <p:sp>
        <p:nvSpPr>
          <p:cNvPr id="14" name="Text 12"/>
          <p:cNvSpPr/>
          <p:nvPr/>
        </p:nvSpPr>
        <p:spPr>
          <a:xfrm>
            <a:off x="603504" y="1527048"/>
            <a:ext cx="1234440" cy="182880"/>
          </a:xfrm>
          <a:prstGeom prst="rect">
            <a:avLst/>
          </a:prstGeom>
          <a:noFill/>
          <a:ln/>
        </p:spPr>
        <p:txBody>
          <a:bodyPr wrap="square" rtlCol="0" anchor="ctr"/>
          <a:lstStyle/>
          <a:p>
            <a:pPr marL="0" indent="0" algn="ctr">
              <a:buNone/>
            </a:pPr>
            <a:r>
              <a:rPr lang="en-US" sz="750" b="1" dirty="0">
                <a:solidFill>
                  <a:srgbClr val="3FB950"/>
                </a:solidFill>
                <a:latin typeface="Segoe UI" pitchFamily="34" charset="0"/>
                <a:ea typeface="Segoe UI" pitchFamily="34" charset="-122"/>
                <a:cs typeface="Segoe UI" pitchFamily="34" charset="-120"/>
              </a:rPr>
              <a:t>▲ ~4.9× since 2020</a:t>
            </a:r>
            <a:endParaRPr lang="en-US" sz="750" dirty="0"/>
          </a:p>
        </p:txBody>
      </p:sp>
      <p:sp>
        <p:nvSpPr>
          <p:cNvPr id="15" name="Shape 13"/>
          <p:cNvSpPr/>
          <p:nvPr/>
        </p:nvSpPr>
        <p:spPr>
          <a:xfrm>
            <a:off x="1901952" y="1527048"/>
            <a:ext cx="1280160" cy="182880"/>
          </a:xfrm>
          <a:prstGeom prst="roundRect">
            <a:avLst>
              <a:gd name="adj" fmla="val 20000"/>
            </a:avLst>
          </a:prstGeom>
          <a:solidFill>
            <a:srgbClr val="1C1E24"/>
          </a:solidFill>
          <a:ln/>
        </p:spPr>
        <p:txBody>
          <a:bodyPr/>
          <a:lstStyle/>
          <a:p>
            <a:endParaRPr lang="en-US"/>
          </a:p>
        </p:txBody>
      </p:sp>
      <p:sp>
        <p:nvSpPr>
          <p:cNvPr id="16" name="Text 14"/>
          <p:cNvSpPr/>
          <p:nvPr/>
        </p:nvSpPr>
        <p:spPr>
          <a:xfrm>
            <a:off x="1901952" y="1527048"/>
            <a:ext cx="1280160" cy="182880"/>
          </a:xfrm>
          <a:prstGeom prst="rect">
            <a:avLst/>
          </a:prstGeom>
          <a:noFill/>
          <a:ln/>
        </p:spPr>
        <p:txBody>
          <a:bodyPr wrap="square" rtlCol="0" anchor="ctr"/>
          <a:lstStyle/>
          <a:p>
            <a:pPr marL="0" indent="0" algn="ctr">
              <a:buNone/>
            </a:pPr>
            <a:r>
              <a:rPr lang="en-US" sz="750" dirty="0">
                <a:solidFill>
                  <a:srgbClr val="8B949E"/>
                </a:solidFill>
                <a:latin typeface="Segoe UI" pitchFamily="34" charset="0"/>
                <a:ea typeface="Segoe UI" pitchFamily="34" charset="-122"/>
                <a:cs typeface="Segoe UI" pitchFamily="34" charset="-120"/>
              </a:rPr>
              <a:t>up from 0.9M in 2020</a:t>
            </a:r>
            <a:endParaRPr lang="en-US" sz="750" dirty="0"/>
          </a:p>
        </p:txBody>
      </p:sp>
      <p:sp>
        <p:nvSpPr>
          <p:cNvPr id="17" name="Shape 15"/>
          <p:cNvSpPr/>
          <p:nvPr/>
        </p:nvSpPr>
        <p:spPr>
          <a:xfrm>
            <a:off x="603504" y="1755648"/>
            <a:ext cx="960120" cy="182880"/>
          </a:xfrm>
          <a:prstGeom prst="roundRect">
            <a:avLst>
              <a:gd name="adj" fmla="val 20000"/>
            </a:avLst>
          </a:prstGeom>
          <a:solidFill>
            <a:srgbClr val="1A1530"/>
          </a:solidFill>
          <a:ln/>
        </p:spPr>
        <p:txBody>
          <a:bodyPr/>
          <a:lstStyle/>
          <a:p>
            <a:endParaRPr lang="en-US"/>
          </a:p>
        </p:txBody>
      </p:sp>
      <p:sp>
        <p:nvSpPr>
          <p:cNvPr id="18" name="Text 16"/>
          <p:cNvSpPr/>
          <p:nvPr/>
        </p:nvSpPr>
        <p:spPr>
          <a:xfrm>
            <a:off x="603504" y="1755648"/>
            <a:ext cx="960120" cy="182880"/>
          </a:xfrm>
          <a:prstGeom prst="rect">
            <a:avLst/>
          </a:prstGeom>
          <a:noFill/>
          <a:ln/>
        </p:spPr>
        <p:txBody>
          <a:bodyPr wrap="square" rtlCol="0" anchor="ctr"/>
          <a:lstStyle/>
          <a:p>
            <a:pPr marL="0" indent="0" algn="ctr">
              <a:buNone/>
            </a:pPr>
            <a:r>
              <a:rPr lang="en-US" sz="650" b="1" dirty="0">
                <a:solidFill>
                  <a:srgbClr val="A371F7"/>
                </a:solidFill>
                <a:latin typeface="Segoe UI" pitchFamily="34" charset="0"/>
                <a:ea typeface="Segoe UI" pitchFamily="34" charset="-122"/>
                <a:cs typeface="Segoe UI" pitchFamily="34" charset="-120"/>
              </a:rPr>
              <a:t>Ranked #8 globally</a:t>
            </a:r>
            <a:endParaRPr lang="en-US" sz="650" dirty="0"/>
          </a:p>
        </p:txBody>
      </p:sp>
      <p:sp>
        <p:nvSpPr>
          <p:cNvPr id="19" name="Shape 17"/>
          <p:cNvSpPr/>
          <p:nvPr/>
        </p:nvSpPr>
        <p:spPr>
          <a:xfrm>
            <a:off x="1627632" y="1755648"/>
            <a:ext cx="1280160" cy="182880"/>
          </a:xfrm>
          <a:prstGeom prst="roundRect">
            <a:avLst>
              <a:gd name="adj" fmla="val 20000"/>
            </a:avLst>
          </a:prstGeom>
          <a:solidFill>
            <a:srgbClr val="1A1530"/>
          </a:solidFill>
          <a:ln/>
        </p:spPr>
        <p:txBody>
          <a:bodyPr/>
          <a:lstStyle/>
          <a:p>
            <a:endParaRPr lang="en-US"/>
          </a:p>
        </p:txBody>
      </p:sp>
      <p:sp>
        <p:nvSpPr>
          <p:cNvPr id="20" name="Text 18"/>
          <p:cNvSpPr/>
          <p:nvPr/>
        </p:nvSpPr>
        <p:spPr>
          <a:xfrm>
            <a:off x="1627632" y="1755648"/>
            <a:ext cx="1280160" cy="182880"/>
          </a:xfrm>
          <a:prstGeom prst="rect">
            <a:avLst/>
          </a:prstGeom>
          <a:noFill/>
          <a:ln/>
        </p:spPr>
        <p:txBody>
          <a:bodyPr wrap="square" rtlCol="0" anchor="ctr"/>
          <a:lstStyle/>
          <a:p>
            <a:pPr marL="0" indent="0" algn="ctr">
              <a:buNone/>
            </a:pPr>
            <a:r>
              <a:rPr lang="en-US" sz="650" b="1" dirty="0">
                <a:solidFill>
                  <a:srgbClr val="A371F7"/>
                </a:solidFill>
                <a:latin typeface="Segoe UI" pitchFamily="34" charset="0"/>
                <a:ea typeface="Segoe UI" pitchFamily="34" charset="-122"/>
                <a:cs typeface="Segoe UI" pitchFamily="34" charset="-120"/>
              </a:rPr>
              <a:t>Top 5 OSS contributors</a:t>
            </a:r>
            <a:endParaRPr lang="en-US" sz="650" dirty="0"/>
          </a:p>
        </p:txBody>
      </p:sp>
      <p:sp>
        <p:nvSpPr>
          <p:cNvPr id="21" name="Shape 19"/>
          <p:cNvSpPr/>
          <p:nvPr/>
        </p:nvSpPr>
        <p:spPr>
          <a:xfrm>
            <a:off x="2971800" y="1755648"/>
            <a:ext cx="1234440" cy="182880"/>
          </a:xfrm>
          <a:prstGeom prst="roundRect">
            <a:avLst>
              <a:gd name="adj" fmla="val 20000"/>
            </a:avLst>
          </a:prstGeom>
          <a:solidFill>
            <a:srgbClr val="1A1530"/>
          </a:solidFill>
          <a:ln/>
        </p:spPr>
        <p:txBody>
          <a:bodyPr/>
          <a:lstStyle/>
          <a:p>
            <a:endParaRPr lang="en-US"/>
          </a:p>
        </p:txBody>
      </p:sp>
      <p:sp>
        <p:nvSpPr>
          <p:cNvPr id="22" name="Text 20"/>
          <p:cNvSpPr/>
          <p:nvPr/>
        </p:nvSpPr>
        <p:spPr>
          <a:xfrm>
            <a:off x="2971800" y="1755648"/>
            <a:ext cx="1234440" cy="182880"/>
          </a:xfrm>
          <a:prstGeom prst="rect">
            <a:avLst/>
          </a:prstGeom>
          <a:noFill/>
          <a:ln/>
        </p:spPr>
        <p:txBody>
          <a:bodyPr wrap="square" rtlCol="0" anchor="ctr"/>
          <a:lstStyle/>
          <a:p>
            <a:pPr marL="0" indent="0" algn="ctr">
              <a:buNone/>
            </a:pPr>
            <a:r>
              <a:rPr lang="en-US" sz="650" b="1" dirty="0">
                <a:solidFill>
                  <a:srgbClr val="A371F7"/>
                </a:solidFill>
                <a:latin typeface="Segoe UI" pitchFamily="34" charset="0"/>
                <a:ea typeface="Segoe UI" pitchFamily="34" charset="-122"/>
                <a:cs typeface="Segoe UI" pitchFamily="34" charset="-120"/>
              </a:rPr>
              <a:t>~50% of SE Asia economy</a:t>
            </a:r>
            <a:endParaRPr lang="en-US" sz="650" dirty="0"/>
          </a:p>
        </p:txBody>
      </p:sp>
      <p:sp>
        <p:nvSpPr>
          <p:cNvPr id="23" name="Shape 21"/>
          <p:cNvSpPr/>
          <p:nvPr/>
        </p:nvSpPr>
        <p:spPr>
          <a:xfrm>
            <a:off x="4754880" y="777240"/>
            <a:ext cx="3931920" cy="1463040"/>
          </a:xfrm>
          <a:prstGeom prst="roundRect">
            <a:avLst>
              <a:gd name="adj" fmla="val 5000"/>
            </a:avLst>
          </a:prstGeom>
          <a:solidFill>
            <a:srgbClr val="161B22"/>
          </a:solidFill>
          <a:ln w="12700">
            <a:solidFill>
              <a:srgbClr val="30363D"/>
            </a:solidFill>
            <a:prstDash val="solid"/>
          </a:ln>
        </p:spPr>
        <p:txBody>
          <a:bodyPr/>
          <a:lstStyle/>
          <a:p>
            <a:endParaRPr lang="en-US"/>
          </a:p>
        </p:txBody>
      </p:sp>
      <p:sp>
        <p:nvSpPr>
          <p:cNvPr id="24" name="Text 22"/>
          <p:cNvSpPr/>
          <p:nvPr/>
        </p:nvSpPr>
        <p:spPr>
          <a:xfrm>
            <a:off x="4919472" y="822960"/>
            <a:ext cx="3474720" cy="164592"/>
          </a:xfrm>
          <a:prstGeom prst="rect">
            <a:avLst/>
          </a:prstGeom>
          <a:noFill/>
          <a:ln/>
        </p:spPr>
        <p:txBody>
          <a:bodyPr wrap="square" rtlCol="0" anchor="ctr"/>
          <a:lstStyle/>
          <a:p>
            <a:pPr marL="0" indent="0">
              <a:buNone/>
            </a:pPr>
            <a:r>
              <a:rPr lang="en-US" sz="1000" b="1" dirty="0">
                <a:solidFill>
                  <a:srgbClr val="F0F6FC"/>
                </a:solidFill>
                <a:latin typeface="Segoe UI" pitchFamily="34" charset="0"/>
                <a:ea typeface="Segoe UI" pitchFamily="34" charset="-122"/>
                <a:cs typeface="Segoe UI" pitchFamily="34" charset="-120"/>
              </a:rPr>
              <a:t>APAC Regional Momentum</a:t>
            </a:r>
            <a:endParaRPr lang="en-US" sz="1000" dirty="0"/>
          </a:p>
        </p:txBody>
      </p:sp>
      <p:sp>
        <p:nvSpPr>
          <p:cNvPr id="25" name="Text 23"/>
          <p:cNvSpPr/>
          <p:nvPr/>
        </p:nvSpPr>
        <p:spPr>
          <a:xfrm>
            <a:off x="4919472" y="1051560"/>
            <a:ext cx="960120" cy="219456"/>
          </a:xfrm>
          <a:prstGeom prst="rect">
            <a:avLst/>
          </a:prstGeom>
          <a:noFill/>
          <a:ln/>
        </p:spPr>
        <p:txBody>
          <a:bodyPr wrap="square" rtlCol="0" anchor="ctr"/>
          <a:lstStyle/>
          <a:p>
            <a:pPr marL="0" indent="0">
              <a:buNone/>
            </a:pPr>
            <a:r>
              <a:rPr lang="en-US" sz="1600" b="1" dirty="0">
                <a:solidFill>
                  <a:srgbClr val="F78166"/>
                </a:solidFill>
                <a:latin typeface="Segoe UI" pitchFamily="34" charset="0"/>
                <a:ea typeface="Segoe UI" pitchFamily="34" charset="-122"/>
                <a:cs typeface="Segoe UI" pitchFamily="34" charset="-120"/>
              </a:rPr>
              <a:t>~25</a:t>
            </a:r>
            <a:endParaRPr lang="en-US" sz="1600" dirty="0"/>
          </a:p>
        </p:txBody>
      </p:sp>
      <p:sp>
        <p:nvSpPr>
          <p:cNvPr id="26" name="Text 24"/>
          <p:cNvSpPr/>
          <p:nvPr/>
        </p:nvSpPr>
        <p:spPr>
          <a:xfrm>
            <a:off x="5870448" y="1051560"/>
            <a:ext cx="2606040" cy="219456"/>
          </a:xfrm>
          <a:prstGeom prst="rect">
            <a:avLst/>
          </a:prstGeom>
          <a:noFill/>
          <a:ln/>
        </p:spPr>
        <p:txBody>
          <a:bodyPr wrap="square" rtlCol="0" anchor="ctr"/>
          <a:lstStyle/>
          <a:p>
            <a:pPr marL="0" indent="0">
              <a:buNone/>
            </a:pPr>
            <a:r>
              <a:rPr lang="en-US" sz="800" dirty="0">
                <a:solidFill>
                  <a:srgbClr val="8B949E"/>
                </a:solidFill>
                <a:latin typeface="Segoe UI" pitchFamily="34" charset="0"/>
                <a:ea typeface="Segoe UI" pitchFamily="34" charset="-122"/>
                <a:cs typeface="Segoe UI" pitchFamily="34" charset="-120"/>
              </a:rPr>
              <a:t>devs join from APAC every minute</a:t>
            </a:r>
            <a:endParaRPr lang="en-US" sz="800" dirty="0"/>
          </a:p>
        </p:txBody>
      </p:sp>
      <p:sp>
        <p:nvSpPr>
          <p:cNvPr id="27" name="Shape 25"/>
          <p:cNvSpPr/>
          <p:nvPr/>
        </p:nvSpPr>
        <p:spPr>
          <a:xfrm>
            <a:off x="4919472" y="1298448"/>
            <a:ext cx="3520440" cy="3658"/>
          </a:xfrm>
          <a:prstGeom prst="rect">
            <a:avLst/>
          </a:prstGeom>
          <a:solidFill>
            <a:srgbClr val="30363D"/>
          </a:solidFill>
          <a:ln/>
        </p:spPr>
        <p:txBody>
          <a:bodyPr/>
          <a:lstStyle/>
          <a:p>
            <a:endParaRPr lang="en-US"/>
          </a:p>
        </p:txBody>
      </p:sp>
      <p:sp>
        <p:nvSpPr>
          <p:cNvPr id="28" name="Text 26"/>
          <p:cNvSpPr/>
          <p:nvPr/>
        </p:nvSpPr>
        <p:spPr>
          <a:xfrm>
            <a:off x="4919472" y="1344168"/>
            <a:ext cx="960120" cy="219456"/>
          </a:xfrm>
          <a:prstGeom prst="rect">
            <a:avLst/>
          </a:prstGeom>
          <a:noFill/>
          <a:ln/>
        </p:spPr>
        <p:txBody>
          <a:bodyPr wrap="square" rtlCol="0" anchor="ctr"/>
          <a:lstStyle/>
          <a:p>
            <a:pPr marL="0" indent="0">
              <a:buNone/>
            </a:pPr>
            <a:r>
              <a:rPr lang="en-US" sz="1600" b="1" dirty="0">
                <a:solidFill>
                  <a:srgbClr val="F78166"/>
                </a:solidFill>
                <a:latin typeface="Segoe UI" pitchFamily="34" charset="0"/>
                <a:ea typeface="Segoe UI" pitchFamily="34" charset="-122"/>
                <a:cs typeface="Segoe UI" pitchFamily="34" charset="-120"/>
              </a:rPr>
              <a:t>+13M</a:t>
            </a:r>
            <a:endParaRPr lang="en-US" sz="1600" dirty="0"/>
          </a:p>
        </p:txBody>
      </p:sp>
      <p:sp>
        <p:nvSpPr>
          <p:cNvPr id="29" name="Text 27"/>
          <p:cNvSpPr/>
          <p:nvPr/>
        </p:nvSpPr>
        <p:spPr>
          <a:xfrm>
            <a:off x="5870448" y="1344168"/>
            <a:ext cx="2606040" cy="219456"/>
          </a:xfrm>
          <a:prstGeom prst="rect">
            <a:avLst/>
          </a:prstGeom>
          <a:noFill/>
          <a:ln/>
        </p:spPr>
        <p:txBody>
          <a:bodyPr wrap="square" rtlCol="0" anchor="ctr"/>
          <a:lstStyle/>
          <a:p>
            <a:pPr marL="0" indent="0">
              <a:buNone/>
            </a:pPr>
            <a:r>
              <a:rPr lang="en-US" sz="800" dirty="0">
                <a:solidFill>
                  <a:srgbClr val="8B949E"/>
                </a:solidFill>
                <a:latin typeface="Segoe UI" pitchFamily="34" charset="0"/>
                <a:ea typeface="Segoe UI" pitchFamily="34" charset="-122"/>
                <a:cs typeface="Segoe UI" pitchFamily="34" charset="-120"/>
              </a:rPr>
              <a:t>net new APAC devs in 2024–2025</a:t>
            </a:r>
            <a:endParaRPr lang="en-US" sz="800" dirty="0"/>
          </a:p>
        </p:txBody>
      </p:sp>
      <p:sp>
        <p:nvSpPr>
          <p:cNvPr id="30" name="Shape 28"/>
          <p:cNvSpPr/>
          <p:nvPr/>
        </p:nvSpPr>
        <p:spPr>
          <a:xfrm>
            <a:off x="4919472" y="1591056"/>
            <a:ext cx="3520440" cy="3658"/>
          </a:xfrm>
          <a:prstGeom prst="rect">
            <a:avLst/>
          </a:prstGeom>
          <a:solidFill>
            <a:srgbClr val="30363D"/>
          </a:solidFill>
          <a:ln/>
        </p:spPr>
        <p:txBody>
          <a:bodyPr/>
          <a:lstStyle/>
          <a:p>
            <a:endParaRPr lang="en-US"/>
          </a:p>
        </p:txBody>
      </p:sp>
      <p:sp>
        <p:nvSpPr>
          <p:cNvPr id="31" name="Text 29"/>
          <p:cNvSpPr/>
          <p:nvPr/>
        </p:nvSpPr>
        <p:spPr>
          <a:xfrm>
            <a:off x="4919472" y="1636776"/>
            <a:ext cx="960120" cy="219456"/>
          </a:xfrm>
          <a:prstGeom prst="rect">
            <a:avLst/>
          </a:prstGeom>
          <a:noFill/>
          <a:ln/>
        </p:spPr>
        <p:txBody>
          <a:bodyPr wrap="square" rtlCol="0" anchor="ctr"/>
          <a:lstStyle/>
          <a:p>
            <a:pPr marL="0" indent="0">
              <a:buNone/>
            </a:pPr>
            <a:r>
              <a:rPr lang="en-US" sz="1600" b="1" dirty="0">
                <a:solidFill>
                  <a:srgbClr val="F78166"/>
                </a:solidFill>
                <a:latin typeface="Segoe UI" pitchFamily="34" charset="0"/>
                <a:ea typeface="Segoe UI" pitchFamily="34" charset="-122"/>
                <a:cs typeface="Segoe UI" pitchFamily="34" charset="-120"/>
              </a:rPr>
              <a:t>~50%</a:t>
            </a:r>
            <a:endParaRPr lang="en-US" sz="1600" dirty="0"/>
          </a:p>
        </p:txBody>
      </p:sp>
      <p:sp>
        <p:nvSpPr>
          <p:cNvPr id="32" name="Text 30"/>
          <p:cNvSpPr/>
          <p:nvPr/>
        </p:nvSpPr>
        <p:spPr>
          <a:xfrm>
            <a:off x="5870448" y="1636776"/>
            <a:ext cx="2606040" cy="219456"/>
          </a:xfrm>
          <a:prstGeom prst="rect">
            <a:avLst/>
          </a:prstGeom>
          <a:noFill/>
          <a:ln/>
        </p:spPr>
        <p:txBody>
          <a:bodyPr wrap="square" rtlCol="0" anchor="ctr"/>
          <a:lstStyle/>
          <a:p>
            <a:pPr marL="0" indent="0">
              <a:buNone/>
            </a:pPr>
            <a:r>
              <a:rPr lang="en-US" sz="800" dirty="0">
                <a:solidFill>
                  <a:srgbClr val="8B949E"/>
                </a:solidFill>
                <a:latin typeface="Segoe UI" pitchFamily="34" charset="0"/>
                <a:ea typeface="Segoe UI" pitchFamily="34" charset="-122"/>
                <a:cs typeface="Segoe UI" pitchFamily="34" charset="-120"/>
              </a:rPr>
              <a:t>of SE Asia's online economy is Indonesia</a:t>
            </a:r>
            <a:endParaRPr lang="en-US" sz="800" dirty="0"/>
          </a:p>
        </p:txBody>
      </p:sp>
      <p:sp>
        <p:nvSpPr>
          <p:cNvPr id="33" name="Shape 31"/>
          <p:cNvSpPr/>
          <p:nvPr/>
        </p:nvSpPr>
        <p:spPr>
          <a:xfrm>
            <a:off x="4919472" y="1883664"/>
            <a:ext cx="3520440" cy="3658"/>
          </a:xfrm>
          <a:prstGeom prst="rect">
            <a:avLst/>
          </a:prstGeom>
          <a:solidFill>
            <a:srgbClr val="30363D"/>
          </a:solidFill>
          <a:ln/>
        </p:spPr>
        <p:txBody>
          <a:bodyPr/>
          <a:lstStyle/>
          <a:p>
            <a:endParaRPr lang="en-US"/>
          </a:p>
        </p:txBody>
      </p:sp>
      <p:sp>
        <p:nvSpPr>
          <p:cNvPr id="34" name="Text 32"/>
          <p:cNvSpPr/>
          <p:nvPr/>
        </p:nvSpPr>
        <p:spPr>
          <a:xfrm>
            <a:off x="4919472" y="1929384"/>
            <a:ext cx="960120" cy="219456"/>
          </a:xfrm>
          <a:prstGeom prst="rect">
            <a:avLst/>
          </a:prstGeom>
          <a:noFill/>
          <a:ln/>
        </p:spPr>
        <p:txBody>
          <a:bodyPr wrap="square" rtlCol="0" anchor="ctr"/>
          <a:lstStyle/>
          <a:p>
            <a:pPr marL="0" indent="0">
              <a:buNone/>
            </a:pPr>
            <a:r>
              <a:rPr lang="en-US" sz="1600" b="1" dirty="0">
                <a:solidFill>
                  <a:srgbClr val="F78166"/>
                </a:solidFill>
                <a:latin typeface="Segoe UI" pitchFamily="34" charset="0"/>
                <a:ea typeface="Segoe UI" pitchFamily="34" charset="-122"/>
                <a:cs typeface="Segoe UI" pitchFamily="34" charset="-120"/>
              </a:rPr>
              <a:t>80%</a:t>
            </a:r>
            <a:endParaRPr lang="en-US" sz="1600" dirty="0"/>
          </a:p>
        </p:txBody>
      </p:sp>
      <p:sp>
        <p:nvSpPr>
          <p:cNvPr id="35" name="Text 33"/>
          <p:cNvSpPr/>
          <p:nvPr/>
        </p:nvSpPr>
        <p:spPr>
          <a:xfrm>
            <a:off x="5870448" y="1929384"/>
            <a:ext cx="2606040" cy="219456"/>
          </a:xfrm>
          <a:prstGeom prst="rect">
            <a:avLst/>
          </a:prstGeom>
          <a:noFill/>
          <a:ln/>
        </p:spPr>
        <p:txBody>
          <a:bodyPr wrap="square" rtlCol="0" anchor="ctr"/>
          <a:lstStyle/>
          <a:p>
            <a:pPr marL="0" indent="0">
              <a:buNone/>
            </a:pPr>
            <a:r>
              <a:rPr lang="en-US" sz="800" dirty="0">
                <a:solidFill>
                  <a:srgbClr val="8B949E"/>
                </a:solidFill>
                <a:latin typeface="Segoe UI" pitchFamily="34" charset="0"/>
                <a:ea typeface="Segoe UI" pitchFamily="34" charset="-122"/>
                <a:cs typeface="Segoe UI" pitchFamily="34" charset="-120"/>
              </a:rPr>
              <a:t>of new devs use Copilot in week one</a:t>
            </a:r>
            <a:endParaRPr lang="en-US" sz="800" dirty="0"/>
          </a:p>
        </p:txBody>
      </p:sp>
      <p:sp>
        <p:nvSpPr>
          <p:cNvPr id="36" name="Shape 34"/>
          <p:cNvSpPr/>
          <p:nvPr/>
        </p:nvSpPr>
        <p:spPr>
          <a:xfrm>
            <a:off x="457200" y="2377440"/>
            <a:ext cx="8229600" cy="2331720"/>
          </a:xfrm>
          <a:prstGeom prst="roundRect">
            <a:avLst>
              <a:gd name="adj" fmla="val 3137"/>
            </a:avLst>
          </a:prstGeom>
          <a:solidFill>
            <a:srgbClr val="161B22"/>
          </a:solidFill>
          <a:ln w="12700">
            <a:solidFill>
              <a:srgbClr val="30363D"/>
            </a:solidFill>
            <a:prstDash val="solid"/>
          </a:ln>
        </p:spPr>
        <p:txBody>
          <a:bodyPr/>
          <a:lstStyle/>
          <a:p>
            <a:endParaRPr lang="en-US"/>
          </a:p>
        </p:txBody>
      </p:sp>
      <p:sp>
        <p:nvSpPr>
          <p:cNvPr id="37" name="Text 35"/>
          <p:cNvSpPr/>
          <p:nvPr/>
        </p:nvSpPr>
        <p:spPr>
          <a:xfrm>
            <a:off x="621792" y="2432304"/>
            <a:ext cx="3657600" cy="182880"/>
          </a:xfrm>
          <a:prstGeom prst="rect">
            <a:avLst/>
          </a:prstGeom>
          <a:noFill/>
          <a:ln/>
        </p:spPr>
        <p:txBody>
          <a:bodyPr wrap="square" rtlCol="0" anchor="ctr"/>
          <a:lstStyle/>
          <a:p>
            <a:pPr marL="0" indent="0">
              <a:buNone/>
            </a:pPr>
            <a:r>
              <a:rPr lang="en-US" sz="1000" b="1" dirty="0">
                <a:solidFill>
                  <a:srgbClr val="F0F6FC"/>
                </a:solidFill>
                <a:latin typeface="Segoe UI" pitchFamily="34" charset="0"/>
                <a:ea typeface="Segoe UI" pitchFamily="34" charset="-122"/>
                <a:cs typeface="Segoe UI" pitchFamily="34" charset="-120"/>
              </a:rPr>
              <a:t>What's Fueling the Boom</a:t>
            </a:r>
            <a:endParaRPr lang="en-US" sz="1000" dirty="0"/>
          </a:p>
        </p:txBody>
      </p:sp>
      <p:sp>
        <p:nvSpPr>
          <p:cNvPr id="38" name="Shape 36"/>
          <p:cNvSpPr/>
          <p:nvPr/>
        </p:nvSpPr>
        <p:spPr>
          <a:xfrm>
            <a:off x="621792" y="2670048"/>
            <a:ext cx="3794760" cy="868680"/>
          </a:xfrm>
          <a:prstGeom prst="roundRect">
            <a:avLst>
              <a:gd name="adj" fmla="val 6316"/>
            </a:avLst>
          </a:prstGeom>
          <a:solidFill>
            <a:srgbClr val="0D1117"/>
          </a:solidFill>
          <a:ln/>
        </p:spPr>
        <p:txBody>
          <a:bodyPr/>
          <a:lstStyle/>
          <a:p>
            <a:endParaRPr lang="en-US"/>
          </a:p>
        </p:txBody>
      </p:sp>
      <p:sp>
        <p:nvSpPr>
          <p:cNvPr id="39" name="Text 37"/>
          <p:cNvSpPr/>
          <p:nvPr/>
        </p:nvSpPr>
        <p:spPr>
          <a:xfrm>
            <a:off x="694944" y="2724912"/>
            <a:ext cx="256032" cy="219456"/>
          </a:xfrm>
          <a:prstGeom prst="rect">
            <a:avLst/>
          </a:prstGeom>
          <a:noFill/>
          <a:ln/>
        </p:spPr>
        <p:txBody>
          <a:bodyPr wrap="square" rtlCol="0" anchor="ctr"/>
          <a:lstStyle/>
          <a:p>
            <a:pPr marL="0" indent="0" algn="ctr">
              <a:buNone/>
            </a:pPr>
            <a:r>
              <a:rPr lang="en-US" sz="1200" dirty="0">
                <a:solidFill>
                  <a:srgbClr val="000000"/>
                </a:solidFill>
              </a:rPr>
              <a:t>🏛️</a:t>
            </a:r>
            <a:endParaRPr lang="en-US" sz="1200" dirty="0"/>
          </a:p>
        </p:txBody>
      </p:sp>
      <p:sp>
        <p:nvSpPr>
          <p:cNvPr id="40" name="Text 38"/>
          <p:cNvSpPr/>
          <p:nvPr/>
        </p:nvSpPr>
        <p:spPr>
          <a:xfrm>
            <a:off x="969264" y="2724912"/>
            <a:ext cx="3200400" cy="219456"/>
          </a:xfrm>
          <a:prstGeom prst="rect">
            <a:avLst/>
          </a:prstGeom>
          <a:noFill/>
          <a:ln/>
        </p:spPr>
        <p:txBody>
          <a:bodyPr wrap="square" rtlCol="0" anchor="ctr"/>
          <a:lstStyle/>
          <a:p>
            <a:pPr marL="0" indent="0">
              <a:buNone/>
            </a:pPr>
            <a:r>
              <a:rPr lang="en-US" sz="900" b="1" dirty="0">
                <a:solidFill>
                  <a:srgbClr val="58A6FF"/>
                </a:solidFill>
                <a:latin typeface="Segoe UI" pitchFamily="34" charset="0"/>
                <a:ea typeface="Segoe UI" pitchFamily="34" charset="-122"/>
                <a:cs typeface="Segoe UI" pitchFamily="34" charset="-120"/>
              </a:rPr>
              <a:t>Government Skilling</a:t>
            </a:r>
            <a:endParaRPr lang="en-US" sz="900" dirty="0"/>
          </a:p>
        </p:txBody>
      </p:sp>
      <p:sp>
        <p:nvSpPr>
          <p:cNvPr id="41" name="Text 39"/>
          <p:cNvSpPr/>
          <p:nvPr/>
        </p:nvSpPr>
        <p:spPr>
          <a:xfrm>
            <a:off x="713232" y="2990088"/>
            <a:ext cx="3566160" cy="502920"/>
          </a:xfrm>
          <a:prstGeom prst="rect">
            <a:avLst/>
          </a:prstGeom>
          <a:noFill/>
          <a:ln/>
        </p:spPr>
        <p:txBody>
          <a:bodyPr wrap="square" rtlCol="0" anchor="ctr"/>
          <a:lstStyle/>
          <a:p>
            <a:pPr marL="0" indent="0">
              <a:lnSpc>
                <a:spcPct val="115000"/>
              </a:lnSpc>
              <a:buNone/>
            </a:pPr>
            <a:r>
              <a:rPr lang="en-US" sz="750" dirty="0">
                <a:solidFill>
                  <a:srgbClr val="8B949E"/>
                </a:solidFill>
                <a:latin typeface="Segoe UI" pitchFamily="34" charset="0"/>
                <a:ea typeface="Segoe UI" pitchFamily="34" charset="-122"/>
                <a:cs typeface="Segoe UI" pitchFamily="34" charset="-120"/>
              </a:rPr>
              <a:t>National digital literacy initiatives and developer talent pipeline investment across the region.</a:t>
            </a:r>
            <a:endParaRPr lang="en-US" sz="750" dirty="0"/>
          </a:p>
        </p:txBody>
      </p:sp>
      <p:sp>
        <p:nvSpPr>
          <p:cNvPr id="42" name="Shape 40"/>
          <p:cNvSpPr/>
          <p:nvPr/>
        </p:nvSpPr>
        <p:spPr>
          <a:xfrm>
            <a:off x="4736592" y="2670048"/>
            <a:ext cx="3794760" cy="868680"/>
          </a:xfrm>
          <a:prstGeom prst="roundRect">
            <a:avLst>
              <a:gd name="adj" fmla="val 6316"/>
            </a:avLst>
          </a:prstGeom>
          <a:solidFill>
            <a:srgbClr val="0D1117"/>
          </a:solidFill>
          <a:ln/>
        </p:spPr>
        <p:txBody>
          <a:bodyPr/>
          <a:lstStyle/>
          <a:p>
            <a:endParaRPr lang="en-US"/>
          </a:p>
        </p:txBody>
      </p:sp>
      <p:sp>
        <p:nvSpPr>
          <p:cNvPr id="43" name="Text 41"/>
          <p:cNvSpPr/>
          <p:nvPr/>
        </p:nvSpPr>
        <p:spPr>
          <a:xfrm>
            <a:off x="4809744" y="2724912"/>
            <a:ext cx="256032" cy="219456"/>
          </a:xfrm>
          <a:prstGeom prst="rect">
            <a:avLst/>
          </a:prstGeom>
          <a:noFill/>
          <a:ln/>
        </p:spPr>
        <p:txBody>
          <a:bodyPr wrap="square" rtlCol="0" anchor="ctr"/>
          <a:lstStyle/>
          <a:p>
            <a:pPr marL="0" indent="0" algn="ctr">
              <a:buNone/>
            </a:pPr>
            <a:r>
              <a:rPr lang="en-US" sz="1200" dirty="0">
                <a:solidFill>
                  <a:srgbClr val="000000"/>
                </a:solidFill>
              </a:rPr>
              <a:t>🤖</a:t>
            </a:r>
            <a:endParaRPr lang="en-US" sz="1200" dirty="0"/>
          </a:p>
        </p:txBody>
      </p:sp>
      <p:sp>
        <p:nvSpPr>
          <p:cNvPr id="44" name="Text 42"/>
          <p:cNvSpPr/>
          <p:nvPr/>
        </p:nvSpPr>
        <p:spPr>
          <a:xfrm>
            <a:off x="5084064" y="2724912"/>
            <a:ext cx="3200400" cy="219456"/>
          </a:xfrm>
          <a:prstGeom prst="rect">
            <a:avLst/>
          </a:prstGeom>
          <a:noFill/>
          <a:ln/>
        </p:spPr>
        <p:txBody>
          <a:bodyPr wrap="square" rtlCol="0" anchor="ctr"/>
          <a:lstStyle/>
          <a:p>
            <a:pPr marL="0" indent="0">
              <a:buNone/>
            </a:pPr>
            <a:r>
              <a:rPr lang="en-US" sz="900" b="1" dirty="0">
                <a:solidFill>
                  <a:srgbClr val="58A6FF"/>
                </a:solidFill>
                <a:latin typeface="Segoe UI" pitchFamily="34" charset="0"/>
                <a:ea typeface="Segoe UI" pitchFamily="34" charset="-122"/>
                <a:cs typeface="Segoe UI" pitchFamily="34" charset="-120"/>
              </a:rPr>
              <a:t>Rapid AI Adoption</a:t>
            </a:r>
            <a:endParaRPr lang="en-US" sz="900" dirty="0"/>
          </a:p>
        </p:txBody>
      </p:sp>
      <p:sp>
        <p:nvSpPr>
          <p:cNvPr id="45" name="Text 43"/>
          <p:cNvSpPr/>
          <p:nvPr/>
        </p:nvSpPr>
        <p:spPr>
          <a:xfrm>
            <a:off x="4828032" y="2990088"/>
            <a:ext cx="3566160" cy="502920"/>
          </a:xfrm>
          <a:prstGeom prst="rect">
            <a:avLst/>
          </a:prstGeom>
          <a:noFill/>
          <a:ln/>
        </p:spPr>
        <p:txBody>
          <a:bodyPr wrap="square" rtlCol="0" anchor="ctr"/>
          <a:lstStyle/>
          <a:p>
            <a:pPr marL="0" indent="0">
              <a:lnSpc>
                <a:spcPct val="115000"/>
              </a:lnSpc>
              <a:buNone/>
            </a:pPr>
            <a:r>
              <a:rPr lang="en-US" sz="750" dirty="0">
                <a:solidFill>
                  <a:srgbClr val="8B949E"/>
                </a:solidFill>
                <a:latin typeface="Segoe UI" pitchFamily="34" charset="0"/>
                <a:ea typeface="Segoe UI" pitchFamily="34" charset="-122"/>
                <a:cs typeface="Segoe UI" pitchFamily="34" charset="-120"/>
              </a:rPr>
              <a:t>80% of new GitHub devs use Copilot in week one. AI projects surged +178% YoY.</a:t>
            </a:r>
            <a:endParaRPr lang="en-US" sz="750" dirty="0"/>
          </a:p>
        </p:txBody>
      </p:sp>
      <p:sp>
        <p:nvSpPr>
          <p:cNvPr id="46" name="Shape 44"/>
          <p:cNvSpPr/>
          <p:nvPr/>
        </p:nvSpPr>
        <p:spPr>
          <a:xfrm>
            <a:off x="621792" y="3675888"/>
            <a:ext cx="3794760" cy="868680"/>
          </a:xfrm>
          <a:prstGeom prst="roundRect">
            <a:avLst>
              <a:gd name="adj" fmla="val 6316"/>
            </a:avLst>
          </a:prstGeom>
          <a:solidFill>
            <a:srgbClr val="0D1117"/>
          </a:solidFill>
          <a:ln/>
        </p:spPr>
        <p:txBody>
          <a:bodyPr/>
          <a:lstStyle/>
          <a:p>
            <a:endParaRPr lang="en-US"/>
          </a:p>
        </p:txBody>
      </p:sp>
      <p:sp>
        <p:nvSpPr>
          <p:cNvPr id="47" name="Text 45"/>
          <p:cNvSpPr/>
          <p:nvPr/>
        </p:nvSpPr>
        <p:spPr>
          <a:xfrm>
            <a:off x="694944" y="3730752"/>
            <a:ext cx="256032" cy="219456"/>
          </a:xfrm>
          <a:prstGeom prst="rect">
            <a:avLst/>
          </a:prstGeom>
          <a:noFill/>
          <a:ln/>
        </p:spPr>
        <p:txBody>
          <a:bodyPr wrap="square" rtlCol="0" anchor="ctr"/>
          <a:lstStyle/>
          <a:p>
            <a:pPr marL="0" indent="0" algn="ctr">
              <a:buNone/>
            </a:pPr>
            <a:r>
              <a:rPr lang="en-US" sz="1200" dirty="0">
                <a:solidFill>
                  <a:srgbClr val="000000"/>
                </a:solidFill>
              </a:rPr>
              <a:t>🌐</a:t>
            </a:r>
            <a:endParaRPr lang="en-US" sz="1200" dirty="0"/>
          </a:p>
        </p:txBody>
      </p:sp>
      <p:sp>
        <p:nvSpPr>
          <p:cNvPr id="48" name="Text 46"/>
          <p:cNvSpPr/>
          <p:nvPr/>
        </p:nvSpPr>
        <p:spPr>
          <a:xfrm>
            <a:off x="969264" y="3730752"/>
            <a:ext cx="3200400" cy="219456"/>
          </a:xfrm>
          <a:prstGeom prst="rect">
            <a:avLst/>
          </a:prstGeom>
          <a:noFill/>
          <a:ln/>
        </p:spPr>
        <p:txBody>
          <a:bodyPr wrap="square" rtlCol="0" anchor="ctr"/>
          <a:lstStyle/>
          <a:p>
            <a:pPr marL="0" indent="0">
              <a:buNone/>
            </a:pPr>
            <a:r>
              <a:rPr lang="en-US" sz="900" b="1" dirty="0">
                <a:solidFill>
                  <a:srgbClr val="58A6FF"/>
                </a:solidFill>
                <a:latin typeface="Segoe UI" pitchFamily="34" charset="0"/>
                <a:ea typeface="Segoe UI" pitchFamily="34" charset="-122"/>
                <a:cs typeface="Segoe UI" pitchFamily="34" charset="-120"/>
              </a:rPr>
              <a:t>Internet &amp; Startup Growth</a:t>
            </a:r>
            <a:endParaRPr lang="en-US" sz="900" dirty="0"/>
          </a:p>
        </p:txBody>
      </p:sp>
      <p:sp>
        <p:nvSpPr>
          <p:cNvPr id="49" name="Text 47"/>
          <p:cNvSpPr/>
          <p:nvPr/>
        </p:nvSpPr>
        <p:spPr>
          <a:xfrm>
            <a:off x="713232" y="3995928"/>
            <a:ext cx="3566160" cy="502920"/>
          </a:xfrm>
          <a:prstGeom prst="rect">
            <a:avLst/>
          </a:prstGeom>
          <a:noFill/>
          <a:ln/>
        </p:spPr>
        <p:txBody>
          <a:bodyPr wrap="square" rtlCol="0" anchor="ctr"/>
          <a:lstStyle/>
          <a:p>
            <a:pPr marL="0" indent="0">
              <a:lnSpc>
                <a:spcPct val="115000"/>
              </a:lnSpc>
              <a:buNone/>
            </a:pPr>
            <a:r>
              <a:rPr lang="en-US" sz="750" dirty="0">
                <a:solidFill>
                  <a:srgbClr val="8B949E"/>
                </a:solidFill>
                <a:latin typeface="Segoe UI" pitchFamily="34" charset="0"/>
                <a:ea typeface="Segoe UI" pitchFamily="34" charset="-122"/>
                <a:cs typeface="Segoe UI" pitchFamily="34" charset="-120"/>
              </a:rPr>
              <a:t>Expanding broadband access fueling booming startup and fintech ecosystems.</a:t>
            </a:r>
            <a:endParaRPr lang="en-US" sz="750" dirty="0"/>
          </a:p>
        </p:txBody>
      </p:sp>
      <p:sp>
        <p:nvSpPr>
          <p:cNvPr id="50" name="Shape 48"/>
          <p:cNvSpPr/>
          <p:nvPr/>
        </p:nvSpPr>
        <p:spPr>
          <a:xfrm>
            <a:off x="4736592" y="3675888"/>
            <a:ext cx="3794760" cy="868680"/>
          </a:xfrm>
          <a:prstGeom prst="roundRect">
            <a:avLst>
              <a:gd name="adj" fmla="val 6316"/>
            </a:avLst>
          </a:prstGeom>
          <a:solidFill>
            <a:srgbClr val="0D1117"/>
          </a:solidFill>
          <a:ln/>
        </p:spPr>
        <p:txBody>
          <a:bodyPr/>
          <a:lstStyle/>
          <a:p>
            <a:endParaRPr lang="en-US"/>
          </a:p>
        </p:txBody>
      </p:sp>
      <p:sp>
        <p:nvSpPr>
          <p:cNvPr id="51" name="Text 49"/>
          <p:cNvSpPr/>
          <p:nvPr/>
        </p:nvSpPr>
        <p:spPr>
          <a:xfrm>
            <a:off x="4809744" y="3730752"/>
            <a:ext cx="256032" cy="219456"/>
          </a:xfrm>
          <a:prstGeom prst="rect">
            <a:avLst/>
          </a:prstGeom>
          <a:noFill/>
          <a:ln/>
        </p:spPr>
        <p:txBody>
          <a:bodyPr wrap="square" rtlCol="0" anchor="ctr"/>
          <a:lstStyle/>
          <a:p>
            <a:pPr marL="0" indent="0" algn="ctr">
              <a:buNone/>
            </a:pPr>
            <a:r>
              <a:rPr lang="en-US" sz="1200" dirty="0">
                <a:solidFill>
                  <a:srgbClr val="000000"/>
                </a:solidFill>
              </a:rPr>
              <a:t>📦</a:t>
            </a:r>
            <a:endParaRPr lang="en-US" sz="1200" dirty="0"/>
          </a:p>
        </p:txBody>
      </p:sp>
      <p:sp>
        <p:nvSpPr>
          <p:cNvPr id="52" name="Text 50"/>
          <p:cNvSpPr/>
          <p:nvPr/>
        </p:nvSpPr>
        <p:spPr>
          <a:xfrm>
            <a:off x="5084064" y="3730752"/>
            <a:ext cx="3200400" cy="219456"/>
          </a:xfrm>
          <a:prstGeom prst="rect">
            <a:avLst/>
          </a:prstGeom>
          <a:noFill/>
          <a:ln/>
        </p:spPr>
        <p:txBody>
          <a:bodyPr wrap="square" rtlCol="0" anchor="ctr"/>
          <a:lstStyle/>
          <a:p>
            <a:pPr marL="0" indent="0">
              <a:buNone/>
            </a:pPr>
            <a:r>
              <a:rPr lang="en-US" sz="900" b="1" dirty="0">
                <a:solidFill>
                  <a:srgbClr val="58A6FF"/>
                </a:solidFill>
                <a:latin typeface="Segoe UI" pitchFamily="34" charset="0"/>
                <a:ea typeface="Segoe UI" pitchFamily="34" charset="-122"/>
                <a:cs typeface="Segoe UI" pitchFamily="34" charset="-120"/>
              </a:rPr>
              <a:t>Open Source Momentum</a:t>
            </a:r>
            <a:endParaRPr lang="en-US" sz="900" dirty="0"/>
          </a:p>
        </p:txBody>
      </p:sp>
      <p:sp>
        <p:nvSpPr>
          <p:cNvPr id="53" name="Text 51"/>
          <p:cNvSpPr/>
          <p:nvPr/>
        </p:nvSpPr>
        <p:spPr>
          <a:xfrm>
            <a:off x="4828032" y="3995928"/>
            <a:ext cx="3566160" cy="502920"/>
          </a:xfrm>
          <a:prstGeom prst="rect">
            <a:avLst/>
          </a:prstGeom>
          <a:noFill/>
          <a:ln/>
        </p:spPr>
        <p:txBody>
          <a:bodyPr wrap="square" rtlCol="0" anchor="ctr"/>
          <a:lstStyle/>
          <a:p>
            <a:pPr marL="0" indent="0">
              <a:lnSpc>
                <a:spcPct val="115000"/>
              </a:lnSpc>
              <a:buNone/>
            </a:pPr>
            <a:r>
              <a:rPr lang="en-US" sz="750" dirty="0">
                <a:solidFill>
                  <a:srgbClr val="8B949E"/>
                </a:solidFill>
                <a:latin typeface="Segoe UI" pitchFamily="34" charset="0"/>
                <a:ea typeface="Segoe UI" pitchFamily="34" charset="-122"/>
                <a:cs typeface="Segoe UI" pitchFamily="34" charset="-120"/>
              </a:rPr>
              <a:t>Indonesia now a top-5 global OSS contributor. 255K new contributors in Mar '25.</a:t>
            </a:r>
            <a:endParaRPr lang="en-US" sz="750" dirty="0"/>
          </a:p>
        </p:txBody>
      </p:sp>
      <p:sp>
        <p:nvSpPr>
          <p:cNvPr id="54" name="Shape 52"/>
          <p:cNvSpPr/>
          <p:nvPr/>
        </p:nvSpPr>
        <p:spPr>
          <a:xfrm>
            <a:off x="457200" y="4887468"/>
            <a:ext cx="8229600" cy="3658"/>
          </a:xfrm>
          <a:prstGeom prst="rect">
            <a:avLst/>
          </a:prstGeom>
          <a:solidFill>
            <a:srgbClr val="21262D"/>
          </a:solidFill>
          <a:ln/>
        </p:spPr>
        <p:txBody>
          <a:bodyPr/>
          <a:lstStyle/>
          <a:p>
            <a:endParaRPr lang="en-US"/>
          </a:p>
        </p:txBody>
      </p:sp>
      <p:sp>
        <p:nvSpPr>
          <p:cNvPr id="55" name="Text 53"/>
          <p:cNvSpPr/>
          <p:nvPr/>
        </p:nvSpPr>
        <p:spPr>
          <a:xfrm>
            <a:off x="457200" y="4924044"/>
            <a:ext cx="3657600" cy="146304"/>
          </a:xfrm>
          <a:prstGeom prst="rect">
            <a:avLst/>
          </a:prstGeom>
          <a:noFill/>
          <a:ln/>
        </p:spPr>
        <p:txBody>
          <a:bodyPr wrap="square" rtlCol="0" anchor="ctr"/>
          <a:lstStyle/>
          <a:p>
            <a:pPr marL="0" indent="0">
              <a:buNone/>
            </a:pPr>
            <a:r>
              <a:rPr lang="en-US" sz="700" dirty="0">
                <a:solidFill>
                  <a:srgbClr val="484F58"/>
                </a:solidFill>
                <a:latin typeface="Segoe UI" pitchFamily="34" charset="0"/>
                <a:ea typeface="Segoe UI" pitchFamily="34" charset="-122"/>
                <a:cs typeface="Segoe UI" pitchFamily="34" charset="-120"/>
              </a:rPr>
              <a:t>Source: GitHub Octoverse 2025</a:t>
            </a:r>
            <a:endParaRPr lang="en-US" sz="700" dirty="0"/>
          </a:p>
        </p:txBody>
      </p:sp>
      <p:sp>
        <p:nvSpPr>
          <p:cNvPr id="56" name="Text 54"/>
          <p:cNvSpPr/>
          <p:nvPr/>
        </p:nvSpPr>
        <p:spPr>
          <a:xfrm>
            <a:off x="5029200" y="4924044"/>
            <a:ext cx="3657600" cy="146304"/>
          </a:xfrm>
          <a:prstGeom prst="rect">
            <a:avLst/>
          </a:prstGeom>
          <a:noFill/>
          <a:ln/>
        </p:spPr>
        <p:txBody>
          <a:bodyPr wrap="square" rtlCol="0" anchor="ctr"/>
          <a:lstStyle/>
          <a:p>
            <a:pPr marL="0" indent="0" algn="r">
              <a:buNone/>
            </a:pPr>
            <a:r>
              <a:rPr lang="en-US" sz="700" dirty="0">
                <a:solidFill>
                  <a:srgbClr val="484F58"/>
                </a:solidFill>
                <a:latin typeface="Segoe UI" pitchFamily="34" charset="0"/>
                <a:ea typeface="Segoe UI" pitchFamily="34" charset="-122"/>
                <a:cs typeface="Segoe UI" pitchFamily="34" charset="-120"/>
              </a:rPr>
              <a:t>octoverse.github.com</a:t>
            </a:r>
            <a:endParaRPr lang="en-US" sz="700" dirty="0"/>
          </a:p>
        </p:txBody>
      </p:sp>
    </p:spTree>
    <p:extLst>
      <p:ext uri="{BB962C8B-B14F-4D97-AF65-F5344CB8AC3E}">
        <p14:creationId xmlns:p14="http://schemas.microsoft.com/office/powerpoint/2010/main" val="5370879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01411"/>
          </a:solidFill>
          <a:ln/>
        </p:spPr>
        <p:txBody>
          <a:bodyPr/>
          <a:lstStyle/>
          <a:p>
            <a:endParaRPr lang="en-US"/>
          </a:p>
        </p:txBody>
      </p:sp>
      <p:sp>
        <p:nvSpPr>
          <p:cNvPr id="3" name="Shape 1"/>
          <p:cNvSpPr/>
          <p:nvPr/>
        </p:nvSpPr>
        <p:spPr>
          <a:xfrm>
            <a:off x="0" y="0"/>
            <a:ext cx="9144000" cy="36576"/>
          </a:xfrm>
          <a:prstGeom prst="rect">
            <a:avLst/>
          </a:prstGeom>
          <a:solidFill>
            <a:srgbClr val="0FBF3E"/>
          </a:solidFill>
          <a:ln/>
        </p:spPr>
        <p:txBody>
          <a:bodyPr/>
          <a:lstStyle/>
          <a:p>
            <a:endParaRPr lang="en-US"/>
          </a:p>
        </p:txBody>
      </p:sp>
      <p:sp>
        <p:nvSpPr>
          <p:cNvPr id="4" name="Text 2"/>
          <p:cNvSpPr/>
          <p:nvPr/>
        </p:nvSpPr>
        <p:spPr>
          <a:xfrm>
            <a:off x="457200" y="109728"/>
            <a:ext cx="5486400" cy="137160"/>
          </a:xfrm>
          <a:prstGeom prst="rect">
            <a:avLst/>
          </a:prstGeom>
          <a:noFill/>
          <a:ln/>
        </p:spPr>
        <p:txBody>
          <a:bodyPr wrap="square" rtlCol="0" anchor="ctr"/>
          <a:lstStyle/>
          <a:p>
            <a:pPr marL="0" indent="0">
              <a:buNone/>
            </a:pPr>
            <a:r>
              <a:rPr lang="en-US" sz="700" b="1" dirty="0">
                <a:solidFill>
                  <a:srgbClr val="0FBF3E"/>
                </a:solidFill>
                <a:latin typeface="Mona Sans" pitchFamily="34" charset="0"/>
                <a:ea typeface="Mona Sans" pitchFamily="34" charset="-122"/>
                <a:cs typeface="Mona Sans" pitchFamily="34" charset="-120"/>
              </a:rPr>
              <a:t>GITHUB CUSTOMER STORIES  ·  SOUTHEAST ASIA</a:t>
            </a:r>
            <a:endParaRPr lang="en-US" sz="700" dirty="0"/>
          </a:p>
        </p:txBody>
      </p:sp>
      <p:sp>
        <p:nvSpPr>
          <p:cNvPr id="5" name="Text 3"/>
          <p:cNvSpPr/>
          <p:nvPr/>
        </p:nvSpPr>
        <p:spPr>
          <a:xfrm>
            <a:off x="457200" y="237744"/>
            <a:ext cx="8229600" cy="292608"/>
          </a:xfrm>
          <a:prstGeom prst="rect">
            <a:avLst/>
          </a:prstGeom>
          <a:noFill/>
          <a:ln/>
        </p:spPr>
        <p:txBody>
          <a:bodyPr wrap="square" rtlCol="0" anchor="ctr"/>
          <a:lstStyle/>
          <a:p>
            <a:pPr marL="0" indent="0">
              <a:buNone/>
            </a:pPr>
            <a:r>
              <a:rPr lang="en-US" sz="2000" b="1" dirty="0">
                <a:solidFill>
                  <a:srgbClr val="F2F5F3"/>
                </a:solidFill>
                <a:latin typeface="Mona Sans" pitchFamily="34" charset="0"/>
                <a:ea typeface="Mona Sans" pitchFamily="34" charset="-122"/>
                <a:cs typeface="Mona Sans" pitchFamily="34" charset="-120"/>
              </a:rPr>
              <a:t>Building at Scale in Indonesia</a:t>
            </a:r>
            <a:endParaRPr lang="en-US" sz="2000" dirty="0"/>
          </a:p>
        </p:txBody>
      </p:sp>
      <p:sp>
        <p:nvSpPr>
          <p:cNvPr id="6" name="Text 4"/>
          <p:cNvSpPr/>
          <p:nvPr/>
        </p:nvSpPr>
        <p:spPr>
          <a:xfrm>
            <a:off x="457200" y="521208"/>
            <a:ext cx="7772400" cy="146304"/>
          </a:xfrm>
          <a:prstGeom prst="rect">
            <a:avLst/>
          </a:prstGeom>
          <a:noFill/>
          <a:ln/>
        </p:spPr>
        <p:txBody>
          <a:bodyPr wrap="square" rtlCol="0" anchor="ctr"/>
          <a:lstStyle/>
          <a:p>
            <a:pPr marL="0" indent="0">
              <a:buNone/>
            </a:pPr>
            <a:r>
              <a:rPr lang="en-US" sz="850" dirty="0">
                <a:solidFill>
                  <a:srgbClr val="B6BFB8"/>
                </a:solidFill>
                <a:latin typeface="Mona Sans" pitchFamily="34" charset="0"/>
                <a:ea typeface="Mona Sans" pitchFamily="34" charset="-122"/>
                <a:cs typeface="Mona Sans" pitchFamily="34" charset="-120"/>
              </a:rPr>
              <a:t>How Tokopedia scaled from 300 to 1,000+ engineers — and transformed their entire software architecture with GitHub</a:t>
            </a:r>
            <a:endParaRPr lang="en-US" sz="850" dirty="0"/>
          </a:p>
        </p:txBody>
      </p:sp>
      <p:sp>
        <p:nvSpPr>
          <p:cNvPr id="7" name="Shape 5"/>
          <p:cNvSpPr/>
          <p:nvPr/>
        </p:nvSpPr>
        <p:spPr>
          <a:xfrm>
            <a:off x="457200" y="713232"/>
            <a:ext cx="8229600" cy="4572"/>
          </a:xfrm>
          <a:prstGeom prst="rect">
            <a:avLst/>
          </a:prstGeom>
          <a:solidFill>
            <a:srgbClr val="3D4540"/>
          </a:solidFill>
          <a:ln/>
        </p:spPr>
        <p:txBody>
          <a:bodyPr/>
          <a:lstStyle/>
          <a:p>
            <a:endParaRPr lang="en-US"/>
          </a:p>
        </p:txBody>
      </p:sp>
      <p:sp>
        <p:nvSpPr>
          <p:cNvPr id="8" name="Shape 6"/>
          <p:cNvSpPr/>
          <p:nvPr/>
        </p:nvSpPr>
        <p:spPr>
          <a:xfrm>
            <a:off x="457200" y="822960"/>
            <a:ext cx="3108960" cy="3794760"/>
          </a:xfrm>
          <a:prstGeom prst="roundRect">
            <a:avLst>
              <a:gd name="adj" fmla="val 2353"/>
            </a:avLst>
          </a:prstGeom>
          <a:solidFill>
            <a:srgbClr val="232925"/>
          </a:solidFill>
          <a:ln w="12700">
            <a:solidFill>
              <a:srgbClr val="3D4540"/>
            </a:solidFill>
            <a:prstDash val="solid"/>
          </a:ln>
        </p:spPr>
        <p:txBody>
          <a:bodyPr/>
          <a:lstStyle/>
          <a:p>
            <a:endParaRPr lang="en-US"/>
          </a:p>
        </p:txBody>
      </p:sp>
      <p:sp>
        <p:nvSpPr>
          <p:cNvPr id="9" name="Shape 7"/>
          <p:cNvSpPr/>
          <p:nvPr/>
        </p:nvSpPr>
        <p:spPr>
          <a:xfrm>
            <a:off x="621792" y="941832"/>
            <a:ext cx="640080" cy="182880"/>
          </a:xfrm>
          <a:prstGeom prst="roundRect">
            <a:avLst>
              <a:gd name="adj" fmla="val 20000"/>
            </a:avLst>
          </a:prstGeom>
          <a:solidFill>
            <a:srgbClr val="0A241B"/>
          </a:solidFill>
          <a:ln/>
        </p:spPr>
        <p:txBody>
          <a:bodyPr/>
          <a:lstStyle/>
          <a:p>
            <a:endParaRPr lang="en-US"/>
          </a:p>
        </p:txBody>
      </p:sp>
      <p:sp>
        <p:nvSpPr>
          <p:cNvPr id="10" name="Text 8"/>
          <p:cNvSpPr/>
          <p:nvPr/>
        </p:nvSpPr>
        <p:spPr>
          <a:xfrm>
            <a:off x="621792" y="941832"/>
            <a:ext cx="640080" cy="182880"/>
          </a:xfrm>
          <a:prstGeom prst="rect">
            <a:avLst/>
          </a:prstGeom>
          <a:noFill/>
          <a:ln/>
        </p:spPr>
        <p:txBody>
          <a:bodyPr wrap="square" rtlCol="0" anchor="ctr"/>
          <a:lstStyle/>
          <a:p>
            <a:pPr marL="0" indent="0" algn="ctr">
              <a:buNone/>
            </a:pPr>
            <a:r>
              <a:rPr lang="en-US" sz="600" b="1" dirty="0">
                <a:solidFill>
                  <a:srgbClr val="0FBF3E"/>
                </a:solidFill>
                <a:latin typeface="Mona Sans" pitchFamily="34" charset="0"/>
                <a:ea typeface="Mona Sans" pitchFamily="34" charset="-122"/>
                <a:cs typeface="Mona Sans" pitchFamily="34" charset="-120"/>
              </a:rPr>
              <a:t>FEATURED</a:t>
            </a:r>
            <a:endParaRPr lang="en-US" sz="600" dirty="0"/>
          </a:p>
        </p:txBody>
      </p:sp>
      <p:sp>
        <p:nvSpPr>
          <p:cNvPr id="11" name="Text 9"/>
          <p:cNvSpPr/>
          <p:nvPr/>
        </p:nvSpPr>
        <p:spPr>
          <a:xfrm>
            <a:off x="621792" y="1170432"/>
            <a:ext cx="2743200" cy="237744"/>
          </a:xfrm>
          <a:prstGeom prst="rect">
            <a:avLst/>
          </a:prstGeom>
          <a:noFill/>
          <a:ln/>
        </p:spPr>
        <p:txBody>
          <a:bodyPr wrap="square" rtlCol="0" anchor="ctr"/>
          <a:lstStyle/>
          <a:p>
            <a:pPr marL="0" indent="0">
              <a:buNone/>
            </a:pPr>
            <a:r>
              <a:rPr lang="en-US" sz="1500" b="1" dirty="0">
                <a:solidFill>
                  <a:srgbClr val="F2F5F3"/>
                </a:solidFill>
                <a:latin typeface="Mona Sans" pitchFamily="34" charset="0"/>
                <a:ea typeface="Mona Sans" pitchFamily="34" charset="-122"/>
                <a:cs typeface="Mona Sans" pitchFamily="34" charset="-120"/>
              </a:rPr>
              <a:t>Tokopedia</a:t>
            </a:r>
            <a:endParaRPr lang="en-US" sz="1500" dirty="0"/>
          </a:p>
        </p:txBody>
      </p:sp>
      <p:sp>
        <p:nvSpPr>
          <p:cNvPr id="12" name="Text 10"/>
          <p:cNvSpPr/>
          <p:nvPr/>
        </p:nvSpPr>
        <p:spPr>
          <a:xfrm>
            <a:off x="621792" y="1389888"/>
            <a:ext cx="2743200" cy="128016"/>
          </a:xfrm>
          <a:prstGeom prst="rect">
            <a:avLst/>
          </a:prstGeom>
          <a:noFill/>
          <a:ln/>
        </p:spPr>
        <p:txBody>
          <a:bodyPr wrap="square" rtlCol="0" anchor="ctr"/>
          <a:lstStyle/>
          <a:p>
            <a:pPr marL="0" indent="0">
              <a:buNone/>
            </a:pPr>
            <a:r>
              <a:rPr lang="en-US" sz="750" i="1" dirty="0">
                <a:solidFill>
                  <a:srgbClr val="B6BFB8"/>
                </a:solidFill>
                <a:latin typeface="Mona Sans" pitchFamily="34" charset="0"/>
                <a:ea typeface="Mona Sans" pitchFamily="34" charset="-122"/>
                <a:cs typeface="Mona Sans" pitchFamily="34" charset="-120"/>
              </a:rPr>
              <a:t>Indonesia's Leading E-Commerce Platform</a:t>
            </a:r>
            <a:endParaRPr lang="en-US" sz="750" dirty="0"/>
          </a:p>
        </p:txBody>
      </p:sp>
      <p:sp>
        <p:nvSpPr>
          <p:cNvPr id="13" name="Shape 11"/>
          <p:cNvSpPr/>
          <p:nvPr/>
        </p:nvSpPr>
        <p:spPr>
          <a:xfrm>
            <a:off x="621792" y="1581912"/>
            <a:ext cx="2743200" cy="3658"/>
          </a:xfrm>
          <a:prstGeom prst="rect">
            <a:avLst/>
          </a:prstGeom>
          <a:solidFill>
            <a:srgbClr val="3D4540"/>
          </a:solidFill>
          <a:ln/>
        </p:spPr>
        <p:txBody>
          <a:bodyPr/>
          <a:lstStyle/>
          <a:p>
            <a:endParaRPr lang="en-US"/>
          </a:p>
        </p:txBody>
      </p:sp>
      <p:sp>
        <p:nvSpPr>
          <p:cNvPr id="14" name="Text 12"/>
          <p:cNvSpPr/>
          <p:nvPr/>
        </p:nvSpPr>
        <p:spPr>
          <a:xfrm>
            <a:off x="621792" y="1673352"/>
            <a:ext cx="960120" cy="256032"/>
          </a:xfrm>
          <a:prstGeom prst="rect">
            <a:avLst/>
          </a:prstGeom>
          <a:noFill/>
          <a:ln/>
        </p:spPr>
        <p:txBody>
          <a:bodyPr wrap="square" rtlCol="0" anchor="ctr"/>
          <a:lstStyle/>
          <a:p>
            <a:pPr marL="0" indent="0">
              <a:buNone/>
            </a:pPr>
            <a:r>
              <a:rPr lang="en-US" sz="1400" b="1" dirty="0">
                <a:solidFill>
                  <a:srgbClr val="0FBF3E"/>
                </a:solidFill>
                <a:latin typeface="Mona Sans" pitchFamily="34" charset="0"/>
                <a:ea typeface="Mona Sans" pitchFamily="34" charset="-122"/>
                <a:cs typeface="Mona Sans" pitchFamily="34" charset="-120"/>
              </a:rPr>
              <a:t>7.6M+</a:t>
            </a:r>
            <a:endParaRPr lang="en-US" sz="1400" dirty="0"/>
          </a:p>
        </p:txBody>
      </p:sp>
      <p:sp>
        <p:nvSpPr>
          <p:cNvPr id="15" name="Text 13"/>
          <p:cNvSpPr/>
          <p:nvPr/>
        </p:nvSpPr>
        <p:spPr>
          <a:xfrm>
            <a:off x="1581912" y="1673352"/>
            <a:ext cx="1737360" cy="256032"/>
          </a:xfrm>
          <a:prstGeom prst="rect">
            <a:avLst/>
          </a:prstGeom>
          <a:noFill/>
          <a:ln/>
        </p:spPr>
        <p:txBody>
          <a:bodyPr wrap="square" rtlCol="0" anchor="ctr"/>
          <a:lstStyle/>
          <a:p>
            <a:pPr marL="0" indent="0">
              <a:buNone/>
            </a:pPr>
            <a:r>
              <a:rPr lang="en-US" sz="750" dirty="0">
                <a:solidFill>
                  <a:srgbClr val="B6BFB8"/>
                </a:solidFill>
                <a:latin typeface="Mona Sans" pitchFamily="34" charset="0"/>
                <a:ea typeface="Mona Sans" pitchFamily="34" charset="-122"/>
                <a:cs typeface="Mona Sans" pitchFamily="34" charset="-120"/>
              </a:rPr>
              <a:t>merchants on platform</a:t>
            </a:r>
            <a:endParaRPr lang="en-US" sz="750" dirty="0"/>
          </a:p>
        </p:txBody>
      </p:sp>
      <p:sp>
        <p:nvSpPr>
          <p:cNvPr id="16" name="Shape 14"/>
          <p:cNvSpPr/>
          <p:nvPr/>
        </p:nvSpPr>
        <p:spPr>
          <a:xfrm>
            <a:off x="621792" y="1975104"/>
            <a:ext cx="2743200" cy="2743"/>
          </a:xfrm>
          <a:prstGeom prst="rect">
            <a:avLst/>
          </a:prstGeom>
          <a:solidFill>
            <a:srgbClr val="3D4540"/>
          </a:solidFill>
          <a:ln/>
        </p:spPr>
        <p:txBody>
          <a:bodyPr/>
          <a:lstStyle/>
          <a:p>
            <a:endParaRPr lang="en-US"/>
          </a:p>
        </p:txBody>
      </p:sp>
      <p:sp>
        <p:nvSpPr>
          <p:cNvPr id="17" name="Text 15"/>
          <p:cNvSpPr/>
          <p:nvPr/>
        </p:nvSpPr>
        <p:spPr>
          <a:xfrm>
            <a:off x="621792" y="2039112"/>
            <a:ext cx="960120" cy="256032"/>
          </a:xfrm>
          <a:prstGeom prst="rect">
            <a:avLst/>
          </a:prstGeom>
          <a:noFill/>
          <a:ln/>
        </p:spPr>
        <p:txBody>
          <a:bodyPr wrap="square" rtlCol="0" anchor="ctr"/>
          <a:lstStyle/>
          <a:p>
            <a:pPr marL="0" indent="0">
              <a:buNone/>
            </a:pPr>
            <a:r>
              <a:rPr lang="en-US" sz="1400" b="1" dirty="0">
                <a:solidFill>
                  <a:srgbClr val="0FBF3E"/>
                </a:solidFill>
                <a:latin typeface="Mona Sans" pitchFamily="34" charset="0"/>
                <a:ea typeface="Mona Sans" pitchFamily="34" charset="-122"/>
                <a:cs typeface="Mona Sans" pitchFamily="34" charset="-120"/>
              </a:rPr>
              <a:t>86.5%</a:t>
            </a:r>
            <a:endParaRPr lang="en-US" sz="1400" dirty="0"/>
          </a:p>
        </p:txBody>
      </p:sp>
      <p:sp>
        <p:nvSpPr>
          <p:cNvPr id="18" name="Text 16"/>
          <p:cNvSpPr/>
          <p:nvPr/>
        </p:nvSpPr>
        <p:spPr>
          <a:xfrm>
            <a:off x="1581912" y="2039112"/>
            <a:ext cx="1737360" cy="256032"/>
          </a:xfrm>
          <a:prstGeom prst="rect">
            <a:avLst/>
          </a:prstGeom>
          <a:noFill/>
          <a:ln/>
        </p:spPr>
        <p:txBody>
          <a:bodyPr wrap="square" rtlCol="0" anchor="ctr"/>
          <a:lstStyle/>
          <a:p>
            <a:pPr marL="0" indent="0">
              <a:buNone/>
            </a:pPr>
            <a:r>
              <a:rPr lang="en-US" sz="750" dirty="0">
                <a:solidFill>
                  <a:srgbClr val="B6BFB8"/>
                </a:solidFill>
                <a:latin typeface="Mona Sans" pitchFamily="34" charset="0"/>
                <a:ea typeface="Mona Sans" pitchFamily="34" charset="-122"/>
                <a:cs typeface="Mona Sans" pitchFamily="34" charset="-120"/>
              </a:rPr>
              <a:t>first-time entrepreneurs</a:t>
            </a:r>
            <a:endParaRPr lang="en-US" sz="750" dirty="0"/>
          </a:p>
        </p:txBody>
      </p:sp>
      <p:sp>
        <p:nvSpPr>
          <p:cNvPr id="19" name="Shape 17"/>
          <p:cNvSpPr/>
          <p:nvPr/>
        </p:nvSpPr>
        <p:spPr>
          <a:xfrm>
            <a:off x="621792" y="2340864"/>
            <a:ext cx="2743200" cy="2743"/>
          </a:xfrm>
          <a:prstGeom prst="rect">
            <a:avLst/>
          </a:prstGeom>
          <a:solidFill>
            <a:srgbClr val="3D4540"/>
          </a:solidFill>
          <a:ln/>
        </p:spPr>
        <p:txBody>
          <a:bodyPr/>
          <a:lstStyle/>
          <a:p>
            <a:endParaRPr lang="en-US"/>
          </a:p>
        </p:txBody>
      </p:sp>
      <p:sp>
        <p:nvSpPr>
          <p:cNvPr id="20" name="Text 18"/>
          <p:cNvSpPr/>
          <p:nvPr/>
        </p:nvSpPr>
        <p:spPr>
          <a:xfrm>
            <a:off x="621792" y="2404872"/>
            <a:ext cx="960120" cy="256032"/>
          </a:xfrm>
          <a:prstGeom prst="rect">
            <a:avLst/>
          </a:prstGeom>
          <a:noFill/>
          <a:ln/>
        </p:spPr>
        <p:txBody>
          <a:bodyPr wrap="square" rtlCol="0" anchor="ctr"/>
          <a:lstStyle/>
          <a:p>
            <a:pPr marL="0" indent="0">
              <a:buNone/>
            </a:pPr>
            <a:r>
              <a:rPr lang="en-US" sz="1400" b="1" dirty="0">
                <a:solidFill>
                  <a:srgbClr val="0FBF3E"/>
                </a:solidFill>
                <a:latin typeface="Mona Sans" pitchFamily="34" charset="0"/>
                <a:ea typeface="Mona Sans" pitchFamily="34" charset="-122"/>
                <a:cs typeface="Mona Sans" pitchFamily="34" charset="-120"/>
              </a:rPr>
              <a:t>1,000+</a:t>
            </a:r>
            <a:endParaRPr lang="en-US" sz="1400" dirty="0"/>
          </a:p>
        </p:txBody>
      </p:sp>
      <p:sp>
        <p:nvSpPr>
          <p:cNvPr id="21" name="Text 19"/>
          <p:cNvSpPr/>
          <p:nvPr/>
        </p:nvSpPr>
        <p:spPr>
          <a:xfrm>
            <a:off x="1581912" y="2404872"/>
            <a:ext cx="1737360" cy="256032"/>
          </a:xfrm>
          <a:prstGeom prst="rect">
            <a:avLst/>
          </a:prstGeom>
          <a:noFill/>
          <a:ln/>
        </p:spPr>
        <p:txBody>
          <a:bodyPr wrap="square" rtlCol="0" anchor="ctr"/>
          <a:lstStyle/>
          <a:p>
            <a:pPr marL="0" indent="0">
              <a:buNone/>
            </a:pPr>
            <a:r>
              <a:rPr lang="en-US" sz="750" dirty="0">
                <a:solidFill>
                  <a:srgbClr val="B6BFB8"/>
                </a:solidFill>
                <a:latin typeface="Mona Sans" pitchFamily="34" charset="0"/>
                <a:ea typeface="Mona Sans" pitchFamily="34" charset="-122"/>
                <a:cs typeface="Mona Sans" pitchFamily="34" charset="-120"/>
              </a:rPr>
              <a:t>engineers (from 300)</a:t>
            </a:r>
            <a:endParaRPr lang="en-US" sz="750" dirty="0"/>
          </a:p>
        </p:txBody>
      </p:sp>
      <p:sp>
        <p:nvSpPr>
          <p:cNvPr id="22" name="Shape 20"/>
          <p:cNvSpPr/>
          <p:nvPr/>
        </p:nvSpPr>
        <p:spPr>
          <a:xfrm>
            <a:off x="621792" y="2706624"/>
            <a:ext cx="2743200" cy="2743"/>
          </a:xfrm>
          <a:prstGeom prst="rect">
            <a:avLst/>
          </a:prstGeom>
          <a:solidFill>
            <a:srgbClr val="3D4540"/>
          </a:solidFill>
          <a:ln/>
        </p:spPr>
        <p:txBody>
          <a:bodyPr/>
          <a:lstStyle/>
          <a:p>
            <a:endParaRPr lang="en-US"/>
          </a:p>
        </p:txBody>
      </p:sp>
      <p:sp>
        <p:nvSpPr>
          <p:cNvPr id="23" name="Text 21"/>
          <p:cNvSpPr/>
          <p:nvPr/>
        </p:nvSpPr>
        <p:spPr>
          <a:xfrm>
            <a:off x="621792" y="2770632"/>
            <a:ext cx="960120" cy="256032"/>
          </a:xfrm>
          <a:prstGeom prst="rect">
            <a:avLst/>
          </a:prstGeom>
          <a:noFill/>
          <a:ln/>
        </p:spPr>
        <p:txBody>
          <a:bodyPr wrap="square" rtlCol="0" anchor="ctr"/>
          <a:lstStyle/>
          <a:p>
            <a:pPr marL="0" indent="0">
              <a:buNone/>
            </a:pPr>
            <a:r>
              <a:rPr lang="en-US" sz="1400" b="1" dirty="0">
                <a:solidFill>
                  <a:srgbClr val="0FBF3E"/>
                </a:solidFill>
                <a:latin typeface="Mona Sans" pitchFamily="34" charset="0"/>
                <a:ea typeface="Mona Sans" pitchFamily="34" charset="-122"/>
                <a:cs typeface="Mona Sans" pitchFamily="34" charset="-120"/>
              </a:rPr>
              <a:t>200–300</a:t>
            </a:r>
            <a:endParaRPr lang="en-US" sz="1400" dirty="0"/>
          </a:p>
        </p:txBody>
      </p:sp>
      <p:sp>
        <p:nvSpPr>
          <p:cNvPr id="24" name="Text 22"/>
          <p:cNvSpPr/>
          <p:nvPr/>
        </p:nvSpPr>
        <p:spPr>
          <a:xfrm>
            <a:off x="1581912" y="2770632"/>
            <a:ext cx="1737360" cy="256032"/>
          </a:xfrm>
          <a:prstGeom prst="rect">
            <a:avLst/>
          </a:prstGeom>
          <a:noFill/>
          <a:ln/>
        </p:spPr>
        <p:txBody>
          <a:bodyPr wrap="square" rtlCol="0" anchor="ctr"/>
          <a:lstStyle/>
          <a:p>
            <a:pPr marL="0" indent="0">
              <a:buNone/>
            </a:pPr>
            <a:r>
              <a:rPr lang="en-US" sz="750" dirty="0">
                <a:solidFill>
                  <a:srgbClr val="B6BFB8"/>
                </a:solidFill>
                <a:latin typeface="Mona Sans" pitchFamily="34" charset="0"/>
                <a:ea typeface="Mona Sans" pitchFamily="34" charset="-122"/>
                <a:cs typeface="Mona Sans" pitchFamily="34" charset="-120"/>
              </a:rPr>
              <a:t>daily pushes to production</a:t>
            </a:r>
            <a:endParaRPr lang="en-US" sz="750" dirty="0"/>
          </a:p>
        </p:txBody>
      </p:sp>
      <p:sp>
        <p:nvSpPr>
          <p:cNvPr id="25" name="Shape 23"/>
          <p:cNvSpPr/>
          <p:nvPr/>
        </p:nvSpPr>
        <p:spPr>
          <a:xfrm>
            <a:off x="621792" y="3072384"/>
            <a:ext cx="2743200" cy="2743"/>
          </a:xfrm>
          <a:prstGeom prst="rect">
            <a:avLst/>
          </a:prstGeom>
          <a:solidFill>
            <a:srgbClr val="3D4540"/>
          </a:solidFill>
          <a:ln/>
        </p:spPr>
        <p:txBody>
          <a:bodyPr/>
          <a:lstStyle/>
          <a:p>
            <a:endParaRPr lang="en-US"/>
          </a:p>
        </p:txBody>
      </p:sp>
      <p:sp>
        <p:nvSpPr>
          <p:cNvPr id="26" name="Text 24"/>
          <p:cNvSpPr/>
          <p:nvPr/>
        </p:nvSpPr>
        <p:spPr>
          <a:xfrm>
            <a:off x="621792" y="3136392"/>
            <a:ext cx="960120" cy="256032"/>
          </a:xfrm>
          <a:prstGeom prst="rect">
            <a:avLst/>
          </a:prstGeom>
          <a:noFill/>
          <a:ln/>
        </p:spPr>
        <p:txBody>
          <a:bodyPr wrap="square" rtlCol="0" anchor="ctr"/>
          <a:lstStyle/>
          <a:p>
            <a:pPr marL="0" indent="0">
              <a:buNone/>
            </a:pPr>
            <a:r>
              <a:rPr lang="en-US" sz="1400" b="1" dirty="0">
                <a:solidFill>
                  <a:srgbClr val="0FBF3E"/>
                </a:solidFill>
                <a:latin typeface="Mona Sans" pitchFamily="34" charset="0"/>
                <a:ea typeface="Mona Sans" pitchFamily="34" charset="-122"/>
                <a:cs typeface="Mona Sans" pitchFamily="34" charset="-120"/>
              </a:rPr>
              <a:t>80%</a:t>
            </a:r>
            <a:endParaRPr lang="en-US" sz="1400" dirty="0"/>
          </a:p>
        </p:txBody>
      </p:sp>
      <p:sp>
        <p:nvSpPr>
          <p:cNvPr id="27" name="Text 25"/>
          <p:cNvSpPr/>
          <p:nvPr/>
        </p:nvSpPr>
        <p:spPr>
          <a:xfrm>
            <a:off x="1581912" y="3136392"/>
            <a:ext cx="1737360" cy="256032"/>
          </a:xfrm>
          <a:prstGeom prst="rect">
            <a:avLst/>
          </a:prstGeom>
          <a:noFill/>
          <a:ln/>
        </p:spPr>
        <p:txBody>
          <a:bodyPr wrap="square" rtlCol="0" anchor="ctr"/>
          <a:lstStyle/>
          <a:p>
            <a:pPr marL="0" indent="0">
              <a:buNone/>
            </a:pPr>
            <a:r>
              <a:rPr lang="en-US" sz="750" dirty="0">
                <a:solidFill>
                  <a:srgbClr val="B6BFB8"/>
                </a:solidFill>
                <a:latin typeface="Mona Sans" pitchFamily="34" charset="0"/>
                <a:ea typeface="Mona Sans" pitchFamily="34" charset="-122"/>
                <a:cs typeface="Mona Sans" pitchFamily="34" charset="-120"/>
              </a:rPr>
              <a:t>workflow automation</a:t>
            </a:r>
            <a:endParaRPr lang="en-US" sz="750" dirty="0"/>
          </a:p>
        </p:txBody>
      </p:sp>
      <p:sp>
        <p:nvSpPr>
          <p:cNvPr id="28" name="Shape 26"/>
          <p:cNvSpPr/>
          <p:nvPr/>
        </p:nvSpPr>
        <p:spPr>
          <a:xfrm>
            <a:off x="621792" y="3611880"/>
            <a:ext cx="822960" cy="164592"/>
          </a:xfrm>
          <a:prstGeom prst="roundRect">
            <a:avLst>
              <a:gd name="adj" fmla="val 22222"/>
            </a:avLst>
          </a:prstGeom>
          <a:solidFill>
            <a:srgbClr val="160048"/>
          </a:solidFill>
          <a:ln/>
        </p:spPr>
        <p:txBody>
          <a:bodyPr/>
          <a:lstStyle/>
          <a:p>
            <a:endParaRPr lang="en-US"/>
          </a:p>
        </p:txBody>
      </p:sp>
      <p:sp>
        <p:nvSpPr>
          <p:cNvPr id="29" name="Text 27"/>
          <p:cNvSpPr/>
          <p:nvPr/>
        </p:nvSpPr>
        <p:spPr>
          <a:xfrm>
            <a:off x="621792" y="3611880"/>
            <a:ext cx="822960" cy="164592"/>
          </a:xfrm>
          <a:prstGeom prst="rect">
            <a:avLst/>
          </a:prstGeom>
          <a:noFill/>
          <a:ln/>
        </p:spPr>
        <p:txBody>
          <a:bodyPr wrap="square" rtlCol="0" anchor="ctr"/>
          <a:lstStyle/>
          <a:p>
            <a:pPr marL="0" indent="0" algn="ctr">
              <a:buNone/>
            </a:pPr>
            <a:r>
              <a:rPr lang="en-US" sz="550" b="1" dirty="0">
                <a:solidFill>
                  <a:srgbClr val="C898FD"/>
                </a:solidFill>
                <a:latin typeface="Mona Sans" pitchFamily="34" charset="0"/>
                <a:ea typeface="Mona Sans" pitchFamily="34" charset="-122"/>
                <a:cs typeface="Mona Sans" pitchFamily="34" charset="-120"/>
              </a:rPr>
              <a:t>Enterprise Cloud</a:t>
            </a:r>
            <a:endParaRPr lang="en-US" sz="550" dirty="0"/>
          </a:p>
        </p:txBody>
      </p:sp>
      <p:sp>
        <p:nvSpPr>
          <p:cNvPr id="30" name="Shape 28"/>
          <p:cNvSpPr/>
          <p:nvPr/>
        </p:nvSpPr>
        <p:spPr>
          <a:xfrm>
            <a:off x="1499616" y="3611880"/>
            <a:ext cx="548640" cy="164592"/>
          </a:xfrm>
          <a:prstGeom prst="roundRect">
            <a:avLst>
              <a:gd name="adj" fmla="val 22222"/>
            </a:avLst>
          </a:prstGeom>
          <a:solidFill>
            <a:srgbClr val="160048"/>
          </a:solidFill>
          <a:ln/>
        </p:spPr>
        <p:txBody>
          <a:bodyPr/>
          <a:lstStyle/>
          <a:p>
            <a:endParaRPr lang="en-US"/>
          </a:p>
        </p:txBody>
      </p:sp>
      <p:sp>
        <p:nvSpPr>
          <p:cNvPr id="31" name="Text 29"/>
          <p:cNvSpPr/>
          <p:nvPr/>
        </p:nvSpPr>
        <p:spPr>
          <a:xfrm>
            <a:off x="1499616" y="3611880"/>
            <a:ext cx="548640" cy="164592"/>
          </a:xfrm>
          <a:prstGeom prst="rect">
            <a:avLst/>
          </a:prstGeom>
          <a:noFill/>
          <a:ln/>
        </p:spPr>
        <p:txBody>
          <a:bodyPr wrap="square" rtlCol="0" anchor="ctr"/>
          <a:lstStyle/>
          <a:p>
            <a:pPr marL="0" indent="0" algn="ctr">
              <a:buNone/>
            </a:pPr>
            <a:r>
              <a:rPr lang="en-US" sz="550" b="1" dirty="0">
                <a:solidFill>
                  <a:srgbClr val="C898FD"/>
                </a:solidFill>
                <a:latin typeface="Mona Sans" pitchFamily="34" charset="0"/>
                <a:ea typeface="Mona Sans" pitchFamily="34" charset="-122"/>
                <a:cs typeface="Mona Sans" pitchFamily="34" charset="-120"/>
              </a:rPr>
              <a:t>Actions</a:t>
            </a:r>
            <a:endParaRPr lang="en-US" sz="550" dirty="0"/>
          </a:p>
        </p:txBody>
      </p:sp>
      <p:sp>
        <p:nvSpPr>
          <p:cNvPr id="32" name="Shape 30"/>
          <p:cNvSpPr/>
          <p:nvPr/>
        </p:nvSpPr>
        <p:spPr>
          <a:xfrm>
            <a:off x="2103120" y="3611880"/>
            <a:ext cx="548640" cy="164592"/>
          </a:xfrm>
          <a:prstGeom prst="roundRect">
            <a:avLst>
              <a:gd name="adj" fmla="val 22222"/>
            </a:avLst>
          </a:prstGeom>
          <a:solidFill>
            <a:srgbClr val="160048"/>
          </a:solidFill>
          <a:ln/>
        </p:spPr>
        <p:txBody>
          <a:bodyPr/>
          <a:lstStyle/>
          <a:p>
            <a:endParaRPr lang="en-US"/>
          </a:p>
        </p:txBody>
      </p:sp>
      <p:sp>
        <p:nvSpPr>
          <p:cNvPr id="33" name="Text 31"/>
          <p:cNvSpPr/>
          <p:nvPr/>
        </p:nvSpPr>
        <p:spPr>
          <a:xfrm>
            <a:off x="2103120" y="3611880"/>
            <a:ext cx="548640" cy="164592"/>
          </a:xfrm>
          <a:prstGeom prst="rect">
            <a:avLst/>
          </a:prstGeom>
          <a:noFill/>
          <a:ln/>
        </p:spPr>
        <p:txBody>
          <a:bodyPr wrap="square" rtlCol="0" anchor="ctr"/>
          <a:lstStyle/>
          <a:p>
            <a:pPr marL="0" indent="0" algn="ctr">
              <a:buNone/>
            </a:pPr>
            <a:r>
              <a:rPr lang="en-US" sz="550" b="1" dirty="0">
                <a:solidFill>
                  <a:srgbClr val="C898FD"/>
                </a:solidFill>
                <a:latin typeface="Mona Sans" pitchFamily="34" charset="0"/>
                <a:ea typeface="Mona Sans" pitchFamily="34" charset="-122"/>
                <a:cs typeface="Mona Sans" pitchFamily="34" charset="-120"/>
              </a:rPr>
              <a:t>Packages</a:t>
            </a:r>
            <a:endParaRPr lang="en-US" sz="550" dirty="0"/>
          </a:p>
        </p:txBody>
      </p:sp>
      <p:sp>
        <p:nvSpPr>
          <p:cNvPr id="34" name="Shape 32"/>
          <p:cNvSpPr/>
          <p:nvPr/>
        </p:nvSpPr>
        <p:spPr>
          <a:xfrm>
            <a:off x="2706624" y="3611880"/>
            <a:ext cx="548640" cy="164592"/>
          </a:xfrm>
          <a:prstGeom prst="roundRect">
            <a:avLst>
              <a:gd name="adj" fmla="val 22222"/>
            </a:avLst>
          </a:prstGeom>
          <a:solidFill>
            <a:srgbClr val="160048"/>
          </a:solidFill>
          <a:ln/>
        </p:spPr>
        <p:txBody>
          <a:bodyPr/>
          <a:lstStyle/>
          <a:p>
            <a:endParaRPr lang="en-US"/>
          </a:p>
        </p:txBody>
      </p:sp>
      <p:sp>
        <p:nvSpPr>
          <p:cNvPr id="35" name="Text 33"/>
          <p:cNvSpPr/>
          <p:nvPr/>
        </p:nvSpPr>
        <p:spPr>
          <a:xfrm>
            <a:off x="2706624" y="3611880"/>
            <a:ext cx="548640" cy="164592"/>
          </a:xfrm>
          <a:prstGeom prst="rect">
            <a:avLst/>
          </a:prstGeom>
          <a:noFill/>
          <a:ln/>
        </p:spPr>
        <p:txBody>
          <a:bodyPr wrap="square" rtlCol="0" anchor="ctr"/>
          <a:lstStyle/>
          <a:p>
            <a:pPr marL="0" indent="0" algn="ctr">
              <a:buNone/>
            </a:pPr>
            <a:r>
              <a:rPr lang="en-US" sz="550" b="1" dirty="0">
                <a:solidFill>
                  <a:srgbClr val="C898FD"/>
                </a:solidFill>
                <a:latin typeface="Mona Sans" pitchFamily="34" charset="0"/>
                <a:ea typeface="Mona Sans" pitchFamily="34" charset="-122"/>
                <a:cs typeface="Mona Sans" pitchFamily="34" charset="-120"/>
              </a:rPr>
              <a:t>Security</a:t>
            </a:r>
            <a:endParaRPr lang="en-US" sz="550" dirty="0"/>
          </a:p>
        </p:txBody>
      </p:sp>
      <p:sp>
        <p:nvSpPr>
          <p:cNvPr id="36" name="Text 34"/>
          <p:cNvSpPr/>
          <p:nvPr/>
        </p:nvSpPr>
        <p:spPr>
          <a:xfrm>
            <a:off x="621792" y="3858768"/>
            <a:ext cx="2286000" cy="146304"/>
          </a:xfrm>
          <a:prstGeom prst="rect">
            <a:avLst/>
          </a:prstGeom>
          <a:noFill/>
          <a:ln/>
        </p:spPr>
        <p:txBody>
          <a:bodyPr wrap="square" rtlCol="0" anchor="ctr"/>
          <a:lstStyle/>
          <a:p>
            <a:pPr marL="0" indent="0">
              <a:buNone/>
            </a:pPr>
            <a:r>
              <a:rPr lang="en-US" sz="550" u="sng" dirty="0">
                <a:solidFill>
                  <a:srgbClr val="0FBF3E"/>
                </a:solidFill>
                <a:latin typeface="Mona Sans" pitchFamily="34" charset="0"/>
                <a:ea typeface="Mona Sans" pitchFamily="34" charset="-122"/>
                <a:cs typeface="Mona Sans" pitchFamily="34" charset="-120"/>
                <a:hlinkClick r:id="rId3">
                  <a:extLst>
                    <a:ext uri="{A12FA001-AC4F-418D-AE19-62706E023703}">
                      <ahyp:hlinkClr xmlns:ahyp="http://schemas.microsoft.com/office/drawing/2018/hyperlinkcolor" val="tx"/>
                    </a:ext>
                  </a:extLst>
                </a:hlinkClick>
              </a:rPr>
              <a:t>github.com/customer-stories/tokopedia</a:t>
            </a:r>
            <a:endParaRPr lang="en-US" sz="550" dirty="0"/>
          </a:p>
        </p:txBody>
      </p:sp>
      <p:sp>
        <p:nvSpPr>
          <p:cNvPr id="37" name="Shape 35"/>
          <p:cNvSpPr/>
          <p:nvPr/>
        </p:nvSpPr>
        <p:spPr>
          <a:xfrm>
            <a:off x="3794760" y="822960"/>
            <a:ext cx="4892040" cy="1097280"/>
          </a:xfrm>
          <a:prstGeom prst="roundRect">
            <a:avLst>
              <a:gd name="adj" fmla="val 6667"/>
            </a:avLst>
          </a:prstGeom>
          <a:solidFill>
            <a:srgbClr val="232925"/>
          </a:solidFill>
          <a:ln w="12700">
            <a:solidFill>
              <a:srgbClr val="3D4540"/>
            </a:solidFill>
            <a:prstDash val="solid"/>
          </a:ln>
        </p:spPr>
        <p:txBody>
          <a:bodyPr/>
          <a:lstStyle/>
          <a:p>
            <a:endParaRPr lang="en-US"/>
          </a:p>
        </p:txBody>
      </p:sp>
      <p:sp>
        <p:nvSpPr>
          <p:cNvPr id="38" name="Shape 36"/>
          <p:cNvSpPr/>
          <p:nvPr/>
        </p:nvSpPr>
        <p:spPr>
          <a:xfrm>
            <a:off x="3904488" y="914400"/>
            <a:ext cx="237744" cy="237744"/>
          </a:xfrm>
          <a:prstGeom prst="roundRect">
            <a:avLst>
              <a:gd name="adj" fmla="val 19231"/>
            </a:avLst>
          </a:prstGeom>
          <a:solidFill>
            <a:srgbClr val="101411"/>
          </a:solidFill>
          <a:ln/>
        </p:spPr>
        <p:txBody>
          <a:bodyPr/>
          <a:lstStyle/>
          <a:p>
            <a:endParaRPr lang="en-US"/>
          </a:p>
        </p:txBody>
      </p:sp>
      <p:sp>
        <p:nvSpPr>
          <p:cNvPr id="39" name="Text 37"/>
          <p:cNvSpPr/>
          <p:nvPr/>
        </p:nvSpPr>
        <p:spPr>
          <a:xfrm>
            <a:off x="3904488" y="914400"/>
            <a:ext cx="237744" cy="237744"/>
          </a:xfrm>
          <a:prstGeom prst="rect">
            <a:avLst/>
          </a:prstGeom>
          <a:noFill/>
          <a:ln/>
        </p:spPr>
        <p:txBody>
          <a:bodyPr wrap="square" rtlCol="0" anchor="ctr"/>
          <a:lstStyle/>
          <a:p>
            <a:pPr marL="0" indent="0" algn="ctr">
              <a:buNone/>
            </a:pPr>
            <a:r>
              <a:rPr lang="en-US" sz="1100" dirty="0">
                <a:solidFill>
                  <a:srgbClr val="000000"/>
                </a:solidFill>
              </a:rPr>
              <a:t>⚡</a:t>
            </a:r>
            <a:endParaRPr lang="en-US" sz="1100" dirty="0"/>
          </a:p>
        </p:txBody>
      </p:sp>
      <p:sp>
        <p:nvSpPr>
          <p:cNvPr id="40" name="Text 38"/>
          <p:cNvSpPr/>
          <p:nvPr/>
        </p:nvSpPr>
        <p:spPr>
          <a:xfrm>
            <a:off x="4197096" y="914400"/>
            <a:ext cx="2743200" cy="219456"/>
          </a:xfrm>
          <a:prstGeom prst="rect">
            <a:avLst/>
          </a:prstGeom>
          <a:noFill/>
          <a:ln/>
        </p:spPr>
        <p:txBody>
          <a:bodyPr wrap="square" rtlCol="0" anchor="ctr"/>
          <a:lstStyle/>
          <a:p>
            <a:pPr marL="0" indent="0">
              <a:buNone/>
            </a:pPr>
            <a:r>
              <a:rPr lang="en-US" sz="1000" b="1" dirty="0">
                <a:solidFill>
                  <a:srgbClr val="F2F5F3"/>
                </a:solidFill>
                <a:latin typeface="Mona Sans" pitchFamily="34" charset="0"/>
                <a:ea typeface="Mona Sans" pitchFamily="34" charset="-122"/>
                <a:cs typeface="Mona Sans" pitchFamily="34" charset="-120"/>
              </a:rPr>
              <a:t>The Challenge</a:t>
            </a:r>
            <a:endParaRPr lang="en-US" sz="1000" dirty="0"/>
          </a:p>
        </p:txBody>
      </p:sp>
      <p:sp>
        <p:nvSpPr>
          <p:cNvPr id="41" name="Text 39"/>
          <p:cNvSpPr/>
          <p:nvPr/>
        </p:nvSpPr>
        <p:spPr>
          <a:xfrm>
            <a:off x="3904488" y="1188720"/>
            <a:ext cx="4617720" cy="621792"/>
          </a:xfrm>
          <a:prstGeom prst="rect">
            <a:avLst/>
          </a:prstGeom>
          <a:noFill/>
          <a:ln/>
        </p:spPr>
        <p:txBody>
          <a:bodyPr wrap="square" rtlCol="0" anchor="ctr"/>
          <a:lstStyle/>
          <a:p>
            <a:pPr marL="0" indent="0">
              <a:lnSpc>
                <a:spcPct val="120000"/>
              </a:lnSpc>
              <a:buNone/>
            </a:pPr>
            <a:r>
              <a:rPr lang="en-US" sz="750" dirty="0">
                <a:solidFill>
                  <a:srgbClr val="B6BFB8"/>
                </a:solidFill>
                <a:latin typeface="Mona Sans" pitchFamily="34" charset="0"/>
                <a:ea typeface="Mona Sans" pitchFamily="34" charset="-122"/>
                <a:cs typeface="Mona Sans" pitchFamily="34" charset="-120"/>
              </a:rPr>
              <a:t>Tokopedia's monolith architecture couldn't scale with their engineering team growth from 300 to 1,000+ developers across multiple locations. On-premises code management created bottlenecks — everything had to go through one team for deployment.</a:t>
            </a:r>
            <a:endParaRPr lang="en-US" sz="750" dirty="0"/>
          </a:p>
        </p:txBody>
      </p:sp>
      <p:sp>
        <p:nvSpPr>
          <p:cNvPr id="42" name="Shape 40"/>
          <p:cNvSpPr/>
          <p:nvPr/>
        </p:nvSpPr>
        <p:spPr>
          <a:xfrm>
            <a:off x="3794760" y="2011680"/>
            <a:ext cx="4892040" cy="1097280"/>
          </a:xfrm>
          <a:prstGeom prst="roundRect">
            <a:avLst>
              <a:gd name="adj" fmla="val 6667"/>
            </a:avLst>
          </a:prstGeom>
          <a:solidFill>
            <a:srgbClr val="232925"/>
          </a:solidFill>
          <a:ln w="12700">
            <a:solidFill>
              <a:srgbClr val="3D4540"/>
            </a:solidFill>
            <a:prstDash val="solid"/>
          </a:ln>
        </p:spPr>
        <p:txBody>
          <a:bodyPr/>
          <a:lstStyle/>
          <a:p>
            <a:endParaRPr lang="en-US"/>
          </a:p>
        </p:txBody>
      </p:sp>
      <p:sp>
        <p:nvSpPr>
          <p:cNvPr id="43" name="Shape 41"/>
          <p:cNvSpPr/>
          <p:nvPr/>
        </p:nvSpPr>
        <p:spPr>
          <a:xfrm>
            <a:off x="3904488" y="2103120"/>
            <a:ext cx="237744" cy="237744"/>
          </a:xfrm>
          <a:prstGeom prst="roundRect">
            <a:avLst>
              <a:gd name="adj" fmla="val 19231"/>
            </a:avLst>
          </a:prstGeom>
          <a:solidFill>
            <a:srgbClr val="101411"/>
          </a:solidFill>
          <a:ln/>
        </p:spPr>
        <p:txBody>
          <a:bodyPr/>
          <a:lstStyle/>
          <a:p>
            <a:endParaRPr lang="en-US"/>
          </a:p>
        </p:txBody>
      </p:sp>
      <p:sp>
        <p:nvSpPr>
          <p:cNvPr id="44" name="Text 42"/>
          <p:cNvSpPr/>
          <p:nvPr/>
        </p:nvSpPr>
        <p:spPr>
          <a:xfrm>
            <a:off x="3904488" y="2103120"/>
            <a:ext cx="237744" cy="237744"/>
          </a:xfrm>
          <a:prstGeom prst="rect">
            <a:avLst/>
          </a:prstGeom>
          <a:noFill/>
          <a:ln/>
        </p:spPr>
        <p:txBody>
          <a:bodyPr wrap="square" rtlCol="0" anchor="ctr"/>
          <a:lstStyle/>
          <a:p>
            <a:pPr marL="0" indent="0" algn="ctr">
              <a:buNone/>
            </a:pPr>
            <a:r>
              <a:rPr lang="en-US" sz="1100" dirty="0">
                <a:solidFill>
                  <a:srgbClr val="000000"/>
                </a:solidFill>
              </a:rPr>
              <a:t>🛠️</a:t>
            </a:r>
            <a:endParaRPr lang="en-US" sz="1100" dirty="0"/>
          </a:p>
        </p:txBody>
      </p:sp>
      <p:sp>
        <p:nvSpPr>
          <p:cNvPr id="45" name="Text 43"/>
          <p:cNvSpPr/>
          <p:nvPr/>
        </p:nvSpPr>
        <p:spPr>
          <a:xfrm>
            <a:off x="4197096" y="2103120"/>
            <a:ext cx="2743200" cy="219456"/>
          </a:xfrm>
          <a:prstGeom prst="rect">
            <a:avLst/>
          </a:prstGeom>
          <a:noFill/>
          <a:ln/>
        </p:spPr>
        <p:txBody>
          <a:bodyPr wrap="square" rtlCol="0" anchor="ctr"/>
          <a:lstStyle/>
          <a:p>
            <a:pPr marL="0" indent="0">
              <a:buNone/>
            </a:pPr>
            <a:r>
              <a:rPr lang="en-US" sz="1000" b="1" dirty="0">
                <a:solidFill>
                  <a:srgbClr val="F2F5F3"/>
                </a:solidFill>
                <a:latin typeface="Mona Sans" pitchFamily="34" charset="0"/>
                <a:ea typeface="Mona Sans" pitchFamily="34" charset="-122"/>
                <a:cs typeface="Mona Sans" pitchFamily="34" charset="-120"/>
              </a:rPr>
              <a:t>The Solution</a:t>
            </a:r>
            <a:endParaRPr lang="en-US" sz="1000" dirty="0"/>
          </a:p>
        </p:txBody>
      </p:sp>
      <p:sp>
        <p:nvSpPr>
          <p:cNvPr id="46" name="Text 44"/>
          <p:cNvSpPr/>
          <p:nvPr/>
        </p:nvSpPr>
        <p:spPr>
          <a:xfrm>
            <a:off x="3904488" y="2377440"/>
            <a:ext cx="4617720" cy="621792"/>
          </a:xfrm>
          <a:prstGeom prst="rect">
            <a:avLst/>
          </a:prstGeom>
          <a:noFill/>
          <a:ln/>
        </p:spPr>
        <p:txBody>
          <a:bodyPr wrap="square" rtlCol="0" anchor="ctr"/>
          <a:lstStyle/>
          <a:p>
            <a:pPr marL="0" indent="0">
              <a:lnSpc>
                <a:spcPct val="120000"/>
              </a:lnSpc>
              <a:buNone/>
            </a:pPr>
            <a:r>
              <a:rPr lang="en-US" sz="750" dirty="0">
                <a:solidFill>
                  <a:srgbClr val="B6BFB8"/>
                </a:solidFill>
                <a:latin typeface="Mona Sans" pitchFamily="34" charset="0"/>
                <a:ea typeface="Mona Sans" pitchFamily="34" charset="-122"/>
                <a:cs typeface="Mona Sans" pitchFamily="34" charset="-120"/>
              </a:rPr>
              <a:t>Migrated to GitHub Enterprise Cloud and transitioned to a microservices architecture. Individual engineers now manage their own code and deploy independently. GitHub Actions automates 80% of workflows — up from 20% with their previous vendor.</a:t>
            </a:r>
            <a:endParaRPr lang="en-US" sz="750" dirty="0"/>
          </a:p>
        </p:txBody>
      </p:sp>
      <p:sp>
        <p:nvSpPr>
          <p:cNvPr id="47" name="Shape 45"/>
          <p:cNvSpPr/>
          <p:nvPr/>
        </p:nvSpPr>
        <p:spPr>
          <a:xfrm>
            <a:off x="3794760" y="3200400"/>
            <a:ext cx="4892040" cy="1097280"/>
          </a:xfrm>
          <a:prstGeom prst="roundRect">
            <a:avLst>
              <a:gd name="adj" fmla="val 6667"/>
            </a:avLst>
          </a:prstGeom>
          <a:solidFill>
            <a:srgbClr val="232925"/>
          </a:solidFill>
          <a:ln w="12700">
            <a:solidFill>
              <a:srgbClr val="3D4540"/>
            </a:solidFill>
            <a:prstDash val="solid"/>
          </a:ln>
        </p:spPr>
        <p:txBody>
          <a:bodyPr/>
          <a:lstStyle/>
          <a:p>
            <a:endParaRPr lang="en-US"/>
          </a:p>
        </p:txBody>
      </p:sp>
      <p:sp>
        <p:nvSpPr>
          <p:cNvPr id="48" name="Shape 46"/>
          <p:cNvSpPr/>
          <p:nvPr/>
        </p:nvSpPr>
        <p:spPr>
          <a:xfrm>
            <a:off x="3904488" y="3291840"/>
            <a:ext cx="237744" cy="237744"/>
          </a:xfrm>
          <a:prstGeom prst="roundRect">
            <a:avLst>
              <a:gd name="adj" fmla="val 19231"/>
            </a:avLst>
          </a:prstGeom>
          <a:solidFill>
            <a:srgbClr val="101411"/>
          </a:solidFill>
          <a:ln/>
        </p:spPr>
        <p:txBody>
          <a:bodyPr/>
          <a:lstStyle/>
          <a:p>
            <a:endParaRPr lang="en-US"/>
          </a:p>
        </p:txBody>
      </p:sp>
      <p:sp>
        <p:nvSpPr>
          <p:cNvPr id="49" name="Text 47"/>
          <p:cNvSpPr/>
          <p:nvPr/>
        </p:nvSpPr>
        <p:spPr>
          <a:xfrm>
            <a:off x="3904488" y="3291840"/>
            <a:ext cx="237744" cy="237744"/>
          </a:xfrm>
          <a:prstGeom prst="rect">
            <a:avLst/>
          </a:prstGeom>
          <a:noFill/>
          <a:ln/>
        </p:spPr>
        <p:txBody>
          <a:bodyPr wrap="square" rtlCol="0" anchor="ctr"/>
          <a:lstStyle/>
          <a:p>
            <a:pPr marL="0" indent="0" algn="ctr">
              <a:buNone/>
            </a:pPr>
            <a:r>
              <a:rPr lang="en-US" sz="1100" dirty="0">
                <a:solidFill>
                  <a:srgbClr val="000000"/>
                </a:solidFill>
              </a:rPr>
              <a:t>🚀</a:t>
            </a:r>
            <a:endParaRPr lang="en-US" sz="1100" dirty="0"/>
          </a:p>
        </p:txBody>
      </p:sp>
      <p:sp>
        <p:nvSpPr>
          <p:cNvPr id="50" name="Text 48"/>
          <p:cNvSpPr/>
          <p:nvPr/>
        </p:nvSpPr>
        <p:spPr>
          <a:xfrm>
            <a:off x="4197096" y="3291840"/>
            <a:ext cx="2743200" cy="219456"/>
          </a:xfrm>
          <a:prstGeom prst="rect">
            <a:avLst/>
          </a:prstGeom>
          <a:noFill/>
          <a:ln/>
        </p:spPr>
        <p:txBody>
          <a:bodyPr wrap="square" rtlCol="0" anchor="ctr"/>
          <a:lstStyle/>
          <a:p>
            <a:pPr marL="0" indent="0">
              <a:buNone/>
            </a:pPr>
            <a:r>
              <a:rPr lang="en-US" sz="1000" b="1" dirty="0">
                <a:solidFill>
                  <a:srgbClr val="F2F5F3"/>
                </a:solidFill>
                <a:latin typeface="Mona Sans" pitchFamily="34" charset="0"/>
                <a:ea typeface="Mona Sans" pitchFamily="34" charset="-122"/>
                <a:cs typeface="Mona Sans" pitchFamily="34" charset="-120"/>
              </a:rPr>
              <a:t>The Impact</a:t>
            </a:r>
            <a:endParaRPr lang="en-US" sz="1000" dirty="0"/>
          </a:p>
        </p:txBody>
      </p:sp>
      <p:sp>
        <p:nvSpPr>
          <p:cNvPr id="51" name="Shape 49"/>
          <p:cNvSpPr/>
          <p:nvPr/>
        </p:nvSpPr>
        <p:spPr>
          <a:xfrm>
            <a:off x="3904488" y="3566160"/>
            <a:ext cx="32004" cy="548640"/>
          </a:xfrm>
          <a:prstGeom prst="rect">
            <a:avLst/>
          </a:prstGeom>
          <a:solidFill>
            <a:srgbClr val="0FBF3E"/>
          </a:solidFill>
          <a:ln/>
        </p:spPr>
        <p:txBody>
          <a:bodyPr/>
          <a:lstStyle/>
          <a:p>
            <a:endParaRPr lang="en-US"/>
          </a:p>
        </p:txBody>
      </p:sp>
      <p:sp>
        <p:nvSpPr>
          <p:cNvPr id="52" name="Text 50"/>
          <p:cNvSpPr/>
          <p:nvPr/>
        </p:nvSpPr>
        <p:spPr>
          <a:xfrm>
            <a:off x="4023360" y="3566160"/>
            <a:ext cx="4480560" cy="438912"/>
          </a:xfrm>
          <a:prstGeom prst="rect">
            <a:avLst/>
          </a:prstGeom>
          <a:noFill/>
          <a:ln/>
        </p:spPr>
        <p:txBody>
          <a:bodyPr wrap="square" rtlCol="0" anchor="ctr"/>
          <a:lstStyle/>
          <a:p>
            <a:pPr marL="0" indent="0">
              <a:lnSpc>
                <a:spcPct val="115000"/>
              </a:lnSpc>
              <a:buNone/>
            </a:pPr>
            <a:r>
              <a:rPr lang="en-US" sz="750" i="1" dirty="0">
                <a:solidFill>
                  <a:srgbClr val="F2F5F3"/>
                </a:solidFill>
                <a:latin typeface="Mona Sans" pitchFamily="34" charset="0"/>
                <a:ea typeface="Mona Sans" pitchFamily="34" charset="-122"/>
                <a:cs typeface="Mona Sans" pitchFamily="34" charset="-120"/>
              </a:rPr>
              <a:t>"We don't have to do deployment on a particular day or at a particular time. Now we do it 24/7, all throughout the year. GitHub is providing the essential tools to help us be more productive and also more stable."</a:t>
            </a:r>
            <a:endParaRPr lang="en-US" sz="750" dirty="0"/>
          </a:p>
        </p:txBody>
      </p:sp>
      <p:sp>
        <p:nvSpPr>
          <p:cNvPr id="53" name="Text 51"/>
          <p:cNvSpPr/>
          <p:nvPr/>
        </p:nvSpPr>
        <p:spPr>
          <a:xfrm>
            <a:off x="4023360" y="4005072"/>
            <a:ext cx="3657600" cy="128016"/>
          </a:xfrm>
          <a:prstGeom prst="rect">
            <a:avLst/>
          </a:prstGeom>
          <a:noFill/>
          <a:ln/>
        </p:spPr>
        <p:txBody>
          <a:bodyPr wrap="square" rtlCol="0" anchor="ctr"/>
          <a:lstStyle/>
          <a:p>
            <a:pPr marL="0" indent="0">
              <a:buNone/>
            </a:pPr>
            <a:r>
              <a:rPr lang="en-US" sz="650" b="1" dirty="0">
                <a:solidFill>
                  <a:srgbClr val="0FBF3E"/>
                </a:solidFill>
                <a:latin typeface="Mona Sans" pitchFamily="34" charset="0"/>
                <a:ea typeface="Mona Sans" pitchFamily="34" charset="-122"/>
                <a:cs typeface="Mona Sans" pitchFamily="34" charset="-120"/>
              </a:rPr>
              <a:t>— Purnaresa Yuliartanto, Security Engineer Lead</a:t>
            </a:r>
            <a:endParaRPr lang="en-US" sz="650" dirty="0"/>
          </a:p>
        </p:txBody>
      </p:sp>
      <p:sp>
        <p:nvSpPr>
          <p:cNvPr id="54" name="Shape 52"/>
          <p:cNvSpPr/>
          <p:nvPr/>
        </p:nvSpPr>
        <p:spPr>
          <a:xfrm>
            <a:off x="457200" y="4905756"/>
            <a:ext cx="8229600" cy="3658"/>
          </a:xfrm>
          <a:prstGeom prst="rect">
            <a:avLst/>
          </a:prstGeom>
          <a:solidFill>
            <a:srgbClr val="3D4540"/>
          </a:solidFill>
          <a:ln/>
        </p:spPr>
        <p:txBody>
          <a:bodyPr/>
          <a:lstStyle/>
          <a:p>
            <a:endParaRPr lang="en-US"/>
          </a:p>
        </p:txBody>
      </p:sp>
      <p:sp>
        <p:nvSpPr>
          <p:cNvPr id="55" name="Text 53"/>
          <p:cNvSpPr/>
          <p:nvPr/>
        </p:nvSpPr>
        <p:spPr>
          <a:xfrm>
            <a:off x="457200" y="4942332"/>
            <a:ext cx="4114800" cy="128016"/>
          </a:xfrm>
          <a:prstGeom prst="rect">
            <a:avLst/>
          </a:prstGeom>
          <a:noFill/>
          <a:ln/>
        </p:spPr>
        <p:txBody>
          <a:bodyPr wrap="square" rtlCol="0" anchor="ctr"/>
          <a:lstStyle/>
          <a:p>
            <a:pPr marL="0" indent="0">
              <a:buNone/>
            </a:pPr>
            <a:r>
              <a:rPr lang="en-US" sz="650" dirty="0">
                <a:solidFill>
                  <a:srgbClr val="909692"/>
                </a:solidFill>
                <a:latin typeface="Mona Sans" pitchFamily="34" charset="0"/>
                <a:ea typeface="Mona Sans" pitchFamily="34" charset="-122"/>
                <a:cs typeface="Mona Sans" pitchFamily="34" charset="-120"/>
              </a:rPr>
              <a:t>Source: github.com/customer-stories/tokopedia</a:t>
            </a:r>
            <a:endParaRPr lang="en-US" sz="650" dirty="0"/>
          </a:p>
        </p:txBody>
      </p:sp>
      <p:sp>
        <p:nvSpPr>
          <p:cNvPr id="56" name="Text 54"/>
          <p:cNvSpPr/>
          <p:nvPr/>
        </p:nvSpPr>
        <p:spPr>
          <a:xfrm>
            <a:off x="5029200" y="4942332"/>
            <a:ext cx="3657600" cy="128016"/>
          </a:xfrm>
          <a:prstGeom prst="rect">
            <a:avLst/>
          </a:prstGeom>
          <a:noFill/>
          <a:ln/>
        </p:spPr>
        <p:txBody>
          <a:bodyPr wrap="square" rtlCol="0" anchor="ctr"/>
          <a:lstStyle/>
          <a:p>
            <a:pPr marL="0" indent="0" algn="r">
              <a:buNone/>
            </a:pPr>
            <a:r>
              <a:rPr lang="en-US" sz="650" dirty="0">
                <a:solidFill>
                  <a:srgbClr val="909692"/>
                </a:solidFill>
                <a:latin typeface="Mona Sans" pitchFamily="34" charset="0"/>
                <a:ea typeface="Mona Sans" pitchFamily="34" charset="-122"/>
                <a:cs typeface="Mona Sans" pitchFamily="34" charset="-120"/>
              </a:rPr>
              <a:t>github.com/customer-stories</a:t>
            </a:r>
            <a:endParaRPr lang="en-US" sz="650" dirty="0"/>
          </a:p>
        </p:txBody>
      </p:sp>
    </p:spTree>
    <p:extLst>
      <p:ext uri="{BB962C8B-B14F-4D97-AF65-F5344CB8AC3E}">
        <p14:creationId xmlns:p14="http://schemas.microsoft.com/office/powerpoint/2010/main" val="39646752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D1117"/>
          </a:solidFill>
          <a:ln/>
        </p:spPr>
        <p:txBody>
          <a:bodyPr/>
          <a:lstStyle/>
          <a:p>
            <a:endParaRPr lang="en-US"/>
          </a:p>
        </p:txBody>
      </p:sp>
      <p:sp>
        <p:nvSpPr>
          <p:cNvPr id="3" name="Shape 1"/>
          <p:cNvSpPr/>
          <p:nvPr/>
        </p:nvSpPr>
        <p:spPr>
          <a:xfrm>
            <a:off x="0" y="0"/>
            <a:ext cx="9144000" cy="32004"/>
          </a:xfrm>
          <a:prstGeom prst="rect">
            <a:avLst/>
          </a:prstGeom>
          <a:solidFill>
            <a:srgbClr val="3FB950"/>
          </a:solidFill>
          <a:ln/>
        </p:spPr>
        <p:txBody>
          <a:bodyPr/>
          <a:lstStyle/>
          <a:p>
            <a:endParaRPr lang="en-US"/>
          </a:p>
        </p:txBody>
      </p:sp>
      <p:sp>
        <p:nvSpPr>
          <p:cNvPr id="4" name="Text 2"/>
          <p:cNvSpPr/>
          <p:nvPr/>
        </p:nvSpPr>
        <p:spPr>
          <a:xfrm>
            <a:off x="365760" y="91440"/>
            <a:ext cx="5486400" cy="137160"/>
          </a:xfrm>
          <a:prstGeom prst="rect">
            <a:avLst/>
          </a:prstGeom>
          <a:noFill/>
          <a:ln/>
        </p:spPr>
        <p:txBody>
          <a:bodyPr wrap="square" rtlCol="0" anchor="ctr"/>
          <a:lstStyle/>
          <a:p>
            <a:pPr marL="0" indent="0">
              <a:buNone/>
            </a:pPr>
            <a:r>
              <a:rPr lang="en-US" sz="700" b="1" dirty="0">
                <a:solidFill>
                  <a:srgbClr val="3FB950"/>
                </a:solidFill>
                <a:latin typeface="Segoe UI" pitchFamily="34" charset="0"/>
                <a:ea typeface="Segoe UI" pitchFamily="34" charset="-122"/>
                <a:cs typeface="Segoe UI" pitchFamily="34" charset="-120"/>
              </a:rPr>
              <a:t>GITHUB CUSTOMER STORIES  ·  INDUSTRY MAPPING</a:t>
            </a:r>
            <a:endParaRPr lang="en-US" sz="700" dirty="0"/>
          </a:p>
        </p:txBody>
      </p:sp>
      <p:sp>
        <p:nvSpPr>
          <p:cNvPr id="5" name="Text 3"/>
          <p:cNvSpPr/>
          <p:nvPr/>
        </p:nvSpPr>
        <p:spPr>
          <a:xfrm>
            <a:off x="365760" y="219456"/>
            <a:ext cx="8229600" cy="292608"/>
          </a:xfrm>
          <a:prstGeom prst="rect">
            <a:avLst/>
          </a:prstGeom>
          <a:noFill/>
          <a:ln/>
        </p:spPr>
        <p:txBody>
          <a:bodyPr wrap="square" rtlCol="0" anchor="ctr"/>
          <a:lstStyle/>
          <a:p>
            <a:pPr marL="0" indent="0">
              <a:buNone/>
            </a:pPr>
            <a:r>
              <a:rPr lang="en-US" sz="1900" b="1" dirty="0">
                <a:solidFill>
                  <a:srgbClr val="F0F6FC"/>
                </a:solidFill>
                <a:latin typeface="Segoe UI" pitchFamily="34" charset="0"/>
                <a:ea typeface="Segoe UI" pitchFamily="34" charset="-122"/>
                <a:cs typeface="Segoe UI" pitchFamily="34" charset="-120"/>
              </a:rPr>
              <a:t>GitHub Across SE Asia's Key Verticals</a:t>
            </a:r>
            <a:endParaRPr lang="en-US" sz="1900" dirty="0"/>
          </a:p>
        </p:txBody>
      </p:sp>
      <p:sp>
        <p:nvSpPr>
          <p:cNvPr id="6" name="Text 4"/>
          <p:cNvSpPr/>
          <p:nvPr/>
        </p:nvSpPr>
        <p:spPr>
          <a:xfrm>
            <a:off x="365760" y="502920"/>
            <a:ext cx="7315200" cy="146304"/>
          </a:xfrm>
          <a:prstGeom prst="rect">
            <a:avLst/>
          </a:prstGeom>
          <a:noFill/>
          <a:ln/>
        </p:spPr>
        <p:txBody>
          <a:bodyPr wrap="square" rtlCol="0" anchor="ctr"/>
          <a:lstStyle/>
          <a:p>
            <a:pPr marL="0" indent="0">
              <a:buNone/>
            </a:pPr>
            <a:r>
              <a:rPr lang="en-US" sz="850" dirty="0">
                <a:solidFill>
                  <a:srgbClr val="8B949E"/>
                </a:solidFill>
                <a:latin typeface="Segoe UI" pitchFamily="34" charset="0"/>
                <a:ea typeface="Segoe UI" pitchFamily="34" charset="-122"/>
                <a:cs typeface="Segoe UI" pitchFamily="34" charset="-120"/>
              </a:rPr>
              <a:t>Mapping proven customer stories to Southeast Asia's highest-growth industries</a:t>
            </a:r>
            <a:endParaRPr lang="en-US" sz="850" dirty="0"/>
          </a:p>
        </p:txBody>
      </p:sp>
      <p:sp>
        <p:nvSpPr>
          <p:cNvPr id="7" name="Shape 5"/>
          <p:cNvSpPr/>
          <p:nvPr/>
        </p:nvSpPr>
        <p:spPr>
          <a:xfrm>
            <a:off x="365760" y="694944"/>
            <a:ext cx="8412480" cy="4572"/>
          </a:xfrm>
          <a:prstGeom prst="rect">
            <a:avLst/>
          </a:prstGeom>
          <a:solidFill>
            <a:srgbClr val="21262D"/>
          </a:solidFill>
          <a:ln/>
        </p:spPr>
        <p:txBody>
          <a:bodyPr/>
          <a:lstStyle/>
          <a:p>
            <a:endParaRPr lang="en-US"/>
          </a:p>
        </p:txBody>
      </p:sp>
      <p:sp>
        <p:nvSpPr>
          <p:cNvPr id="8" name="Shape 6"/>
          <p:cNvSpPr/>
          <p:nvPr/>
        </p:nvSpPr>
        <p:spPr>
          <a:xfrm>
            <a:off x="365760" y="804672"/>
            <a:ext cx="2743200" cy="2011680"/>
          </a:xfrm>
          <a:prstGeom prst="roundRect">
            <a:avLst>
              <a:gd name="adj" fmla="val 3182"/>
            </a:avLst>
          </a:prstGeom>
          <a:solidFill>
            <a:srgbClr val="0E2117"/>
          </a:solidFill>
          <a:ln w="12700">
            <a:solidFill>
              <a:srgbClr val="238636"/>
            </a:solidFill>
            <a:prstDash val="solid"/>
          </a:ln>
        </p:spPr>
        <p:txBody>
          <a:bodyPr/>
          <a:lstStyle/>
          <a:p>
            <a:endParaRPr lang="en-US"/>
          </a:p>
        </p:txBody>
      </p:sp>
      <p:sp>
        <p:nvSpPr>
          <p:cNvPr id="9" name="Shape 7"/>
          <p:cNvSpPr/>
          <p:nvPr/>
        </p:nvSpPr>
        <p:spPr>
          <a:xfrm>
            <a:off x="457200" y="877824"/>
            <a:ext cx="777240" cy="155448"/>
          </a:xfrm>
          <a:prstGeom prst="roundRect">
            <a:avLst>
              <a:gd name="adj" fmla="val 23529"/>
            </a:avLst>
          </a:prstGeom>
          <a:solidFill>
            <a:srgbClr val="0D1117"/>
          </a:solidFill>
          <a:ln/>
        </p:spPr>
        <p:txBody>
          <a:bodyPr/>
          <a:lstStyle/>
          <a:p>
            <a:endParaRPr lang="en-US"/>
          </a:p>
        </p:txBody>
      </p:sp>
      <p:sp>
        <p:nvSpPr>
          <p:cNvPr id="10" name="Text 8"/>
          <p:cNvSpPr/>
          <p:nvPr/>
        </p:nvSpPr>
        <p:spPr>
          <a:xfrm>
            <a:off x="457200" y="877824"/>
            <a:ext cx="777240" cy="155448"/>
          </a:xfrm>
          <a:prstGeom prst="rect">
            <a:avLst/>
          </a:prstGeom>
          <a:noFill/>
          <a:ln/>
        </p:spPr>
        <p:txBody>
          <a:bodyPr wrap="square" rtlCol="0" anchor="ctr"/>
          <a:lstStyle/>
          <a:p>
            <a:pPr marL="0" indent="0" algn="ctr">
              <a:buNone/>
            </a:pPr>
            <a:r>
              <a:rPr lang="en-US" sz="550" b="1" dirty="0">
                <a:solidFill>
                  <a:srgbClr val="3FB950"/>
                </a:solidFill>
                <a:latin typeface="Segoe UI" pitchFamily="34" charset="0"/>
                <a:ea typeface="Segoe UI" pitchFamily="34" charset="-122"/>
                <a:cs typeface="Segoe UI" pitchFamily="34" charset="-120"/>
              </a:rPr>
              <a:t>E-COMMERCE</a:t>
            </a:r>
            <a:endParaRPr lang="en-US" sz="550" dirty="0"/>
          </a:p>
        </p:txBody>
      </p:sp>
      <p:sp>
        <p:nvSpPr>
          <p:cNvPr id="11" name="Shape 9"/>
          <p:cNvSpPr/>
          <p:nvPr/>
        </p:nvSpPr>
        <p:spPr>
          <a:xfrm>
            <a:off x="1280160" y="877824"/>
            <a:ext cx="594360" cy="155448"/>
          </a:xfrm>
          <a:prstGeom prst="roundRect">
            <a:avLst>
              <a:gd name="adj" fmla="val 23529"/>
            </a:avLst>
          </a:prstGeom>
          <a:solidFill>
            <a:srgbClr val="0E3A1E"/>
          </a:solidFill>
          <a:ln/>
        </p:spPr>
        <p:txBody>
          <a:bodyPr/>
          <a:lstStyle/>
          <a:p>
            <a:endParaRPr lang="en-US"/>
          </a:p>
        </p:txBody>
      </p:sp>
      <p:sp>
        <p:nvSpPr>
          <p:cNvPr id="12" name="Text 10"/>
          <p:cNvSpPr/>
          <p:nvPr/>
        </p:nvSpPr>
        <p:spPr>
          <a:xfrm>
            <a:off x="1280160" y="877824"/>
            <a:ext cx="594360" cy="155448"/>
          </a:xfrm>
          <a:prstGeom prst="rect">
            <a:avLst/>
          </a:prstGeom>
          <a:noFill/>
          <a:ln/>
        </p:spPr>
        <p:txBody>
          <a:bodyPr wrap="square" rtlCol="0" anchor="ctr"/>
          <a:lstStyle/>
          <a:p>
            <a:pPr marL="0" indent="0" algn="ctr">
              <a:buNone/>
            </a:pPr>
            <a:r>
              <a:rPr lang="en-US" sz="550" b="1" dirty="0">
                <a:solidFill>
                  <a:srgbClr val="3FB950"/>
                </a:solidFill>
                <a:latin typeface="Segoe UI" pitchFamily="34" charset="0"/>
                <a:ea typeface="Segoe UI" pitchFamily="34" charset="-122"/>
                <a:cs typeface="Segoe UI" pitchFamily="34" charset="-120"/>
              </a:rPr>
              <a:t>SE ASIA ✦</a:t>
            </a:r>
            <a:endParaRPr lang="en-US" sz="550" dirty="0"/>
          </a:p>
        </p:txBody>
      </p:sp>
      <p:sp>
        <p:nvSpPr>
          <p:cNvPr id="13" name="Text 11"/>
          <p:cNvSpPr/>
          <p:nvPr/>
        </p:nvSpPr>
        <p:spPr>
          <a:xfrm>
            <a:off x="457200" y="1078992"/>
            <a:ext cx="2514600" cy="201168"/>
          </a:xfrm>
          <a:prstGeom prst="rect">
            <a:avLst/>
          </a:prstGeom>
          <a:noFill/>
          <a:ln/>
        </p:spPr>
        <p:txBody>
          <a:bodyPr wrap="square" rtlCol="0" anchor="ctr"/>
          <a:lstStyle/>
          <a:p>
            <a:pPr marL="0" indent="0">
              <a:buNone/>
            </a:pPr>
            <a:r>
              <a:rPr lang="en-US" sz="1000" b="1" dirty="0">
                <a:solidFill>
                  <a:srgbClr val="F0F6FC"/>
                </a:solidFill>
                <a:latin typeface="Segoe UI" pitchFamily="34" charset="0"/>
                <a:ea typeface="Segoe UI" pitchFamily="34" charset="-122"/>
                <a:cs typeface="Segoe UI" pitchFamily="34" charset="-120"/>
              </a:rPr>
              <a:t>🛒  Digital Marketplace</a:t>
            </a:r>
            <a:endParaRPr lang="en-US" sz="1000" dirty="0"/>
          </a:p>
        </p:txBody>
      </p:sp>
      <p:sp>
        <p:nvSpPr>
          <p:cNvPr id="14" name="Text 12"/>
          <p:cNvSpPr/>
          <p:nvPr/>
        </p:nvSpPr>
        <p:spPr>
          <a:xfrm>
            <a:off x="457200" y="1298448"/>
            <a:ext cx="1371600" cy="164592"/>
          </a:xfrm>
          <a:prstGeom prst="rect">
            <a:avLst/>
          </a:prstGeom>
          <a:noFill/>
          <a:ln/>
        </p:spPr>
        <p:txBody>
          <a:bodyPr wrap="square" rtlCol="0" anchor="ctr"/>
          <a:lstStyle/>
          <a:p>
            <a:pPr marL="0" indent="0">
              <a:buNone/>
            </a:pPr>
            <a:r>
              <a:rPr lang="en-US" sz="900" b="1" u="sng" dirty="0">
                <a:solidFill>
                  <a:srgbClr val="3FB950"/>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Tokopedia</a:t>
            </a:r>
            <a:endParaRPr lang="en-US" sz="900" dirty="0"/>
          </a:p>
        </p:txBody>
      </p:sp>
      <p:sp>
        <p:nvSpPr>
          <p:cNvPr id="15" name="Text 13"/>
          <p:cNvSpPr/>
          <p:nvPr/>
        </p:nvSpPr>
        <p:spPr>
          <a:xfrm>
            <a:off x="1737360" y="1298448"/>
            <a:ext cx="1280160" cy="164592"/>
          </a:xfrm>
          <a:prstGeom prst="rect">
            <a:avLst/>
          </a:prstGeom>
          <a:noFill/>
          <a:ln/>
        </p:spPr>
        <p:txBody>
          <a:bodyPr wrap="square" rtlCol="0" anchor="ctr"/>
          <a:lstStyle/>
          <a:p>
            <a:pPr marL="0" indent="0" algn="r">
              <a:buNone/>
            </a:pPr>
            <a:r>
              <a:rPr lang="en-US" sz="750" dirty="0">
                <a:solidFill>
                  <a:srgbClr val="8B949E"/>
                </a:solidFill>
                <a:latin typeface="Segoe UI" pitchFamily="34" charset="0"/>
                <a:ea typeface="Segoe UI" pitchFamily="34" charset="-122"/>
                <a:cs typeface="Segoe UI" pitchFamily="34" charset="-120"/>
              </a:rPr>
              <a:t>🇮🇩 Indonesia</a:t>
            </a:r>
            <a:endParaRPr lang="en-US" sz="750" dirty="0"/>
          </a:p>
        </p:txBody>
      </p:sp>
      <p:sp>
        <p:nvSpPr>
          <p:cNvPr id="16" name="Shape 14"/>
          <p:cNvSpPr/>
          <p:nvPr/>
        </p:nvSpPr>
        <p:spPr>
          <a:xfrm>
            <a:off x="457200" y="1499616"/>
            <a:ext cx="2560320" cy="3658"/>
          </a:xfrm>
          <a:prstGeom prst="rect">
            <a:avLst/>
          </a:prstGeom>
          <a:solidFill>
            <a:srgbClr val="30363D"/>
          </a:solidFill>
          <a:ln/>
        </p:spPr>
        <p:txBody>
          <a:bodyPr/>
          <a:lstStyle/>
          <a:p>
            <a:endParaRPr lang="en-US"/>
          </a:p>
        </p:txBody>
      </p:sp>
      <p:sp>
        <p:nvSpPr>
          <p:cNvPr id="17" name="Text 15"/>
          <p:cNvSpPr/>
          <p:nvPr/>
        </p:nvSpPr>
        <p:spPr>
          <a:xfrm>
            <a:off x="457200" y="1554480"/>
            <a:ext cx="2560320" cy="868680"/>
          </a:xfrm>
          <a:prstGeom prst="rect">
            <a:avLst/>
          </a:prstGeom>
          <a:noFill/>
          <a:ln/>
        </p:spPr>
        <p:txBody>
          <a:bodyPr wrap="square" rtlCol="0" anchor="t"/>
          <a:lstStyle/>
          <a:p>
            <a:pPr marL="0" indent="0">
              <a:lnSpc>
                <a:spcPct val="120000"/>
              </a:lnSpc>
              <a:buNone/>
            </a:pPr>
            <a:r>
              <a:rPr lang="en-US" sz="700" i="1" dirty="0">
                <a:solidFill>
                  <a:srgbClr val="C9D1D9"/>
                </a:solidFill>
                <a:latin typeface="Segoe UI" pitchFamily="34" charset="0"/>
                <a:ea typeface="Segoe UI" pitchFamily="34" charset="-122"/>
                <a:cs typeface="Segoe UI" pitchFamily="34" charset="-120"/>
              </a:rPr>
              <a:t>"200–300 daily pushes to production with 80% workflow automation via GitHub Actions."</a:t>
            </a:r>
            <a:endParaRPr lang="en-US" sz="700" dirty="0"/>
          </a:p>
        </p:txBody>
      </p:sp>
      <p:sp>
        <p:nvSpPr>
          <p:cNvPr id="18" name="Text 16"/>
          <p:cNvSpPr/>
          <p:nvPr/>
        </p:nvSpPr>
        <p:spPr>
          <a:xfrm>
            <a:off x="457200" y="2560320"/>
            <a:ext cx="2560320" cy="164592"/>
          </a:xfrm>
          <a:prstGeom prst="rect">
            <a:avLst/>
          </a:prstGeom>
          <a:noFill/>
          <a:ln/>
        </p:spPr>
        <p:txBody>
          <a:bodyPr wrap="square" rtlCol="0" anchor="ctr"/>
          <a:lstStyle/>
          <a:p>
            <a:pPr marL="0" indent="0">
              <a:buNone/>
            </a:pPr>
            <a:r>
              <a:rPr lang="en-US" sz="650" b="1" dirty="0">
                <a:solidFill>
                  <a:srgbClr val="484F58"/>
                </a:solidFill>
                <a:latin typeface="Segoe UI" pitchFamily="34" charset="0"/>
                <a:ea typeface="Segoe UI" pitchFamily="34" charset="-122"/>
                <a:cs typeface="Segoe UI" pitchFamily="34" charset="-120"/>
              </a:rPr>
              <a:t>Enterprise Cloud · Actions</a:t>
            </a:r>
            <a:endParaRPr lang="en-US" sz="650" dirty="0"/>
          </a:p>
        </p:txBody>
      </p:sp>
      <p:sp>
        <p:nvSpPr>
          <p:cNvPr id="19" name="Text 17"/>
          <p:cNvSpPr/>
          <p:nvPr/>
        </p:nvSpPr>
        <p:spPr>
          <a:xfrm>
            <a:off x="1645920" y="2560320"/>
            <a:ext cx="1371600" cy="164592"/>
          </a:xfrm>
          <a:prstGeom prst="rect">
            <a:avLst/>
          </a:prstGeom>
          <a:noFill/>
          <a:ln/>
        </p:spPr>
        <p:txBody>
          <a:bodyPr wrap="square" rtlCol="0" anchor="ctr"/>
          <a:lstStyle/>
          <a:p>
            <a:pPr marL="0" indent="0" algn="r">
              <a:buNone/>
            </a:pPr>
            <a:r>
              <a:rPr lang="en-US" sz="650" u="sng" dirty="0">
                <a:solidFill>
                  <a:srgbClr val="58A6FF"/>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Read full story →</a:t>
            </a:r>
            <a:endParaRPr lang="en-US" sz="650" dirty="0"/>
          </a:p>
        </p:txBody>
      </p:sp>
      <p:sp>
        <p:nvSpPr>
          <p:cNvPr id="20" name="Shape 18"/>
          <p:cNvSpPr/>
          <p:nvPr/>
        </p:nvSpPr>
        <p:spPr>
          <a:xfrm>
            <a:off x="3200400" y="804672"/>
            <a:ext cx="2743200" cy="2011680"/>
          </a:xfrm>
          <a:prstGeom prst="roundRect">
            <a:avLst>
              <a:gd name="adj" fmla="val 3182"/>
            </a:avLst>
          </a:prstGeom>
          <a:solidFill>
            <a:srgbClr val="161B22"/>
          </a:solidFill>
          <a:ln w="12700">
            <a:solidFill>
              <a:srgbClr val="30363D"/>
            </a:solidFill>
            <a:prstDash val="solid"/>
          </a:ln>
        </p:spPr>
        <p:txBody>
          <a:bodyPr/>
          <a:lstStyle/>
          <a:p>
            <a:endParaRPr lang="en-US"/>
          </a:p>
        </p:txBody>
      </p:sp>
      <p:sp>
        <p:nvSpPr>
          <p:cNvPr id="21" name="Shape 19"/>
          <p:cNvSpPr/>
          <p:nvPr/>
        </p:nvSpPr>
        <p:spPr>
          <a:xfrm>
            <a:off x="3291840" y="877824"/>
            <a:ext cx="777240" cy="155448"/>
          </a:xfrm>
          <a:prstGeom prst="roundRect">
            <a:avLst>
              <a:gd name="adj" fmla="val 23529"/>
            </a:avLst>
          </a:prstGeom>
          <a:solidFill>
            <a:srgbClr val="0D1117"/>
          </a:solidFill>
          <a:ln/>
        </p:spPr>
        <p:txBody>
          <a:bodyPr/>
          <a:lstStyle/>
          <a:p>
            <a:endParaRPr lang="en-US"/>
          </a:p>
        </p:txBody>
      </p:sp>
      <p:sp>
        <p:nvSpPr>
          <p:cNvPr id="22" name="Text 20"/>
          <p:cNvSpPr/>
          <p:nvPr/>
        </p:nvSpPr>
        <p:spPr>
          <a:xfrm>
            <a:off x="3291840" y="877824"/>
            <a:ext cx="777240" cy="155448"/>
          </a:xfrm>
          <a:prstGeom prst="rect">
            <a:avLst/>
          </a:prstGeom>
          <a:noFill/>
          <a:ln/>
        </p:spPr>
        <p:txBody>
          <a:bodyPr wrap="square" rtlCol="0" anchor="ctr"/>
          <a:lstStyle/>
          <a:p>
            <a:pPr marL="0" indent="0" algn="ctr">
              <a:buNone/>
            </a:pPr>
            <a:r>
              <a:rPr lang="en-US" sz="550" b="1" dirty="0">
                <a:solidFill>
                  <a:srgbClr val="58A6FF"/>
                </a:solidFill>
                <a:latin typeface="Segoe UI" pitchFamily="34" charset="0"/>
                <a:ea typeface="Segoe UI" pitchFamily="34" charset="-122"/>
                <a:cs typeface="Segoe UI" pitchFamily="34" charset="-120"/>
              </a:rPr>
              <a:t>FINTECH</a:t>
            </a:r>
            <a:endParaRPr lang="en-US" sz="550" dirty="0"/>
          </a:p>
        </p:txBody>
      </p:sp>
      <p:sp>
        <p:nvSpPr>
          <p:cNvPr id="23" name="Text 21"/>
          <p:cNvSpPr/>
          <p:nvPr/>
        </p:nvSpPr>
        <p:spPr>
          <a:xfrm>
            <a:off x="3291840" y="1078992"/>
            <a:ext cx="2514600" cy="201168"/>
          </a:xfrm>
          <a:prstGeom prst="rect">
            <a:avLst/>
          </a:prstGeom>
          <a:noFill/>
          <a:ln/>
        </p:spPr>
        <p:txBody>
          <a:bodyPr wrap="square" rtlCol="0" anchor="ctr"/>
          <a:lstStyle/>
          <a:p>
            <a:pPr marL="0" indent="0">
              <a:buNone/>
            </a:pPr>
            <a:r>
              <a:rPr lang="en-US" sz="1000" b="1" dirty="0">
                <a:solidFill>
                  <a:srgbClr val="F0F6FC"/>
                </a:solidFill>
                <a:latin typeface="Segoe UI" pitchFamily="34" charset="0"/>
                <a:ea typeface="Segoe UI" pitchFamily="34" charset="-122"/>
                <a:cs typeface="Segoe UI" pitchFamily="34" charset="-120"/>
              </a:rPr>
              <a:t>💳  Payments &amp; Banking</a:t>
            </a:r>
            <a:endParaRPr lang="en-US" sz="1000" dirty="0"/>
          </a:p>
        </p:txBody>
      </p:sp>
      <p:sp>
        <p:nvSpPr>
          <p:cNvPr id="24" name="Text 22"/>
          <p:cNvSpPr/>
          <p:nvPr/>
        </p:nvSpPr>
        <p:spPr>
          <a:xfrm>
            <a:off x="3291840" y="1298448"/>
            <a:ext cx="1371600" cy="164592"/>
          </a:xfrm>
          <a:prstGeom prst="rect">
            <a:avLst/>
          </a:prstGeom>
          <a:noFill/>
          <a:ln/>
        </p:spPr>
        <p:txBody>
          <a:bodyPr wrap="square" rtlCol="0" anchor="ctr"/>
          <a:lstStyle/>
          <a:p>
            <a:pPr marL="0" indent="0">
              <a:buNone/>
            </a:pPr>
            <a:r>
              <a:rPr lang="en-US" sz="900" b="1" u="sng" dirty="0">
                <a:solidFill>
                  <a:srgbClr val="58A6FF"/>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Stripe</a:t>
            </a:r>
            <a:endParaRPr lang="en-US" sz="900" dirty="0"/>
          </a:p>
        </p:txBody>
      </p:sp>
      <p:sp>
        <p:nvSpPr>
          <p:cNvPr id="25" name="Text 23"/>
          <p:cNvSpPr/>
          <p:nvPr/>
        </p:nvSpPr>
        <p:spPr>
          <a:xfrm>
            <a:off x="4572000" y="1298448"/>
            <a:ext cx="1280160" cy="164592"/>
          </a:xfrm>
          <a:prstGeom prst="rect">
            <a:avLst/>
          </a:prstGeom>
          <a:noFill/>
          <a:ln/>
        </p:spPr>
        <p:txBody>
          <a:bodyPr wrap="square" rtlCol="0" anchor="ctr"/>
          <a:lstStyle/>
          <a:p>
            <a:pPr marL="0" indent="0" algn="r">
              <a:buNone/>
            </a:pPr>
            <a:r>
              <a:rPr lang="en-US" sz="750" dirty="0">
                <a:solidFill>
                  <a:srgbClr val="8B949E"/>
                </a:solidFill>
                <a:latin typeface="Segoe UI" pitchFamily="34" charset="0"/>
                <a:ea typeface="Segoe UI" pitchFamily="34" charset="-122"/>
                <a:cs typeface="Segoe UI" pitchFamily="34" charset="-120"/>
              </a:rPr>
              <a:t>🇸🇬 Singapore hub</a:t>
            </a:r>
            <a:endParaRPr lang="en-US" sz="750" dirty="0"/>
          </a:p>
        </p:txBody>
      </p:sp>
      <p:sp>
        <p:nvSpPr>
          <p:cNvPr id="26" name="Shape 24"/>
          <p:cNvSpPr/>
          <p:nvPr/>
        </p:nvSpPr>
        <p:spPr>
          <a:xfrm>
            <a:off x="3291840" y="1499616"/>
            <a:ext cx="2560320" cy="3658"/>
          </a:xfrm>
          <a:prstGeom prst="rect">
            <a:avLst/>
          </a:prstGeom>
          <a:solidFill>
            <a:srgbClr val="30363D"/>
          </a:solidFill>
          <a:ln/>
        </p:spPr>
        <p:txBody>
          <a:bodyPr/>
          <a:lstStyle/>
          <a:p>
            <a:endParaRPr lang="en-US"/>
          </a:p>
        </p:txBody>
      </p:sp>
      <p:sp>
        <p:nvSpPr>
          <p:cNvPr id="27" name="Text 25"/>
          <p:cNvSpPr/>
          <p:nvPr/>
        </p:nvSpPr>
        <p:spPr>
          <a:xfrm>
            <a:off x="3291840" y="1554480"/>
            <a:ext cx="2560320" cy="868680"/>
          </a:xfrm>
          <a:prstGeom prst="rect">
            <a:avLst/>
          </a:prstGeom>
          <a:noFill/>
          <a:ln/>
        </p:spPr>
        <p:txBody>
          <a:bodyPr wrap="square" rtlCol="0" anchor="t"/>
          <a:lstStyle/>
          <a:p>
            <a:pPr marL="0" indent="0">
              <a:lnSpc>
                <a:spcPct val="120000"/>
              </a:lnSpc>
              <a:buNone/>
            </a:pPr>
            <a:r>
              <a:rPr lang="en-US" sz="700" i="1" dirty="0">
                <a:solidFill>
                  <a:srgbClr val="C9D1D9"/>
                </a:solidFill>
                <a:latin typeface="Segoe UI" pitchFamily="34" charset="0"/>
                <a:ea typeface="Segoe UI" pitchFamily="34" charset="-122"/>
                <a:cs typeface="Segoe UI" pitchFamily="34" charset="-120"/>
              </a:rPr>
              <a:t>"Live in 34 countries from its Singapore engineering hub. GitHub Enterprise at the heart of their DevOps."</a:t>
            </a:r>
            <a:endParaRPr lang="en-US" sz="700" dirty="0"/>
          </a:p>
        </p:txBody>
      </p:sp>
      <p:sp>
        <p:nvSpPr>
          <p:cNvPr id="28" name="Text 26"/>
          <p:cNvSpPr/>
          <p:nvPr/>
        </p:nvSpPr>
        <p:spPr>
          <a:xfrm>
            <a:off x="3291840" y="2560320"/>
            <a:ext cx="2560320" cy="164592"/>
          </a:xfrm>
          <a:prstGeom prst="rect">
            <a:avLst/>
          </a:prstGeom>
          <a:noFill/>
          <a:ln/>
        </p:spPr>
        <p:txBody>
          <a:bodyPr wrap="square" rtlCol="0" anchor="ctr"/>
          <a:lstStyle/>
          <a:p>
            <a:pPr marL="0" indent="0">
              <a:buNone/>
            </a:pPr>
            <a:r>
              <a:rPr lang="en-US" sz="650" b="1" dirty="0">
                <a:solidFill>
                  <a:srgbClr val="484F58"/>
                </a:solidFill>
                <a:latin typeface="Segoe UI" pitchFamily="34" charset="0"/>
                <a:ea typeface="Segoe UI" pitchFamily="34" charset="-122"/>
                <a:cs typeface="Segoe UI" pitchFamily="34" charset="-120"/>
              </a:rPr>
              <a:t>Enterprise · Open Source</a:t>
            </a:r>
            <a:endParaRPr lang="en-US" sz="650" dirty="0"/>
          </a:p>
        </p:txBody>
      </p:sp>
      <p:sp>
        <p:nvSpPr>
          <p:cNvPr id="29" name="Text 27"/>
          <p:cNvSpPr/>
          <p:nvPr/>
        </p:nvSpPr>
        <p:spPr>
          <a:xfrm>
            <a:off x="4480560" y="2560320"/>
            <a:ext cx="1371600" cy="164592"/>
          </a:xfrm>
          <a:prstGeom prst="rect">
            <a:avLst/>
          </a:prstGeom>
          <a:noFill/>
          <a:ln/>
        </p:spPr>
        <p:txBody>
          <a:bodyPr wrap="square" rtlCol="0" anchor="ctr"/>
          <a:lstStyle/>
          <a:p>
            <a:pPr marL="0" indent="0" algn="r">
              <a:buNone/>
            </a:pPr>
            <a:r>
              <a:rPr lang="en-US" sz="650" u="sng" dirty="0">
                <a:solidFill>
                  <a:srgbClr val="58A6FF"/>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Read full story →</a:t>
            </a:r>
            <a:endParaRPr lang="en-US" sz="650" dirty="0"/>
          </a:p>
        </p:txBody>
      </p:sp>
      <p:sp>
        <p:nvSpPr>
          <p:cNvPr id="30" name="Shape 28"/>
          <p:cNvSpPr/>
          <p:nvPr/>
        </p:nvSpPr>
        <p:spPr>
          <a:xfrm>
            <a:off x="6035040" y="804672"/>
            <a:ext cx="2743200" cy="2011680"/>
          </a:xfrm>
          <a:prstGeom prst="roundRect">
            <a:avLst>
              <a:gd name="adj" fmla="val 3182"/>
            </a:avLst>
          </a:prstGeom>
          <a:solidFill>
            <a:srgbClr val="161B22"/>
          </a:solidFill>
          <a:ln w="12700">
            <a:solidFill>
              <a:srgbClr val="30363D"/>
            </a:solidFill>
            <a:prstDash val="solid"/>
          </a:ln>
        </p:spPr>
        <p:txBody>
          <a:bodyPr/>
          <a:lstStyle/>
          <a:p>
            <a:endParaRPr lang="en-US"/>
          </a:p>
        </p:txBody>
      </p:sp>
      <p:sp>
        <p:nvSpPr>
          <p:cNvPr id="31" name="Shape 29"/>
          <p:cNvSpPr/>
          <p:nvPr/>
        </p:nvSpPr>
        <p:spPr>
          <a:xfrm>
            <a:off x="6126480" y="877824"/>
            <a:ext cx="777240" cy="155448"/>
          </a:xfrm>
          <a:prstGeom prst="roundRect">
            <a:avLst>
              <a:gd name="adj" fmla="val 23529"/>
            </a:avLst>
          </a:prstGeom>
          <a:solidFill>
            <a:srgbClr val="0D1117"/>
          </a:solidFill>
          <a:ln/>
        </p:spPr>
        <p:txBody>
          <a:bodyPr/>
          <a:lstStyle/>
          <a:p>
            <a:endParaRPr lang="en-US"/>
          </a:p>
        </p:txBody>
      </p:sp>
      <p:sp>
        <p:nvSpPr>
          <p:cNvPr id="32" name="Text 30"/>
          <p:cNvSpPr/>
          <p:nvPr/>
        </p:nvSpPr>
        <p:spPr>
          <a:xfrm>
            <a:off x="6126480" y="877824"/>
            <a:ext cx="777240" cy="155448"/>
          </a:xfrm>
          <a:prstGeom prst="rect">
            <a:avLst/>
          </a:prstGeom>
          <a:noFill/>
          <a:ln/>
        </p:spPr>
        <p:txBody>
          <a:bodyPr wrap="square" rtlCol="0" anchor="ctr"/>
          <a:lstStyle/>
          <a:p>
            <a:pPr marL="0" indent="0" algn="ctr">
              <a:buNone/>
            </a:pPr>
            <a:r>
              <a:rPr lang="en-US" sz="550" b="1" dirty="0">
                <a:solidFill>
                  <a:srgbClr val="F78166"/>
                </a:solidFill>
                <a:latin typeface="Segoe UI" pitchFamily="34" charset="0"/>
                <a:ea typeface="Segoe UI" pitchFamily="34" charset="-122"/>
                <a:cs typeface="Segoe UI" pitchFamily="34" charset="-120"/>
              </a:rPr>
              <a:t>TELECOMMUNICATIONS</a:t>
            </a:r>
            <a:endParaRPr lang="en-US" sz="550" dirty="0"/>
          </a:p>
        </p:txBody>
      </p:sp>
      <p:sp>
        <p:nvSpPr>
          <p:cNvPr id="33" name="Text 31"/>
          <p:cNvSpPr/>
          <p:nvPr/>
        </p:nvSpPr>
        <p:spPr>
          <a:xfrm>
            <a:off x="6126480" y="1078992"/>
            <a:ext cx="2514600" cy="201168"/>
          </a:xfrm>
          <a:prstGeom prst="rect">
            <a:avLst/>
          </a:prstGeom>
          <a:noFill/>
          <a:ln/>
        </p:spPr>
        <p:txBody>
          <a:bodyPr wrap="square" rtlCol="0" anchor="ctr"/>
          <a:lstStyle/>
          <a:p>
            <a:pPr marL="0" indent="0">
              <a:buNone/>
            </a:pPr>
            <a:r>
              <a:rPr lang="en-US" sz="1000" b="1" dirty="0">
                <a:solidFill>
                  <a:srgbClr val="F0F6FC"/>
                </a:solidFill>
                <a:latin typeface="Segoe UI" pitchFamily="34" charset="0"/>
                <a:ea typeface="Segoe UI" pitchFamily="34" charset="-122"/>
                <a:cs typeface="Segoe UI" pitchFamily="34" charset="-120"/>
              </a:rPr>
              <a:t>📡  Telco &amp; Connectivity</a:t>
            </a:r>
            <a:endParaRPr lang="en-US" sz="1000" dirty="0"/>
          </a:p>
        </p:txBody>
      </p:sp>
      <p:sp>
        <p:nvSpPr>
          <p:cNvPr id="34" name="Text 32"/>
          <p:cNvSpPr/>
          <p:nvPr/>
        </p:nvSpPr>
        <p:spPr>
          <a:xfrm>
            <a:off x="6126480" y="1298448"/>
            <a:ext cx="1371600" cy="164592"/>
          </a:xfrm>
          <a:prstGeom prst="rect">
            <a:avLst/>
          </a:prstGeom>
          <a:noFill/>
          <a:ln/>
        </p:spPr>
        <p:txBody>
          <a:bodyPr wrap="square" rtlCol="0" anchor="ctr"/>
          <a:lstStyle/>
          <a:p>
            <a:pPr marL="0" indent="0">
              <a:buNone/>
            </a:pPr>
            <a:r>
              <a:rPr lang="en-US" sz="900" b="1" u="sng" dirty="0">
                <a:solidFill>
                  <a:srgbClr val="F78166"/>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Vodafone</a:t>
            </a:r>
            <a:endParaRPr lang="en-US" sz="900" dirty="0"/>
          </a:p>
        </p:txBody>
      </p:sp>
      <p:sp>
        <p:nvSpPr>
          <p:cNvPr id="35" name="Text 33"/>
          <p:cNvSpPr/>
          <p:nvPr/>
        </p:nvSpPr>
        <p:spPr>
          <a:xfrm>
            <a:off x="7406640" y="1298448"/>
            <a:ext cx="1280160" cy="164592"/>
          </a:xfrm>
          <a:prstGeom prst="rect">
            <a:avLst/>
          </a:prstGeom>
          <a:noFill/>
          <a:ln/>
        </p:spPr>
        <p:txBody>
          <a:bodyPr wrap="square" rtlCol="0" anchor="ctr"/>
          <a:lstStyle/>
          <a:p>
            <a:pPr marL="0" indent="0" algn="r">
              <a:buNone/>
            </a:pPr>
            <a:r>
              <a:rPr lang="en-US" sz="750" dirty="0">
                <a:solidFill>
                  <a:srgbClr val="8B949E"/>
                </a:solidFill>
                <a:latin typeface="Segoe UI" pitchFamily="34" charset="0"/>
                <a:ea typeface="Segoe UI" pitchFamily="34" charset="-122"/>
                <a:cs typeface="Segoe UI" pitchFamily="34" charset="-120"/>
              </a:rPr>
              <a:t>🌏 21 countries</a:t>
            </a:r>
            <a:endParaRPr lang="en-US" sz="750" dirty="0"/>
          </a:p>
        </p:txBody>
      </p:sp>
      <p:sp>
        <p:nvSpPr>
          <p:cNvPr id="36" name="Shape 34"/>
          <p:cNvSpPr/>
          <p:nvPr/>
        </p:nvSpPr>
        <p:spPr>
          <a:xfrm>
            <a:off x="6126480" y="1499616"/>
            <a:ext cx="2560320" cy="3658"/>
          </a:xfrm>
          <a:prstGeom prst="rect">
            <a:avLst/>
          </a:prstGeom>
          <a:solidFill>
            <a:srgbClr val="30363D"/>
          </a:solidFill>
          <a:ln/>
        </p:spPr>
        <p:txBody>
          <a:bodyPr/>
          <a:lstStyle/>
          <a:p>
            <a:endParaRPr lang="en-US"/>
          </a:p>
        </p:txBody>
      </p:sp>
      <p:sp>
        <p:nvSpPr>
          <p:cNvPr id="37" name="Text 35"/>
          <p:cNvSpPr/>
          <p:nvPr/>
        </p:nvSpPr>
        <p:spPr>
          <a:xfrm>
            <a:off x="6126480" y="1554480"/>
            <a:ext cx="2560320" cy="868680"/>
          </a:xfrm>
          <a:prstGeom prst="rect">
            <a:avLst/>
          </a:prstGeom>
          <a:noFill/>
          <a:ln/>
        </p:spPr>
        <p:txBody>
          <a:bodyPr wrap="square" rtlCol="0" anchor="t"/>
          <a:lstStyle/>
          <a:p>
            <a:pPr marL="0" indent="0">
              <a:lnSpc>
                <a:spcPct val="120000"/>
              </a:lnSpc>
              <a:buNone/>
            </a:pPr>
            <a:r>
              <a:rPr lang="en-US" sz="700" i="1" dirty="0">
                <a:solidFill>
                  <a:srgbClr val="C9D1D9"/>
                </a:solidFill>
                <a:latin typeface="Segoe UI" pitchFamily="34" charset="0"/>
                <a:ea typeface="Segoe UI" pitchFamily="34" charset="-122"/>
                <a:cs typeface="Segoe UI" pitchFamily="34" charset="-120"/>
              </a:rPr>
              <a:t>"9,000+ devs across 12 countries unified on GitHub Enterprise. CI with Actions driving cultural shift."</a:t>
            </a:r>
            <a:endParaRPr lang="en-US" sz="700" dirty="0"/>
          </a:p>
        </p:txBody>
      </p:sp>
      <p:sp>
        <p:nvSpPr>
          <p:cNvPr id="38" name="Text 36"/>
          <p:cNvSpPr/>
          <p:nvPr/>
        </p:nvSpPr>
        <p:spPr>
          <a:xfrm>
            <a:off x="6126480" y="2560320"/>
            <a:ext cx="2560320" cy="164592"/>
          </a:xfrm>
          <a:prstGeom prst="rect">
            <a:avLst/>
          </a:prstGeom>
          <a:noFill/>
          <a:ln/>
        </p:spPr>
        <p:txBody>
          <a:bodyPr wrap="square" rtlCol="0" anchor="ctr"/>
          <a:lstStyle/>
          <a:p>
            <a:pPr marL="0" indent="0">
              <a:buNone/>
            </a:pPr>
            <a:r>
              <a:rPr lang="en-US" sz="650" b="1" dirty="0">
                <a:solidFill>
                  <a:srgbClr val="484F58"/>
                </a:solidFill>
                <a:latin typeface="Segoe UI" pitchFamily="34" charset="0"/>
                <a:ea typeface="Segoe UI" pitchFamily="34" charset="-122"/>
                <a:cs typeface="Segoe UI" pitchFamily="34" charset="-120"/>
              </a:rPr>
              <a:t>Enterprise · Actions · GHAS</a:t>
            </a:r>
            <a:endParaRPr lang="en-US" sz="650" dirty="0"/>
          </a:p>
        </p:txBody>
      </p:sp>
      <p:sp>
        <p:nvSpPr>
          <p:cNvPr id="39" name="Text 37"/>
          <p:cNvSpPr/>
          <p:nvPr/>
        </p:nvSpPr>
        <p:spPr>
          <a:xfrm>
            <a:off x="7315200" y="2560320"/>
            <a:ext cx="1371600" cy="164592"/>
          </a:xfrm>
          <a:prstGeom prst="rect">
            <a:avLst/>
          </a:prstGeom>
          <a:noFill/>
          <a:ln/>
        </p:spPr>
        <p:txBody>
          <a:bodyPr wrap="square" rtlCol="0" anchor="ctr"/>
          <a:lstStyle/>
          <a:p>
            <a:pPr marL="0" indent="0" algn="r">
              <a:buNone/>
            </a:pPr>
            <a:r>
              <a:rPr lang="en-US" sz="650" u="sng" dirty="0">
                <a:solidFill>
                  <a:srgbClr val="58A6FF"/>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Read full story →</a:t>
            </a:r>
            <a:endParaRPr lang="en-US" sz="650" dirty="0"/>
          </a:p>
        </p:txBody>
      </p:sp>
      <p:sp>
        <p:nvSpPr>
          <p:cNvPr id="40" name="Shape 38"/>
          <p:cNvSpPr/>
          <p:nvPr/>
        </p:nvSpPr>
        <p:spPr>
          <a:xfrm>
            <a:off x="365760" y="2907792"/>
            <a:ext cx="2743200" cy="2011680"/>
          </a:xfrm>
          <a:prstGeom prst="roundRect">
            <a:avLst>
              <a:gd name="adj" fmla="val 3182"/>
            </a:avLst>
          </a:prstGeom>
          <a:solidFill>
            <a:srgbClr val="161B22"/>
          </a:solidFill>
          <a:ln w="12700">
            <a:solidFill>
              <a:srgbClr val="30363D"/>
            </a:solidFill>
            <a:prstDash val="solid"/>
          </a:ln>
        </p:spPr>
        <p:txBody>
          <a:bodyPr/>
          <a:lstStyle/>
          <a:p>
            <a:endParaRPr lang="en-US"/>
          </a:p>
        </p:txBody>
      </p:sp>
      <p:sp>
        <p:nvSpPr>
          <p:cNvPr id="41" name="Shape 39"/>
          <p:cNvSpPr/>
          <p:nvPr/>
        </p:nvSpPr>
        <p:spPr>
          <a:xfrm>
            <a:off x="457200" y="2980944"/>
            <a:ext cx="777240" cy="155448"/>
          </a:xfrm>
          <a:prstGeom prst="roundRect">
            <a:avLst>
              <a:gd name="adj" fmla="val 23529"/>
            </a:avLst>
          </a:prstGeom>
          <a:solidFill>
            <a:srgbClr val="0D1117"/>
          </a:solidFill>
          <a:ln/>
        </p:spPr>
        <p:txBody>
          <a:bodyPr/>
          <a:lstStyle/>
          <a:p>
            <a:endParaRPr lang="en-US"/>
          </a:p>
        </p:txBody>
      </p:sp>
      <p:sp>
        <p:nvSpPr>
          <p:cNvPr id="42" name="Text 40"/>
          <p:cNvSpPr/>
          <p:nvPr/>
        </p:nvSpPr>
        <p:spPr>
          <a:xfrm>
            <a:off x="457200" y="2980944"/>
            <a:ext cx="777240" cy="155448"/>
          </a:xfrm>
          <a:prstGeom prst="rect">
            <a:avLst/>
          </a:prstGeom>
          <a:noFill/>
          <a:ln/>
        </p:spPr>
        <p:txBody>
          <a:bodyPr wrap="square" rtlCol="0" anchor="ctr"/>
          <a:lstStyle/>
          <a:p>
            <a:pPr marL="0" indent="0" algn="ctr">
              <a:buNone/>
            </a:pPr>
            <a:r>
              <a:rPr lang="en-US" sz="550" b="1" dirty="0">
                <a:solidFill>
                  <a:srgbClr val="D2A8FF"/>
                </a:solidFill>
                <a:latin typeface="Segoe UI" pitchFamily="34" charset="0"/>
                <a:ea typeface="Segoe UI" pitchFamily="34" charset="-122"/>
                <a:cs typeface="Segoe UI" pitchFamily="34" charset="-120"/>
              </a:rPr>
              <a:t>AUTOMOTIVE</a:t>
            </a:r>
            <a:endParaRPr lang="en-US" sz="550" dirty="0"/>
          </a:p>
        </p:txBody>
      </p:sp>
      <p:sp>
        <p:nvSpPr>
          <p:cNvPr id="43" name="Text 41"/>
          <p:cNvSpPr/>
          <p:nvPr/>
        </p:nvSpPr>
        <p:spPr>
          <a:xfrm>
            <a:off x="457200" y="3182112"/>
            <a:ext cx="2514600" cy="201168"/>
          </a:xfrm>
          <a:prstGeom prst="rect">
            <a:avLst/>
          </a:prstGeom>
          <a:noFill/>
          <a:ln/>
        </p:spPr>
        <p:txBody>
          <a:bodyPr wrap="square" rtlCol="0" anchor="ctr"/>
          <a:lstStyle/>
          <a:p>
            <a:pPr marL="0" indent="0">
              <a:buNone/>
            </a:pPr>
            <a:r>
              <a:rPr lang="en-US" sz="1000" b="1" dirty="0">
                <a:solidFill>
                  <a:srgbClr val="F0F6FC"/>
                </a:solidFill>
                <a:latin typeface="Segoe UI" pitchFamily="34" charset="0"/>
                <a:ea typeface="Segoe UI" pitchFamily="34" charset="-122"/>
                <a:cs typeface="Segoe UI" pitchFamily="34" charset="-120"/>
              </a:rPr>
              <a:t>🚗  Mobility &amp; Manufacturing</a:t>
            </a:r>
            <a:endParaRPr lang="en-US" sz="1000" dirty="0"/>
          </a:p>
        </p:txBody>
      </p:sp>
      <p:sp>
        <p:nvSpPr>
          <p:cNvPr id="44" name="Text 42"/>
          <p:cNvSpPr/>
          <p:nvPr/>
        </p:nvSpPr>
        <p:spPr>
          <a:xfrm>
            <a:off x="457200" y="3401568"/>
            <a:ext cx="1371600" cy="164592"/>
          </a:xfrm>
          <a:prstGeom prst="rect">
            <a:avLst/>
          </a:prstGeom>
          <a:noFill/>
          <a:ln/>
        </p:spPr>
        <p:txBody>
          <a:bodyPr wrap="square" rtlCol="0" anchor="ctr"/>
          <a:lstStyle/>
          <a:p>
            <a:pPr marL="0" indent="0">
              <a:buNone/>
            </a:pPr>
            <a:r>
              <a:rPr lang="en-US" sz="900" b="1" u="sng" dirty="0">
                <a:solidFill>
                  <a:srgbClr val="D2A8FF"/>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Mercedes-Benz</a:t>
            </a:r>
            <a:endParaRPr lang="en-US" sz="900" dirty="0"/>
          </a:p>
        </p:txBody>
      </p:sp>
      <p:sp>
        <p:nvSpPr>
          <p:cNvPr id="45" name="Text 43"/>
          <p:cNvSpPr/>
          <p:nvPr/>
        </p:nvSpPr>
        <p:spPr>
          <a:xfrm>
            <a:off x="1737360" y="3401568"/>
            <a:ext cx="1280160" cy="164592"/>
          </a:xfrm>
          <a:prstGeom prst="rect">
            <a:avLst/>
          </a:prstGeom>
          <a:noFill/>
          <a:ln/>
        </p:spPr>
        <p:txBody>
          <a:bodyPr wrap="square" rtlCol="0" anchor="ctr"/>
          <a:lstStyle/>
          <a:p>
            <a:pPr marL="0" indent="0" algn="r">
              <a:buNone/>
            </a:pPr>
            <a:r>
              <a:rPr lang="en-US" sz="750" dirty="0">
                <a:solidFill>
                  <a:srgbClr val="8B949E"/>
                </a:solidFill>
                <a:latin typeface="Segoe UI" pitchFamily="34" charset="0"/>
                <a:ea typeface="Segoe UI" pitchFamily="34" charset="-122"/>
                <a:cs typeface="Segoe UI" pitchFamily="34" charset="-120"/>
              </a:rPr>
              <a:t>🌏 Global</a:t>
            </a:r>
            <a:endParaRPr lang="en-US" sz="750" dirty="0"/>
          </a:p>
        </p:txBody>
      </p:sp>
      <p:sp>
        <p:nvSpPr>
          <p:cNvPr id="46" name="Shape 44"/>
          <p:cNvSpPr/>
          <p:nvPr/>
        </p:nvSpPr>
        <p:spPr>
          <a:xfrm>
            <a:off x="457200" y="3602736"/>
            <a:ext cx="2560320" cy="3658"/>
          </a:xfrm>
          <a:prstGeom prst="rect">
            <a:avLst/>
          </a:prstGeom>
          <a:solidFill>
            <a:srgbClr val="30363D"/>
          </a:solidFill>
          <a:ln/>
        </p:spPr>
        <p:txBody>
          <a:bodyPr/>
          <a:lstStyle/>
          <a:p>
            <a:endParaRPr lang="en-US"/>
          </a:p>
        </p:txBody>
      </p:sp>
      <p:sp>
        <p:nvSpPr>
          <p:cNvPr id="47" name="Text 45"/>
          <p:cNvSpPr/>
          <p:nvPr/>
        </p:nvSpPr>
        <p:spPr>
          <a:xfrm>
            <a:off x="457200" y="3657600"/>
            <a:ext cx="2560320" cy="868680"/>
          </a:xfrm>
          <a:prstGeom prst="rect">
            <a:avLst/>
          </a:prstGeom>
          <a:noFill/>
          <a:ln/>
        </p:spPr>
        <p:txBody>
          <a:bodyPr wrap="square" rtlCol="0" anchor="t"/>
          <a:lstStyle/>
          <a:p>
            <a:pPr marL="0" indent="0">
              <a:lnSpc>
                <a:spcPct val="120000"/>
              </a:lnSpc>
              <a:buNone/>
            </a:pPr>
            <a:r>
              <a:rPr lang="en-US" sz="700" i="1" dirty="0">
                <a:solidFill>
                  <a:srgbClr val="C9D1D9"/>
                </a:solidFill>
                <a:latin typeface="Segoe UI" pitchFamily="34" charset="0"/>
                <a:ea typeface="Segoe UI" pitchFamily="34" charset="-122"/>
                <a:cs typeface="Segoe UI" pitchFamily="34" charset="-120"/>
              </a:rPr>
              <a:t>"55,000+ devs accepted 2M+ lines of Copilot code. 115K repos across 4,300 orgs."</a:t>
            </a:r>
            <a:endParaRPr lang="en-US" sz="700" dirty="0"/>
          </a:p>
        </p:txBody>
      </p:sp>
      <p:sp>
        <p:nvSpPr>
          <p:cNvPr id="48" name="Text 46"/>
          <p:cNvSpPr/>
          <p:nvPr/>
        </p:nvSpPr>
        <p:spPr>
          <a:xfrm>
            <a:off x="457200" y="4663440"/>
            <a:ext cx="2560320" cy="164592"/>
          </a:xfrm>
          <a:prstGeom prst="rect">
            <a:avLst/>
          </a:prstGeom>
          <a:noFill/>
          <a:ln/>
        </p:spPr>
        <p:txBody>
          <a:bodyPr wrap="square" rtlCol="0" anchor="ctr"/>
          <a:lstStyle/>
          <a:p>
            <a:pPr marL="0" indent="0">
              <a:buNone/>
            </a:pPr>
            <a:r>
              <a:rPr lang="en-US" sz="650" b="1" dirty="0">
                <a:solidFill>
                  <a:srgbClr val="484F58"/>
                </a:solidFill>
                <a:latin typeface="Segoe UI" pitchFamily="34" charset="0"/>
                <a:ea typeface="Segoe UI" pitchFamily="34" charset="-122"/>
                <a:cs typeface="Segoe UI" pitchFamily="34" charset="-120"/>
              </a:rPr>
              <a:t>Enterprise · Copilot · Actions</a:t>
            </a:r>
            <a:endParaRPr lang="en-US" sz="650" dirty="0"/>
          </a:p>
        </p:txBody>
      </p:sp>
      <p:sp>
        <p:nvSpPr>
          <p:cNvPr id="49" name="Text 47"/>
          <p:cNvSpPr/>
          <p:nvPr/>
        </p:nvSpPr>
        <p:spPr>
          <a:xfrm>
            <a:off x="1645920" y="4663440"/>
            <a:ext cx="1371600" cy="164592"/>
          </a:xfrm>
          <a:prstGeom prst="rect">
            <a:avLst/>
          </a:prstGeom>
          <a:noFill/>
          <a:ln/>
        </p:spPr>
        <p:txBody>
          <a:bodyPr wrap="square" rtlCol="0" anchor="ctr"/>
          <a:lstStyle/>
          <a:p>
            <a:pPr marL="0" indent="0" algn="r">
              <a:buNone/>
            </a:pPr>
            <a:r>
              <a:rPr lang="en-US" sz="650" u="sng" dirty="0">
                <a:solidFill>
                  <a:srgbClr val="58A6FF"/>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Read full story →</a:t>
            </a:r>
            <a:endParaRPr lang="en-US" sz="650" dirty="0"/>
          </a:p>
        </p:txBody>
      </p:sp>
      <p:sp>
        <p:nvSpPr>
          <p:cNvPr id="50" name="Shape 48"/>
          <p:cNvSpPr/>
          <p:nvPr/>
        </p:nvSpPr>
        <p:spPr>
          <a:xfrm>
            <a:off x="3200400" y="2907792"/>
            <a:ext cx="2743200" cy="2011680"/>
          </a:xfrm>
          <a:prstGeom prst="roundRect">
            <a:avLst>
              <a:gd name="adj" fmla="val 3182"/>
            </a:avLst>
          </a:prstGeom>
          <a:solidFill>
            <a:srgbClr val="161B22"/>
          </a:solidFill>
          <a:ln w="12700">
            <a:solidFill>
              <a:srgbClr val="30363D"/>
            </a:solidFill>
            <a:prstDash val="solid"/>
          </a:ln>
        </p:spPr>
        <p:txBody>
          <a:bodyPr/>
          <a:lstStyle/>
          <a:p>
            <a:endParaRPr lang="en-US"/>
          </a:p>
        </p:txBody>
      </p:sp>
      <p:sp>
        <p:nvSpPr>
          <p:cNvPr id="51" name="Shape 49"/>
          <p:cNvSpPr/>
          <p:nvPr/>
        </p:nvSpPr>
        <p:spPr>
          <a:xfrm>
            <a:off x="3291840" y="2980944"/>
            <a:ext cx="777240" cy="155448"/>
          </a:xfrm>
          <a:prstGeom prst="roundRect">
            <a:avLst>
              <a:gd name="adj" fmla="val 23529"/>
            </a:avLst>
          </a:prstGeom>
          <a:solidFill>
            <a:srgbClr val="0D1117"/>
          </a:solidFill>
          <a:ln/>
        </p:spPr>
        <p:txBody>
          <a:bodyPr/>
          <a:lstStyle/>
          <a:p>
            <a:endParaRPr lang="en-US"/>
          </a:p>
        </p:txBody>
      </p:sp>
      <p:sp>
        <p:nvSpPr>
          <p:cNvPr id="52" name="Text 50"/>
          <p:cNvSpPr/>
          <p:nvPr/>
        </p:nvSpPr>
        <p:spPr>
          <a:xfrm>
            <a:off x="3291840" y="2980944"/>
            <a:ext cx="777240" cy="155448"/>
          </a:xfrm>
          <a:prstGeom prst="rect">
            <a:avLst/>
          </a:prstGeom>
          <a:noFill/>
          <a:ln/>
        </p:spPr>
        <p:txBody>
          <a:bodyPr wrap="square" rtlCol="0" anchor="ctr"/>
          <a:lstStyle/>
          <a:p>
            <a:pPr marL="0" indent="0" algn="ctr">
              <a:buNone/>
            </a:pPr>
            <a:r>
              <a:rPr lang="en-US" sz="550" b="1" dirty="0">
                <a:solidFill>
                  <a:srgbClr val="F85149"/>
                </a:solidFill>
                <a:latin typeface="Segoe UI" pitchFamily="34" charset="0"/>
                <a:ea typeface="Segoe UI" pitchFamily="34" charset="-122"/>
                <a:cs typeface="Segoe UI" pitchFamily="34" charset="-120"/>
              </a:rPr>
              <a:t>HEALTH TECH</a:t>
            </a:r>
            <a:endParaRPr lang="en-US" sz="550" dirty="0"/>
          </a:p>
        </p:txBody>
      </p:sp>
      <p:sp>
        <p:nvSpPr>
          <p:cNvPr id="53" name="Text 51"/>
          <p:cNvSpPr/>
          <p:nvPr/>
        </p:nvSpPr>
        <p:spPr>
          <a:xfrm>
            <a:off x="3291840" y="3182112"/>
            <a:ext cx="2514600" cy="201168"/>
          </a:xfrm>
          <a:prstGeom prst="rect">
            <a:avLst/>
          </a:prstGeom>
          <a:noFill/>
          <a:ln/>
        </p:spPr>
        <p:txBody>
          <a:bodyPr wrap="square" rtlCol="0" anchor="ctr"/>
          <a:lstStyle/>
          <a:p>
            <a:pPr marL="0" indent="0">
              <a:buNone/>
            </a:pPr>
            <a:r>
              <a:rPr lang="en-US" sz="1000" b="1" dirty="0">
                <a:solidFill>
                  <a:srgbClr val="F0F6FC"/>
                </a:solidFill>
                <a:latin typeface="Segoe UI" pitchFamily="34" charset="0"/>
                <a:ea typeface="Segoe UI" pitchFamily="34" charset="-122"/>
                <a:cs typeface="Segoe UI" pitchFamily="34" charset="-120"/>
              </a:rPr>
              <a:t>🏥  Healthcare &amp; MedTech</a:t>
            </a:r>
            <a:endParaRPr lang="en-US" sz="1000" dirty="0"/>
          </a:p>
        </p:txBody>
      </p:sp>
      <p:sp>
        <p:nvSpPr>
          <p:cNvPr id="54" name="Text 52"/>
          <p:cNvSpPr/>
          <p:nvPr/>
        </p:nvSpPr>
        <p:spPr>
          <a:xfrm>
            <a:off x="3291840" y="3401568"/>
            <a:ext cx="1371600" cy="164592"/>
          </a:xfrm>
          <a:prstGeom prst="rect">
            <a:avLst/>
          </a:prstGeom>
          <a:noFill/>
          <a:ln/>
        </p:spPr>
        <p:txBody>
          <a:bodyPr wrap="square" rtlCol="0" anchor="ctr"/>
          <a:lstStyle/>
          <a:p>
            <a:pPr marL="0" indent="0">
              <a:buNone/>
            </a:pPr>
            <a:r>
              <a:rPr lang="en-US" sz="900" b="1" u="sng" dirty="0">
                <a:solidFill>
                  <a:srgbClr val="F85149"/>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Philips</a:t>
            </a:r>
            <a:endParaRPr lang="en-US" sz="900" dirty="0"/>
          </a:p>
        </p:txBody>
      </p:sp>
      <p:sp>
        <p:nvSpPr>
          <p:cNvPr id="55" name="Text 53"/>
          <p:cNvSpPr/>
          <p:nvPr/>
        </p:nvSpPr>
        <p:spPr>
          <a:xfrm>
            <a:off x="4572000" y="3401568"/>
            <a:ext cx="1280160" cy="164592"/>
          </a:xfrm>
          <a:prstGeom prst="rect">
            <a:avLst/>
          </a:prstGeom>
          <a:noFill/>
          <a:ln/>
        </p:spPr>
        <p:txBody>
          <a:bodyPr wrap="square" rtlCol="0" anchor="ctr"/>
          <a:lstStyle/>
          <a:p>
            <a:pPr marL="0" indent="0" algn="r">
              <a:buNone/>
            </a:pPr>
            <a:r>
              <a:rPr lang="en-US" sz="750" dirty="0">
                <a:solidFill>
                  <a:srgbClr val="8B949E"/>
                </a:solidFill>
                <a:latin typeface="Segoe UI" pitchFamily="34" charset="0"/>
                <a:ea typeface="Segoe UI" pitchFamily="34" charset="-122"/>
                <a:cs typeface="Segoe UI" pitchFamily="34" charset="-120"/>
              </a:rPr>
              <a:t>🌏 Global</a:t>
            </a:r>
            <a:endParaRPr lang="en-US" sz="750" dirty="0"/>
          </a:p>
        </p:txBody>
      </p:sp>
      <p:sp>
        <p:nvSpPr>
          <p:cNvPr id="56" name="Shape 54"/>
          <p:cNvSpPr/>
          <p:nvPr/>
        </p:nvSpPr>
        <p:spPr>
          <a:xfrm>
            <a:off x="3291840" y="3602736"/>
            <a:ext cx="2560320" cy="3658"/>
          </a:xfrm>
          <a:prstGeom prst="rect">
            <a:avLst/>
          </a:prstGeom>
          <a:solidFill>
            <a:srgbClr val="30363D"/>
          </a:solidFill>
          <a:ln/>
        </p:spPr>
        <p:txBody>
          <a:bodyPr/>
          <a:lstStyle/>
          <a:p>
            <a:endParaRPr lang="en-US"/>
          </a:p>
        </p:txBody>
      </p:sp>
      <p:sp>
        <p:nvSpPr>
          <p:cNvPr id="57" name="Text 55"/>
          <p:cNvSpPr/>
          <p:nvPr/>
        </p:nvSpPr>
        <p:spPr>
          <a:xfrm>
            <a:off x="3291840" y="3657600"/>
            <a:ext cx="2560320" cy="868680"/>
          </a:xfrm>
          <a:prstGeom prst="rect">
            <a:avLst/>
          </a:prstGeom>
          <a:noFill/>
          <a:ln/>
        </p:spPr>
        <p:txBody>
          <a:bodyPr wrap="square" rtlCol="0" anchor="t"/>
          <a:lstStyle/>
          <a:p>
            <a:pPr marL="0" indent="0">
              <a:lnSpc>
                <a:spcPct val="120000"/>
              </a:lnSpc>
              <a:buNone/>
            </a:pPr>
            <a:r>
              <a:rPr lang="en-US" sz="700" i="1" dirty="0">
                <a:solidFill>
                  <a:srgbClr val="C9D1D9"/>
                </a:solidFill>
                <a:latin typeface="Segoe UI" pitchFamily="34" charset="0"/>
                <a:ea typeface="Segoe UI" pitchFamily="34" charset="-122"/>
                <a:cs typeface="Segoe UI" pitchFamily="34" charset="-120"/>
              </a:rPr>
              <a:t>"6,000+ devs, 85% of code innersourced. GitHub accelerating innovation to improve 2.5B lives/yr."</a:t>
            </a:r>
            <a:endParaRPr lang="en-US" sz="700" dirty="0"/>
          </a:p>
        </p:txBody>
      </p:sp>
      <p:sp>
        <p:nvSpPr>
          <p:cNvPr id="58" name="Text 56"/>
          <p:cNvSpPr/>
          <p:nvPr/>
        </p:nvSpPr>
        <p:spPr>
          <a:xfrm>
            <a:off x="3291840" y="4663440"/>
            <a:ext cx="2560320" cy="164592"/>
          </a:xfrm>
          <a:prstGeom prst="rect">
            <a:avLst/>
          </a:prstGeom>
          <a:noFill/>
          <a:ln/>
        </p:spPr>
        <p:txBody>
          <a:bodyPr wrap="square" rtlCol="0" anchor="ctr"/>
          <a:lstStyle/>
          <a:p>
            <a:pPr marL="0" indent="0">
              <a:buNone/>
            </a:pPr>
            <a:r>
              <a:rPr lang="en-US" sz="650" b="1" dirty="0">
                <a:solidFill>
                  <a:srgbClr val="484F58"/>
                </a:solidFill>
                <a:latin typeface="Segoe UI" pitchFamily="34" charset="0"/>
                <a:ea typeface="Segoe UI" pitchFamily="34" charset="-122"/>
                <a:cs typeface="Segoe UI" pitchFamily="34" charset="-120"/>
              </a:rPr>
              <a:t>Enterprise Cloud · Actions</a:t>
            </a:r>
            <a:endParaRPr lang="en-US" sz="650" dirty="0"/>
          </a:p>
        </p:txBody>
      </p:sp>
      <p:sp>
        <p:nvSpPr>
          <p:cNvPr id="59" name="Text 57"/>
          <p:cNvSpPr/>
          <p:nvPr/>
        </p:nvSpPr>
        <p:spPr>
          <a:xfrm>
            <a:off x="4480560" y="4663440"/>
            <a:ext cx="1371600" cy="164592"/>
          </a:xfrm>
          <a:prstGeom prst="rect">
            <a:avLst/>
          </a:prstGeom>
          <a:noFill/>
          <a:ln/>
        </p:spPr>
        <p:txBody>
          <a:bodyPr wrap="square" rtlCol="0" anchor="ctr"/>
          <a:lstStyle/>
          <a:p>
            <a:pPr marL="0" indent="0" algn="r">
              <a:buNone/>
            </a:pPr>
            <a:r>
              <a:rPr lang="en-US" sz="650" u="sng" dirty="0">
                <a:solidFill>
                  <a:srgbClr val="58A6FF"/>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Read full story →</a:t>
            </a:r>
            <a:endParaRPr lang="en-US" sz="650" dirty="0"/>
          </a:p>
        </p:txBody>
      </p:sp>
      <p:sp>
        <p:nvSpPr>
          <p:cNvPr id="60" name="Shape 58"/>
          <p:cNvSpPr/>
          <p:nvPr/>
        </p:nvSpPr>
        <p:spPr>
          <a:xfrm>
            <a:off x="6035040" y="2907792"/>
            <a:ext cx="2743200" cy="2011680"/>
          </a:xfrm>
          <a:prstGeom prst="roundRect">
            <a:avLst>
              <a:gd name="adj" fmla="val 3182"/>
            </a:avLst>
          </a:prstGeom>
          <a:solidFill>
            <a:srgbClr val="161B22"/>
          </a:solidFill>
          <a:ln w="12700">
            <a:solidFill>
              <a:srgbClr val="30363D"/>
            </a:solidFill>
            <a:prstDash val="solid"/>
          </a:ln>
        </p:spPr>
        <p:txBody>
          <a:bodyPr/>
          <a:lstStyle/>
          <a:p>
            <a:endParaRPr lang="en-US"/>
          </a:p>
        </p:txBody>
      </p:sp>
      <p:sp>
        <p:nvSpPr>
          <p:cNvPr id="61" name="Shape 59"/>
          <p:cNvSpPr/>
          <p:nvPr/>
        </p:nvSpPr>
        <p:spPr>
          <a:xfrm>
            <a:off x="6126480" y="2980944"/>
            <a:ext cx="777240" cy="155448"/>
          </a:xfrm>
          <a:prstGeom prst="roundRect">
            <a:avLst>
              <a:gd name="adj" fmla="val 23529"/>
            </a:avLst>
          </a:prstGeom>
          <a:solidFill>
            <a:srgbClr val="0D1117"/>
          </a:solidFill>
          <a:ln/>
        </p:spPr>
        <p:txBody>
          <a:bodyPr/>
          <a:lstStyle/>
          <a:p>
            <a:endParaRPr lang="en-US"/>
          </a:p>
        </p:txBody>
      </p:sp>
      <p:sp>
        <p:nvSpPr>
          <p:cNvPr id="62" name="Text 60"/>
          <p:cNvSpPr/>
          <p:nvPr/>
        </p:nvSpPr>
        <p:spPr>
          <a:xfrm>
            <a:off x="6126480" y="2980944"/>
            <a:ext cx="777240" cy="155448"/>
          </a:xfrm>
          <a:prstGeom prst="rect">
            <a:avLst/>
          </a:prstGeom>
          <a:noFill/>
          <a:ln/>
        </p:spPr>
        <p:txBody>
          <a:bodyPr wrap="square" rtlCol="0" anchor="ctr"/>
          <a:lstStyle/>
          <a:p>
            <a:pPr marL="0" indent="0" algn="ctr">
              <a:buNone/>
            </a:pPr>
            <a:r>
              <a:rPr lang="en-US" sz="550" b="1" dirty="0">
                <a:solidFill>
                  <a:srgbClr val="79C0FF"/>
                </a:solidFill>
                <a:latin typeface="Segoe UI" pitchFamily="34" charset="0"/>
                <a:ea typeface="Segoe UI" pitchFamily="34" charset="-122"/>
                <a:cs typeface="Segoe UI" pitchFamily="34" charset="-120"/>
              </a:rPr>
              <a:t>EDUCATION</a:t>
            </a:r>
            <a:endParaRPr lang="en-US" sz="550" dirty="0"/>
          </a:p>
        </p:txBody>
      </p:sp>
      <p:sp>
        <p:nvSpPr>
          <p:cNvPr id="63" name="Text 61"/>
          <p:cNvSpPr/>
          <p:nvPr/>
        </p:nvSpPr>
        <p:spPr>
          <a:xfrm>
            <a:off x="6126480" y="3182112"/>
            <a:ext cx="2514600" cy="201168"/>
          </a:xfrm>
          <a:prstGeom prst="rect">
            <a:avLst/>
          </a:prstGeom>
          <a:noFill/>
          <a:ln/>
        </p:spPr>
        <p:txBody>
          <a:bodyPr wrap="square" rtlCol="0" anchor="ctr"/>
          <a:lstStyle/>
          <a:p>
            <a:pPr marL="0" indent="0">
              <a:buNone/>
            </a:pPr>
            <a:r>
              <a:rPr lang="en-US" sz="1000" b="1" dirty="0">
                <a:solidFill>
                  <a:srgbClr val="F0F6FC"/>
                </a:solidFill>
                <a:latin typeface="Segoe UI" pitchFamily="34" charset="0"/>
                <a:ea typeface="Segoe UI" pitchFamily="34" charset="-122"/>
                <a:cs typeface="Segoe UI" pitchFamily="34" charset="-120"/>
              </a:rPr>
              <a:t>🎓  EdTech &amp; Learning</a:t>
            </a:r>
            <a:endParaRPr lang="en-US" sz="1000" dirty="0"/>
          </a:p>
        </p:txBody>
      </p:sp>
      <p:sp>
        <p:nvSpPr>
          <p:cNvPr id="64" name="Text 62"/>
          <p:cNvSpPr/>
          <p:nvPr/>
        </p:nvSpPr>
        <p:spPr>
          <a:xfrm>
            <a:off x="6126480" y="3401568"/>
            <a:ext cx="1371600" cy="164592"/>
          </a:xfrm>
          <a:prstGeom prst="rect">
            <a:avLst/>
          </a:prstGeom>
          <a:noFill/>
          <a:ln/>
        </p:spPr>
        <p:txBody>
          <a:bodyPr wrap="square" rtlCol="0" anchor="ctr"/>
          <a:lstStyle/>
          <a:p>
            <a:pPr marL="0" indent="0">
              <a:buNone/>
            </a:pPr>
            <a:r>
              <a:rPr lang="en-US" sz="900" b="1" u="sng" dirty="0">
                <a:solidFill>
                  <a:srgbClr val="79C0FF"/>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Duolingo</a:t>
            </a:r>
            <a:endParaRPr lang="en-US" sz="900" dirty="0"/>
          </a:p>
        </p:txBody>
      </p:sp>
      <p:sp>
        <p:nvSpPr>
          <p:cNvPr id="65" name="Text 63"/>
          <p:cNvSpPr/>
          <p:nvPr/>
        </p:nvSpPr>
        <p:spPr>
          <a:xfrm>
            <a:off x="7406640" y="3401568"/>
            <a:ext cx="1280160" cy="164592"/>
          </a:xfrm>
          <a:prstGeom prst="rect">
            <a:avLst/>
          </a:prstGeom>
          <a:noFill/>
          <a:ln/>
        </p:spPr>
        <p:txBody>
          <a:bodyPr wrap="square" rtlCol="0" anchor="ctr"/>
          <a:lstStyle/>
          <a:p>
            <a:pPr marL="0" indent="0" algn="r">
              <a:buNone/>
            </a:pPr>
            <a:r>
              <a:rPr lang="en-US" sz="750" dirty="0">
                <a:solidFill>
                  <a:srgbClr val="8B949E"/>
                </a:solidFill>
                <a:latin typeface="Segoe UI" pitchFamily="34" charset="0"/>
                <a:ea typeface="Segoe UI" pitchFamily="34" charset="-122"/>
                <a:cs typeface="Segoe UI" pitchFamily="34" charset="-120"/>
              </a:rPr>
              <a:t>🌏 500M+ users</a:t>
            </a:r>
            <a:endParaRPr lang="en-US" sz="750" dirty="0"/>
          </a:p>
        </p:txBody>
      </p:sp>
      <p:sp>
        <p:nvSpPr>
          <p:cNvPr id="66" name="Shape 64"/>
          <p:cNvSpPr/>
          <p:nvPr/>
        </p:nvSpPr>
        <p:spPr>
          <a:xfrm>
            <a:off x="6126480" y="3602736"/>
            <a:ext cx="2560320" cy="3658"/>
          </a:xfrm>
          <a:prstGeom prst="rect">
            <a:avLst/>
          </a:prstGeom>
          <a:solidFill>
            <a:srgbClr val="30363D"/>
          </a:solidFill>
          <a:ln/>
        </p:spPr>
        <p:txBody>
          <a:bodyPr/>
          <a:lstStyle/>
          <a:p>
            <a:endParaRPr lang="en-US"/>
          </a:p>
        </p:txBody>
      </p:sp>
      <p:sp>
        <p:nvSpPr>
          <p:cNvPr id="67" name="Text 65"/>
          <p:cNvSpPr/>
          <p:nvPr/>
        </p:nvSpPr>
        <p:spPr>
          <a:xfrm>
            <a:off x="6126480" y="3657600"/>
            <a:ext cx="2560320" cy="868680"/>
          </a:xfrm>
          <a:prstGeom prst="rect">
            <a:avLst/>
          </a:prstGeom>
          <a:noFill/>
          <a:ln/>
        </p:spPr>
        <p:txBody>
          <a:bodyPr wrap="square" rtlCol="0" anchor="t"/>
          <a:lstStyle/>
          <a:p>
            <a:pPr marL="0" indent="0">
              <a:lnSpc>
                <a:spcPct val="120000"/>
              </a:lnSpc>
              <a:buNone/>
            </a:pPr>
            <a:r>
              <a:rPr lang="en-US" sz="700" i="1" dirty="0">
                <a:solidFill>
                  <a:srgbClr val="C9D1D9"/>
                </a:solidFill>
                <a:latin typeface="Segoe UI" pitchFamily="34" charset="0"/>
                <a:ea typeface="Segoe UI" pitchFamily="34" charset="-122"/>
                <a:cs typeface="Segoe UI" pitchFamily="34" charset="-120"/>
              </a:rPr>
              <a:t>"Dropped median code review turnaround from 3 hours to 1 hour. 400 repos from innersource growth."</a:t>
            </a:r>
            <a:endParaRPr lang="en-US" sz="700" dirty="0"/>
          </a:p>
        </p:txBody>
      </p:sp>
      <p:sp>
        <p:nvSpPr>
          <p:cNvPr id="68" name="Text 66"/>
          <p:cNvSpPr/>
          <p:nvPr/>
        </p:nvSpPr>
        <p:spPr>
          <a:xfrm>
            <a:off x="6126480" y="4663440"/>
            <a:ext cx="2560320" cy="164592"/>
          </a:xfrm>
          <a:prstGeom prst="rect">
            <a:avLst/>
          </a:prstGeom>
          <a:noFill/>
          <a:ln/>
        </p:spPr>
        <p:txBody>
          <a:bodyPr wrap="square" rtlCol="0" anchor="ctr"/>
          <a:lstStyle/>
          <a:p>
            <a:pPr marL="0" indent="0">
              <a:buNone/>
            </a:pPr>
            <a:r>
              <a:rPr lang="en-US" sz="650" b="1" dirty="0">
                <a:solidFill>
                  <a:srgbClr val="484F58"/>
                </a:solidFill>
                <a:latin typeface="Segoe UI" pitchFamily="34" charset="0"/>
                <a:ea typeface="Segoe UI" pitchFamily="34" charset="-122"/>
                <a:cs typeface="Segoe UI" pitchFamily="34" charset="-120"/>
              </a:rPr>
              <a:t>Enterprise · Copilot · APIs</a:t>
            </a:r>
            <a:endParaRPr lang="en-US" sz="650" dirty="0"/>
          </a:p>
        </p:txBody>
      </p:sp>
      <p:sp>
        <p:nvSpPr>
          <p:cNvPr id="69" name="Text 67"/>
          <p:cNvSpPr/>
          <p:nvPr/>
        </p:nvSpPr>
        <p:spPr>
          <a:xfrm>
            <a:off x="7315200" y="4663440"/>
            <a:ext cx="1371600" cy="164592"/>
          </a:xfrm>
          <a:prstGeom prst="rect">
            <a:avLst/>
          </a:prstGeom>
          <a:noFill/>
          <a:ln/>
        </p:spPr>
        <p:txBody>
          <a:bodyPr wrap="square" rtlCol="0" anchor="ctr"/>
          <a:lstStyle/>
          <a:p>
            <a:pPr marL="0" indent="0" algn="r">
              <a:buNone/>
            </a:pPr>
            <a:r>
              <a:rPr lang="en-US" sz="650" u="sng" dirty="0">
                <a:solidFill>
                  <a:srgbClr val="58A6FF"/>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Read full story →</a:t>
            </a:r>
            <a:endParaRPr lang="en-US" sz="650" dirty="0"/>
          </a:p>
        </p:txBody>
      </p:sp>
      <p:sp>
        <p:nvSpPr>
          <p:cNvPr id="70" name="Shape 68"/>
          <p:cNvSpPr/>
          <p:nvPr/>
        </p:nvSpPr>
        <p:spPr>
          <a:xfrm>
            <a:off x="365760" y="4905756"/>
            <a:ext cx="8412480" cy="3658"/>
          </a:xfrm>
          <a:prstGeom prst="rect">
            <a:avLst/>
          </a:prstGeom>
          <a:solidFill>
            <a:srgbClr val="21262D"/>
          </a:solidFill>
          <a:ln/>
        </p:spPr>
        <p:txBody>
          <a:bodyPr/>
          <a:lstStyle/>
          <a:p>
            <a:endParaRPr lang="en-US"/>
          </a:p>
        </p:txBody>
      </p:sp>
      <p:sp>
        <p:nvSpPr>
          <p:cNvPr id="71" name="Text 69"/>
          <p:cNvSpPr/>
          <p:nvPr/>
        </p:nvSpPr>
        <p:spPr>
          <a:xfrm>
            <a:off x="365760" y="4942332"/>
            <a:ext cx="6400800" cy="137160"/>
          </a:xfrm>
          <a:prstGeom prst="rect">
            <a:avLst/>
          </a:prstGeom>
          <a:noFill/>
          <a:ln/>
        </p:spPr>
        <p:txBody>
          <a:bodyPr wrap="square" rtlCol="0" anchor="ctr"/>
          <a:lstStyle/>
          <a:p>
            <a:pPr marL="0" indent="0">
              <a:buNone/>
            </a:pPr>
            <a:r>
              <a:rPr lang="en-US" sz="600" dirty="0">
                <a:solidFill>
                  <a:srgbClr val="484F58"/>
                </a:solidFill>
                <a:latin typeface="Segoe UI" pitchFamily="34" charset="0"/>
                <a:ea typeface="Segoe UI" pitchFamily="34" charset="-122"/>
                <a:cs typeface="Segoe UI" pitchFamily="34" charset="-120"/>
              </a:rPr>
              <a:t>Sources: github.com/customer-stories  ·  Tokopedia is the only published SE Asian story; others are global parallels for key verticals</a:t>
            </a:r>
            <a:endParaRPr lang="en-US" sz="600" dirty="0"/>
          </a:p>
        </p:txBody>
      </p:sp>
      <p:sp>
        <p:nvSpPr>
          <p:cNvPr id="72" name="Text 70"/>
          <p:cNvSpPr/>
          <p:nvPr/>
        </p:nvSpPr>
        <p:spPr>
          <a:xfrm>
            <a:off x="5943600" y="4942332"/>
            <a:ext cx="2834640" cy="137160"/>
          </a:xfrm>
          <a:prstGeom prst="rect">
            <a:avLst/>
          </a:prstGeom>
          <a:noFill/>
          <a:ln/>
        </p:spPr>
        <p:txBody>
          <a:bodyPr wrap="square" rtlCol="0" anchor="ctr"/>
          <a:lstStyle/>
          <a:p>
            <a:pPr marL="0" indent="0" algn="r">
              <a:buNone/>
            </a:pPr>
            <a:r>
              <a:rPr lang="en-US" sz="650" u="sng" dirty="0">
                <a:solidFill>
                  <a:srgbClr val="58A6FF"/>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github.com/customer-stories</a:t>
            </a:r>
            <a:endParaRPr lang="en-US" sz="650" dirty="0"/>
          </a:p>
        </p:txBody>
      </p:sp>
    </p:spTree>
    <p:extLst>
      <p:ext uri="{BB962C8B-B14F-4D97-AF65-F5344CB8AC3E}">
        <p14:creationId xmlns:p14="http://schemas.microsoft.com/office/powerpoint/2010/main" val="20686374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01411"/>
          </a:solidFill>
          <a:ln/>
        </p:spPr>
        <p:txBody>
          <a:bodyPr/>
          <a:lstStyle/>
          <a:p>
            <a:endParaRPr lang="en-US"/>
          </a:p>
        </p:txBody>
      </p:sp>
      <p:sp>
        <p:nvSpPr>
          <p:cNvPr id="3" name="Shape 1"/>
          <p:cNvSpPr/>
          <p:nvPr/>
        </p:nvSpPr>
        <p:spPr>
          <a:xfrm>
            <a:off x="0" y="0"/>
            <a:ext cx="9144000" cy="36576"/>
          </a:xfrm>
          <a:prstGeom prst="rect">
            <a:avLst/>
          </a:prstGeom>
          <a:solidFill>
            <a:srgbClr val="8534F3"/>
          </a:solidFill>
          <a:ln/>
        </p:spPr>
        <p:txBody>
          <a:bodyPr/>
          <a:lstStyle/>
          <a:p>
            <a:endParaRPr lang="en-US"/>
          </a:p>
        </p:txBody>
      </p:sp>
      <p:sp>
        <p:nvSpPr>
          <p:cNvPr id="4" name="Text 2"/>
          <p:cNvSpPr/>
          <p:nvPr/>
        </p:nvSpPr>
        <p:spPr>
          <a:xfrm>
            <a:off x="457200" y="109728"/>
            <a:ext cx="6400800" cy="137160"/>
          </a:xfrm>
          <a:prstGeom prst="rect">
            <a:avLst/>
          </a:prstGeom>
          <a:noFill/>
          <a:ln/>
        </p:spPr>
        <p:txBody>
          <a:bodyPr wrap="square" rtlCol="0" anchor="ctr"/>
          <a:lstStyle/>
          <a:p>
            <a:pPr marL="0" indent="0">
              <a:buNone/>
            </a:pPr>
            <a:r>
              <a:rPr lang="en-US" sz="700" b="1" dirty="0">
                <a:solidFill>
                  <a:srgbClr val="C898FD"/>
                </a:solidFill>
                <a:latin typeface="Mona Sans" pitchFamily="34" charset="0"/>
                <a:ea typeface="Mona Sans" pitchFamily="34" charset="-122"/>
                <a:cs typeface="Mona Sans" pitchFamily="34" charset="-120"/>
              </a:rPr>
              <a:t>GITHUB COPILOT  ·  SOUTHEAST ASIA OPPORTUNITY</a:t>
            </a:r>
            <a:endParaRPr lang="en-US" sz="700" dirty="0"/>
          </a:p>
        </p:txBody>
      </p:sp>
      <p:sp>
        <p:nvSpPr>
          <p:cNvPr id="5" name="Text 3"/>
          <p:cNvSpPr/>
          <p:nvPr/>
        </p:nvSpPr>
        <p:spPr>
          <a:xfrm>
            <a:off x="457200" y="237744"/>
            <a:ext cx="5943600" cy="310896"/>
          </a:xfrm>
          <a:prstGeom prst="rect">
            <a:avLst/>
          </a:prstGeom>
          <a:noFill/>
          <a:ln/>
        </p:spPr>
        <p:txBody>
          <a:bodyPr wrap="square" rtlCol="0" anchor="ctr"/>
          <a:lstStyle/>
          <a:p>
            <a:pPr marL="0" indent="0">
              <a:buNone/>
            </a:pPr>
            <a:r>
              <a:rPr lang="en-US" sz="2200" b="1" dirty="0">
                <a:solidFill>
                  <a:srgbClr val="F2F5F3"/>
                </a:solidFill>
                <a:latin typeface="Mona Sans" pitchFamily="34" charset="0"/>
                <a:ea typeface="Mona Sans" pitchFamily="34" charset="-122"/>
                <a:cs typeface="Mona Sans" pitchFamily="34" charset="-120"/>
              </a:rPr>
              <a:t>The Rise of GitHub Copilot</a:t>
            </a:r>
            <a:endParaRPr lang="en-US" sz="2200" dirty="0"/>
          </a:p>
        </p:txBody>
      </p:sp>
      <p:sp>
        <p:nvSpPr>
          <p:cNvPr id="6" name="Text 4"/>
          <p:cNvSpPr/>
          <p:nvPr/>
        </p:nvSpPr>
        <p:spPr>
          <a:xfrm>
            <a:off x="457200" y="539496"/>
            <a:ext cx="6400800" cy="146304"/>
          </a:xfrm>
          <a:prstGeom prst="rect">
            <a:avLst/>
          </a:prstGeom>
          <a:noFill/>
          <a:ln/>
        </p:spPr>
        <p:txBody>
          <a:bodyPr wrap="square" rtlCol="0" anchor="ctr"/>
          <a:lstStyle/>
          <a:p>
            <a:pPr marL="0" indent="0">
              <a:buNone/>
            </a:pPr>
            <a:r>
              <a:rPr lang="en-US" sz="900" dirty="0">
                <a:solidFill>
                  <a:srgbClr val="B6BFB8"/>
                </a:solidFill>
                <a:latin typeface="Mona Sans" pitchFamily="34" charset="0"/>
                <a:ea typeface="Mona Sans" pitchFamily="34" charset="-122"/>
                <a:cs typeface="Mona Sans" pitchFamily="34" charset="-120"/>
              </a:rPr>
              <a:t>AI-powered development for SE Asia's fastest-growing developer ecosystem</a:t>
            </a:r>
            <a:endParaRPr lang="en-US" sz="900" dirty="0"/>
          </a:p>
        </p:txBody>
      </p:sp>
      <p:sp>
        <p:nvSpPr>
          <p:cNvPr id="7" name="Shape 5"/>
          <p:cNvSpPr/>
          <p:nvPr/>
        </p:nvSpPr>
        <p:spPr>
          <a:xfrm>
            <a:off x="457200" y="731520"/>
            <a:ext cx="8229600" cy="4572"/>
          </a:xfrm>
          <a:prstGeom prst="rect">
            <a:avLst/>
          </a:prstGeom>
          <a:solidFill>
            <a:srgbClr val="3D4540"/>
          </a:solidFill>
          <a:ln/>
        </p:spPr>
        <p:txBody>
          <a:bodyPr/>
          <a:lstStyle/>
          <a:p>
            <a:endParaRPr lang="en-US"/>
          </a:p>
        </p:txBody>
      </p:sp>
      <p:sp>
        <p:nvSpPr>
          <p:cNvPr id="8" name="Shape 6"/>
          <p:cNvSpPr/>
          <p:nvPr/>
        </p:nvSpPr>
        <p:spPr>
          <a:xfrm>
            <a:off x="457200" y="841248"/>
            <a:ext cx="2606040" cy="1051560"/>
          </a:xfrm>
          <a:prstGeom prst="roundRect">
            <a:avLst>
              <a:gd name="adj" fmla="val 6087"/>
            </a:avLst>
          </a:prstGeom>
          <a:solidFill>
            <a:srgbClr val="232925"/>
          </a:solidFill>
          <a:ln w="12700">
            <a:solidFill>
              <a:srgbClr val="3D4540"/>
            </a:solidFill>
            <a:prstDash val="solid"/>
          </a:ln>
        </p:spPr>
        <p:txBody>
          <a:bodyPr/>
          <a:lstStyle/>
          <a:p>
            <a:endParaRPr lang="en-US"/>
          </a:p>
        </p:txBody>
      </p:sp>
      <p:sp>
        <p:nvSpPr>
          <p:cNvPr id="9" name="Text 7"/>
          <p:cNvSpPr/>
          <p:nvPr/>
        </p:nvSpPr>
        <p:spPr>
          <a:xfrm>
            <a:off x="594360" y="896112"/>
            <a:ext cx="1188720" cy="384048"/>
          </a:xfrm>
          <a:prstGeom prst="rect">
            <a:avLst/>
          </a:prstGeom>
          <a:noFill/>
          <a:ln/>
        </p:spPr>
        <p:txBody>
          <a:bodyPr wrap="square" rtlCol="0" anchor="ctr"/>
          <a:lstStyle/>
          <a:p>
            <a:pPr marL="0" indent="0">
              <a:buNone/>
            </a:pPr>
            <a:r>
              <a:rPr lang="en-US" sz="2800" b="1" dirty="0">
                <a:solidFill>
                  <a:srgbClr val="8534F3"/>
                </a:solidFill>
                <a:latin typeface="Mona Sans" pitchFamily="34" charset="0"/>
                <a:ea typeface="Mona Sans" pitchFamily="34" charset="-122"/>
                <a:cs typeface="Mona Sans" pitchFamily="34" charset="-120"/>
              </a:rPr>
              <a:t>55%</a:t>
            </a:r>
            <a:endParaRPr lang="en-US" sz="2800" dirty="0"/>
          </a:p>
        </p:txBody>
      </p:sp>
      <p:sp>
        <p:nvSpPr>
          <p:cNvPr id="10" name="Text 8"/>
          <p:cNvSpPr/>
          <p:nvPr/>
        </p:nvSpPr>
        <p:spPr>
          <a:xfrm>
            <a:off x="1737360" y="896112"/>
            <a:ext cx="1188720" cy="182880"/>
          </a:xfrm>
          <a:prstGeom prst="rect">
            <a:avLst/>
          </a:prstGeom>
          <a:noFill/>
          <a:ln/>
        </p:spPr>
        <p:txBody>
          <a:bodyPr wrap="square" rtlCol="0" anchor="b"/>
          <a:lstStyle/>
          <a:p>
            <a:pPr marL="0" indent="0">
              <a:buNone/>
            </a:pPr>
            <a:r>
              <a:rPr lang="en-US" sz="850" b="1" dirty="0">
                <a:solidFill>
                  <a:srgbClr val="F2F5F3"/>
                </a:solidFill>
                <a:latin typeface="Mona Sans" pitchFamily="34" charset="0"/>
                <a:ea typeface="Mona Sans" pitchFamily="34" charset="-122"/>
                <a:cs typeface="Mona Sans" pitchFamily="34" charset="-120"/>
              </a:rPr>
              <a:t>more productive</a:t>
            </a:r>
            <a:endParaRPr lang="en-US" sz="850" dirty="0"/>
          </a:p>
        </p:txBody>
      </p:sp>
      <p:sp>
        <p:nvSpPr>
          <p:cNvPr id="11" name="Text 9"/>
          <p:cNvSpPr/>
          <p:nvPr/>
        </p:nvSpPr>
        <p:spPr>
          <a:xfrm>
            <a:off x="1737360" y="1078992"/>
            <a:ext cx="1188720" cy="182880"/>
          </a:xfrm>
          <a:prstGeom prst="rect">
            <a:avLst/>
          </a:prstGeom>
          <a:noFill/>
          <a:ln/>
        </p:spPr>
        <p:txBody>
          <a:bodyPr wrap="square" rtlCol="0" anchor="t"/>
          <a:lstStyle/>
          <a:p>
            <a:pPr marL="0" indent="0">
              <a:buNone/>
            </a:pPr>
            <a:r>
              <a:rPr lang="en-US" sz="700" dirty="0">
                <a:solidFill>
                  <a:srgbClr val="909692"/>
                </a:solidFill>
                <a:latin typeface="Mona Sans" pitchFamily="34" charset="0"/>
                <a:ea typeface="Mona Sans" pitchFamily="34" charset="-122"/>
                <a:cs typeface="Mona Sans" pitchFamily="34" charset="-120"/>
              </a:rPr>
              <a:t>at writing code — without sacrificing quality</a:t>
            </a:r>
            <a:endParaRPr lang="en-US" sz="700" dirty="0"/>
          </a:p>
        </p:txBody>
      </p:sp>
      <p:sp>
        <p:nvSpPr>
          <p:cNvPr id="12" name="Shape 10"/>
          <p:cNvSpPr/>
          <p:nvPr/>
        </p:nvSpPr>
        <p:spPr>
          <a:xfrm>
            <a:off x="594360" y="1353312"/>
            <a:ext cx="2331720" cy="2743"/>
          </a:xfrm>
          <a:prstGeom prst="rect">
            <a:avLst/>
          </a:prstGeom>
          <a:solidFill>
            <a:srgbClr val="3D4540"/>
          </a:solidFill>
          <a:ln/>
        </p:spPr>
        <p:txBody>
          <a:bodyPr/>
          <a:lstStyle/>
          <a:p>
            <a:endParaRPr lang="en-US"/>
          </a:p>
        </p:txBody>
      </p:sp>
      <p:sp>
        <p:nvSpPr>
          <p:cNvPr id="13" name="Text 11"/>
          <p:cNvSpPr/>
          <p:nvPr/>
        </p:nvSpPr>
        <p:spPr>
          <a:xfrm>
            <a:off x="548640" y="1389888"/>
            <a:ext cx="2423160" cy="201168"/>
          </a:xfrm>
          <a:prstGeom prst="rect">
            <a:avLst/>
          </a:prstGeom>
          <a:noFill/>
          <a:ln/>
        </p:spPr>
        <p:txBody>
          <a:bodyPr wrap="square" rtlCol="0" anchor="ctr"/>
          <a:lstStyle/>
          <a:p>
            <a:pPr marL="0" indent="0">
              <a:buNone/>
            </a:pPr>
            <a:r>
              <a:rPr lang="en-US" sz="650" dirty="0">
                <a:solidFill>
                  <a:srgbClr val="C898FD"/>
                </a:solidFill>
                <a:latin typeface="Mona Sans" pitchFamily="34" charset="0"/>
                <a:ea typeface="Mona Sans" pitchFamily="34" charset="-122"/>
                <a:cs typeface="Mona Sans" pitchFamily="34" charset="-120"/>
              </a:rPr>
              <a:t>🌏  Critical for 4.37M Indonesian devs scaling rapidly</a:t>
            </a:r>
            <a:endParaRPr lang="en-US" sz="650" dirty="0"/>
          </a:p>
        </p:txBody>
      </p:sp>
      <p:sp>
        <p:nvSpPr>
          <p:cNvPr id="14" name="Shape 12"/>
          <p:cNvSpPr/>
          <p:nvPr/>
        </p:nvSpPr>
        <p:spPr>
          <a:xfrm>
            <a:off x="3291840" y="841248"/>
            <a:ext cx="2606040" cy="1051560"/>
          </a:xfrm>
          <a:prstGeom prst="roundRect">
            <a:avLst>
              <a:gd name="adj" fmla="val 6087"/>
            </a:avLst>
          </a:prstGeom>
          <a:solidFill>
            <a:srgbClr val="232925"/>
          </a:solidFill>
          <a:ln w="12700">
            <a:solidFill>
              <a:srgbClr val="3D4540"/>
            </a:solidFill>
            <a:prstDash val="solid"/>
          </a:ln>
        </p:spPr>
        <p:txBody>
          <a:bodyPr/>
          <a:lstStyle/>
          <a:p>
            <a:endParaRPr lang="en-US"/>
          </a:p>
        </p:txBody>
      </p:sp>
      <p:sp>
        <p:nvSpPr>
          <p:cNvPr id="15" name="Text 13"/>
          <p:cNvSpPr/>
          <p:nvPr/>
        </p:nvSpPr>
        <p:spPr>
          <a:xfrm>
            <a:off x="3429000" y="896112"/>
            <a:ext cx="1188720" cy="384048"/>
          </a:xfrm>
          <a:prstGeom prst="rect">
            <a:avLst/>
          </a:prstGeom>
          <a:noFill/>
          <a:ln/>
        </p:spPr>
        <p:txBody>
          <a:bodyPr wrap="square" rtlCol="0" anchor="ctr"/>
          <a:lstStyle/>
          <a:p>
            <a:pPr marL="0" indent="0">
              <a:buNone/>
            </a:pPr>
            <a:r>
              <a:rPr lang="en-US" sz="2800" b="1" dirty="0">
                <a:solidFill>
                  <a:srgbClr val="8534F3"/>
                </a:solidFill>
                <a:latin typeface="Mona Sans" pitchFamily="34" charset="0"/>
                <a:ea typeface="Mona Sans" pitchFamily="34" charset="-122"/>
                <a:cs typeface="Mona Sans" pitchFamily="34" charset="-120"/>
              </a:rPr>
              <a:t>75%</a:t>
            </a:r>
            <a:endParaRPr lang="en-US" sz="2800" dirty="0"/>
          </a:p>
        </p:txBody>
      </p:sp>
      <p:sp>
        <p:nvSpPr>
          <p:cNvPr id="16" name="Text 14"/>
          <p:cNvSpPr/>
          <p:nvPr/>
        </p:nvSpPr>
        <p:spPr>
          <a:xfrm>
            <a:off x="4572000" y="896112"/>
            <a:ext cx="1188720" cy="182880"/>
          </a:xfrm>
          <a:prstGeom prst="rect">
            <a:avLst/>
          </a:prstGeom>
          <a:noFill/>
          <a:ln/>
        </p:spPr>
        <p:txBody>
          <a:bodyPr wrap="square" rtlCol="0" anchor="b"/>
          <a:lstStyle/>
          <a:p>
            <a:pPr marL="0" indent="0">
              <a:buNone/>
            </a:pPr>
            <a:r>
              <a:rPr lang="en-US" sz="850" b="1" dirty="0">
                <a:solidFill>
                  <a:srgbClr val="F2F5F3"/>
                </a:solidFill>
                <a:latin typeface="Mona Sans" pitchFamily="34" charset="0"/>
                <a:ea typeface="Mona Sans" pitchFamily="34" charset="-122"/>
                <a:cs typeface="Mona Sans" pitchFamily="34" charset="-120"/>
              </a:rPr>
              <a:t>higher satisfaction</a:t>
            </a:r>
            <a:endParaRPr lang="en-US" sz="850" dirty="0"/>
          </a:p>
        </p:txBody>
      </p:sp>
      <p:sp>
        <p:nvSpPr>
          <p:cNvPr id="17" name="Text 15"/>
          <p:cNvSpPr/>
          <p:nvPr/>
        </p:nvSpPr>
        <p:spPr>
          <a:xfrm>
            <a:off x="4572000" y="1078992"/>
            <a:ext cx="1188720" cy="182880"/>
          </a:xfrm>
          <a:prstGeom prst="rect">
            <a:avLst/>
          </a:prstGeom>
          <a:noFill/>
          <a:ln/>
        </p:spPr>
        <p:txBody>
          <a:bodyPr wrap="square" rtlCol="0" anchor="t"/>
          <a:lstStyle/>
          <a:p>
            <a:pPr marL="0" indent="0">
              <a:buNone/>
            </a:pPr>
            <a:r>
              <a:rPr lang="en-US" sz="700" dirty="0">
                <a:solidFill>
                  <a:srgbClr val="909692"/>
                </a:solidFill>
                <a:latin typeface="Mona Sans" pitchFamily="34" charset="0"/>
                <a:ea typeface="Mona Sans" pitchFamily="34" charset="-122"/>
                <a:cs typeface="Mona Sans" pitchFamily="34" charset="-120"/>
              </a:rPr>
              <a:t>developers report vs. those without Copilot</a:t>
            </a:r>
            <a:endParaRPr lang="en-US" sz="700" dirty="0"/>
          </a:p>
        </p:txBody>
      </p:sp>
      <p:sp>
        <p:nvSpPr>
          <p:cNvPr id="18" name="Shape 16"/>
          <p:cNvSpPr/>
          <p:nvPr/>
        </p:nvSpPr>
        <p:spPr>
          <a:xfrm>
            <a:off x="3429000" y="1353312"/>
            <a:ext cx="2331720" cy="2743"/>
          </a:xfrm>
          <a:prstGeom prst="rect">
            <a:avLst/>
          </a:prstGeom>
          <a:solidFill>
            <a:srgbClr val="3D4540"/>
          </a:solidFill>
          <a:ln/>
        </p:spPr>
        <p:txBody>
          <a:bodyPr/>
          <a:lstStyle/>
          <a:p>
            <a:endParaRPr lang="en-US"/>
          </a:p>
        </p:txBody>
      </p:sp>
      <p:sp>
        <p:nvSpPr>
          <p:cNvPr id="19" name="Text 17"/>
          <p:cNvSpPr/>
          <p:nvPr/>
        </p:nvSpPr>
        <p:spPr>
          <a:xfrm>
            <a:off x="3383280" y="1389888"/>
            <a:ext cx="2423160" cy="201168"/>
          </a:xfrm>
          <a:prstGeom prst="rect">
            <a:avLst/>
          </a:prstGeom>
          <a:noFill/>
          <a:ln/>
        </p:spPr>
        <p:txBody>
          <a:bodyPr wrap="square" rtlCol="0" anchor="ctr"/>
          <a:lstStyle/>
          <a:p>
            <a:pPr marL="0" indent="0">
              <a:buNone/>
            </a:pPr>
            <a:r>
              <a:rPr lang="en-US" sz="650" dirty="0">
                <a:solidFill>
                  <a:srgbClr val="C898FD"/>
                </a:solidFill>
                <a:latin typeface="Mona Sans" pitchFamily="34" charset="0"/>
                <a:ea typeface="Mona Sans" pitchFamily="34" charset="-122"/>
                <a:cs typeface="Mona Sans" pitchFamily="34" charset="-120"/>
              </a:rPr>
              <a:t>🌏  Key to retaining talent in competitive SE Asian market</a:t>
            </a:r>
            <a:endParaRPr lang="en-US" sz="650" dirty="0"/>
          </a:p>
        </p:txBody>
      </p:sp>
      <p:sp>
        <p:nvSpPr>
          <p:cNvPr id="20" name="Shape 18"/>
          <p:cNvSpPr/>
          <p:nvPr/>
        </p:nvSpPr>
        <p:spPr>
          <a:xfrm>
            <a:off x="6126480" y="841248"/>
            <a:ext cx="2606040" cy="1051560"/>
          </a:xfrm>
          <a:prstGeom prst="roundRect">
            <a:avLst>
              <a:gd name="adj" fmla="val 6087"/>
            </a:avLst>
          </a:prstGeom>
          <a:solidFill>
            <a:srgbClr val="232925"/>
          </a:solidFill>
          <a:ln w="12700">
            <a:solidFill>
              <a:srgbClr val="3D4540"/>
            </a:solidFill>
            <a:prstDash val="solid"/>
          </a:ln>
        </p:spPr>
        <p:txBody>
          <a:bodyPr/>
          <a:lstStyle/>
          <a:p>
            <a:endParaRPr lang="en-US"/>
          </a:p>
        </p:txBody>
      </p:sp>
      <p:sp>
        <p:nvSpPr>
          <p:cNvPr id="21" name="Text 19"/>
          <p:cNvSpPr/>
          <p:nvPr/>
        </p:nvSpPr>
        <p:spPr>
          <a:xfrm>
            <a:off x="6263640" y="896112"/>
            <a:ext cx="1188720" cy="384048"/>
          </a:xfrm>
          <a:prstGeom prst="rect">
            <a:avLst/>
          </a:prstGeom>
          <a:noFill/>
          <a:ln/>
        </p:spPr>
        <p:txBody>
          <a:bodyPr wrap="square" rtlCol="0" anchor="ctr"/>
          <a:lstStyle/>
          <a:p>
            <a:pPr marL="0" indent="0">
              <a:buNone/>
            </a:pPr>
            <a:r>
              <a:rPr lang="en-US" sz="2800" b="1" dirty="0">
                <a:solidFill>
                  <a:srgbClr val="8534F3"/>
                </a:solidFill>
                <a:latin typeface="Mona Sans" pitchFamily="34" charset="0"/>
                <a:ea typeface="Mona Sans" pitchFamily="34" charset="-122"/>
                <a:cs typeface="Mona Sans" pitchFamily="34" charset="-120"/>
              </a:rPr>
              <a:t>80%</a:t>
            </a:r>
            <a:endParaRPr lang="en-US" sz="2800" dirty="0"/>
          </a:p>
        </p:txBody>
      </p:sp>
      <p:sp>
        <p:nvSpPr>
          <p:cNvPr id="22" name="Text 20"/>
          <p:cNvSpPr/>
          <p:nvPr/>
        </p:nvSpPr>
        <p:spPr>
          <a:xfrm>
            <a:off x="7406640" y="896112"/>
            <a:ext cx="1188720" cy="182880"/>
          </a:xfrm>
          <a:prstGeom prst="rect">
            <a:avLst/>
          </a:prstGeom>
          <a:noFill/>
          <a:ln/>
        </p:spPr>
        <p:txBody>
          <a:bodyPr wrap="square" rtlCol="0" anchor="b"/>
          <a:lstStyle/>
          <a:p>
            <a:pPr marL="0" indent="0">
              <a:buNone/>
            </a:pPr>
            <a:r>
              <a:rPr lang="en-US" sz="850" b="1" dirty="0">
                <a:solidFill>
                  <a:srgbClr val="F2F5F3"/>
                </a:solidFill>
                <a:latin typeface="Mona Sans" pitchFamily="34" charset="0"/>
                <a:ea typeface="Mona Sans" pitchFamily="34" charset="-122"/>
                <a:cs typeface="Mona Sans" pitchFamily="34" charset="-120"/>
              </a:rPr>
              <a:t>adopt in week one</a:t>
            </a:r>
            <a:endParaRPr lang="en-US" sz="850" dirty="0"/>
          </a:p>
        </p:txBody>
      </p:sp>
      <p:sp>
        <p:nvSpPr>
          <p:cNvPr id="23" name="Text 21"/>
          <p:cNvSpPr/>
          <p:nvPr/>
        </p:nvSpPr>
        <p:spPr>
          <a:xfrm>
            <a:off x="7406640" y="1078992"/>
            <a:ext cx="1188720" cy="182880"/>
          </a:xfrm>
          <a:prstGeom prst="rect">
            <a:avLst/>
          </a:prstGeom>
          <a:noFill/>
          <a:ln/>
        </p:spPr>
        <p:txBody>
          <a:bodyPr wrap="square" rtlCol="0" anchor="t"/>
          <a:lstStyle/>
          <a:p>
            <a:pPr marL="0" indent="0">
              <a:buNone/>
            </a:pPr>
            <a:r>
              <a:rPr lang="en-US" sz="700" dirty="0">
                <a:solidFill>
                  <a:srgbClr val="909692"/>
                </a:solidFill>
                <a:latin typeface="Mona Sans" pitchFamily="34" charset="0"/>
                <a:ea typeface="Mona Sans" pitchFamily="34" charset="-122"/>
                <a:cs typeface="Mona Sans" pitchFamily="34" charset="-120"/>
              </a:rPr>
              <a:t>of new GitHub developers use Copilot immediately</a:t>
            </a:r>
            <a:endParaRPr lang="en-US" sz="700" dirty="0"/>
          </a:p>
        </p:txBody>
      </p:sp>
      <p:sp>
        <p:nvSpPr>
          <p:cNvPr id="24" name="Shape 22"/>
          <p:cNvSpPr/>
          <p:nvPr/>
        </p:nvSpPr>
        <p:spPr>
          <a:xfrm>
            <a:off x="6263640" y="1353312"/>
            <a:ext cx="2331720" cy="2743"/>
          </a:xfrm>
          <a:prstGeom prst="rect">
            <a:avLst/>
          </a:prstGeom>
          <a:solidFill>
            <a:srgbClr val="3D4540"/>
          </a:solidFill>
          <a:ln/>
        </p:spPr>
        <p:txBody>
          <a:bodyPr/>
          <a:lstStyle/>
          <a:p>
            <a:endParaRPr lang="en-US"/>
          </a:p>
        </p:txBody>
      </p:sp>
      <p:sp>
        <p:nvSpPr>
          <p:cNvPr id="25" name="Text 23"/>
          <p:cNvSpPr/>
          <p:nvPr/>
        </p:nvSpPr>
        <p:spPr>
          <a:xfrm>
            <a:off x="6217920" y="1389888"/>
            <a:ext cx="2423160" cy="201168"/>
          </a:xfrm>
          <a:prstGeom prst="rect">
            <a:avLst/>
          </a:prstGeom>
          <a:noFill/>
          <a:ln/>
        </p:spPr>
        <p:txBody>
          <a:bodyPr wrap="square" rtlCol="0" anchor="ctr"/>
          <a:lstStyle/>
          <a:p>
            <a:pPr marL="0" indent="0">
              <a:buNone/>
            </a:pPr>
            <a:r>
              <a:rPr lang="en-US" sz="650" dirty="0">
                <a:solidFill>
                  <a:srgbClr val="C898FD"/>
                </a:solidFill>
                <a:latin typeface="Mona Sans" pitchFamily="34" charset="0"/>
                <a:ea typeface="Mona Sans" pitchFamily="34" charset="-122"/>
                <a:cs typeface="Mona Sans" pitchFamily="34" charset="-120"/>
              </a:rPr>
              <a:t>🌏  Accelerating SE Asia's 36M+ new developer wave</a:t>
            </a:r>
            <a:endParaRPr lang="en-US" sz="650" dirty="0"/>
          </a:p>
        </p:txBody>
      </p:sp>
      <p:sp>
        <p:nvSpPr>
          <p:cNvPr id="26" name="Shape 24"/>
          <p:cNvSpPr/>
          <p:nvPr/>
        </p:nvSpPr>
        <p:spPr>
          <a:xfrm>
            <a:off x="457200" y="2057400"/>
            <a:ext cx="8229600" cy="1298448"/>
          </a:xfrm>
          <a:prstGeom prst="roundRect">
            <a:avLst>
              <a:gd name="adj" fmla="val 4930"/>
            </a:avLst>
          </a:prstGeom>
          <a:solidFill>
            <a:srgbClr val="232925"/>
          </a:solidFill>
          <a:ln w="12700">
            <a:solidFill>
              <a:srgbClr val="3D4540"/>
            </a:solidFill>
            <a:prstDash val="solid"/>
          </a:ln>
        </p:spPr>
        <p:txBody>
          <a:bodyPr/>
          <a:lstStyle/>
          <a:p>
            <a:endParaRPr lang="en-US"/>
          </a:p>
        </p:txBody>
      </p:sp>
      <p:sp>
        <p:nvSpPr>
          <p:cNvPr id="27" name="Text 25"/>
          <p:cNvSpPr/>
          <p:nvPr/>
        </p:nvSpPr>
        <p:spPr>
          <a:xfrm>
            <a:off x="621792" y="2112264"/>
            <a:ext cx="4572000" cy="164592"/>
          </a:xfrm>
          <a:prstGeom prst="rect">
            <a:avLst/>
          </a:prstGeom>
          <a:noFill/>
          <a:ln/>
        </p:spPr>
        <p:txBody>
          <a:bodyPr wrap="square" rtlCol="0" anchor="ctr"/>
          <a:lstStyle/>
          <a:p>
            <a:pPr marL="0" indent="0">
              <a:buNone/>
            </a:pPr>
            <a:r>
              <a:rPr lang="en-US" sz="950" b="1" dirty="0">
                <a:solidFill>
                  <a:srgbClr val="F2F5F3"/>
                </a:solidFill>
                <a:latin typeface="Mona Sans" pitchFamily="34" charset="0"/>
                <a:ea typeface="Mona Sans" pitchFamily="34" charset="-122"/>
                <a:cs typeface="Mona Sans" pitchFamily="34" charset="-120"/>
              </a:rPr>
              <a:t>How Copilot Accelerates SE Asian Development</a:t>
            </a:r>
            <a:endParaRPr lang="en-US" sz="950" dirty="0"/>
          </a:p>
        </p:txBody>
      </p:sp>
      <p:sp>
        <p:nvSpPr>
          <p:cNvPr id="28" name="Shape 26"/>
          <p:cNvSpPr/>
          <p:nvPr/>
        </p:nvSpPr>
        <p:spPr>
          <a:xfrm>
            <a:off x="621792" y="2331720"/>
            <a:ext cx="1847088" cy="932688"/>
          </a:xfrm>
          <a:prstGeom prst="roundRect">
            <a:avLst>
              <a:gd name="adj" fmla="val 4902"/>
            </a:avLst>
          </a:prstGeom>
          <a:solidFill>
            <a:srgbClr val="101411"/>
          </a:solidFill>
          <a:ln/>
        </p:spPr>
        <p:txBody>
          <a:bodyPr/>
          <a:lstStyle/>
          <a:p>
            <a:endParaRPr lang="en-US"/>
          </a:p>
        </p:txBody>
      </p:sp>
      <p:sp>
        <p:nvSpPr>
          <p:cNvPr id="29" name="Text 27"/>
          <p:cNvSpPr/>
          <p:nvPr/>
        </p:nvSpPr>
        <p:spPr>
          <a:xfrm>
            <a:off x="694944" y="2377440"/>
            <a:ext cx="1709928" cy="182880"/>
          </a:xfrm>
          <a:prstGeom prst="rect">
            <a:avLst/>
          </a:prstGeom>
          <a:noFill/>
          <a:ln/>
        </p:spPr>
        <p:txBody>
          <a:bodyPr wrap="square" rtlCol="0" anchor="ctr"/>
          <a:lstStyle/>
          <a:p>
            <a:pPr marL="0" indent="0">
              <a:buNone/>
            </a:pPr>
            <a:r>
              <a:rPr lang="en-US" sz="850" b="1" dirty="0">
                <a:solidFill>
                  <a:srgbClr val="C898FD"/>
                </a:solidFill>
                <a:latin typeface="Mona Sans" pitchFamily="34" charset="0"/>
                <a:ea typeface="Mona Sans" pitchFamily="34" charset="-122"/>
                <a:cs typeface="Mona Sans" pitchFamily="34" charset="-120"/>
              </a:rPr>
              <a:t>✨  AI Code Editor</a:t>
            </a:r>
            <a:endParaRPr lang="en-US" sz="850" dirty="0"/>
          </a:p>
        </p:txBody>
      </p:sp>
      <p:sp>
        <p:nvSpPr>
          <p:cNvPr id="30" name="Text 28"/>
          <p:cNvSpPr/>
          <p:nvPr/>
        </p:nvSpPr>
        <p:spPr>
          <a:xfrm>
            <a:off x="694944" y="2587752"/>
            <a:ext cx="1709928" cy="274320"/>
          </a:xfrm>
          <a:prstGeom prst="rect">
            <a:avLst/>
          </a:prstGeom>
          <a:noFill/>
          <a:ln/>
        </p:spPr>
        <p:txBody>
          <a:bodyPr wrap="square" rtlCol="0" anchor="ctr"/>
          <a:lstStyle/>
          <a:p>
            <a:pPr marL="0" indent="0">
              <a:lnSpc>
                <a:spcPct val="115000"/>
              </a:lnSpc>
              <a:buNone/>
            </a:pPr>
            <a:r>
              <a:rPr lang="en-US" sz="700" dirty="0">
                <a:solidFill>
                  <a:srgbClr val="B6BFB8"/>
                </a:solidFill>
                <a:latin typeface="Mona Sans" pitchFamily="34" charset="0"/>
                <a:ea typeface="Mona Sans" pitchFamily="34" charset="-122"/>
                <a:cs typeface="Mona Sans" pitchFamily="34" charset="-120"/>
              </a:rPr>
              <a:t>Inline completions, edits &amp; agent mode across VS Code, JetBrains &amp; more</a:t>
            </a:r>
            <a:endParaRPr lang="en-US" sz="700" dirty="0"/>
          </a:p>
        </p:txBody>
      </p:sp>
      <p:sp>
        <p:nvSpPr>
          <p:cNvPr id="31" name="Shape 29"/>
          <p:cNvSpPr/>
          <p:nvPr/>
        </p:nvSpPr>
        <p:spPr>
          <a:xfrm>
            <a:off x="694944" y="2880360"/>
            <a:ext cx="1709928" cy="2743"/>
          </a:xfrm>
          <a:prstGeom prst="rect">
            <a:avLst/>
          </a:prstGeom>
          <a:solidFill>
            <a:srgbClr val="3D4540"/>
          </a:solidFill>
          <a:ln/>
        </p:spPr>
        <p:txBody>
          <a:bodyPr/>
          <a:lstStyle/>
          <a:p>
            <a:endParaRPr lang="en-US"/>
          </a:p>
        </p:txBody>
      </p:sp>
      <p:sp>
        <p:nvSpPr>
          <p:cNvPr id="32" name="Text 30"/>
          <p:cNvSpPr/>
          <p:nvPr/>
        </p:nvSpPr>
        <p:spPr>
          <a:xfrm>
            <a:off x="694944" y="2916936"/>
            <a:ext cx="1709928" cy="292608"/>
          </a:xfrm>
          <a:prstGeom prst="rect">
            <a:avLst/>
          </a:prstGeom>
          <a:noFill/>
          <a:ln/>
        </p:spPr>
        <p:txBody>
          <a:bodyPr wrap="square" rtlCol="0" anchor="ctr"/>
          <a:lstStyle/>
          <a:p>
            <a:pPr marL="0" indent="0">
              <a:lnSpc>
                <a:spcPct val="110000"/>
              </a:lnSpc>
              <a:buNone/>
            </a:pPr>
            <a:r>
              <a:rPr lang="en-US" sz="600" dirty="0">
                <a:solidFill>
                  <a:srgbClr val="0FBF3E"/>
                </a:solidFill>
                <a:latin typeface="Mona Sans" pitchFamily="34" charset="0"/>
                <a:ea typeface="Mona Sans" pitchFamily="34" charset="-122"/>
                <a:cs typeface="Mona Sans" pitchFamily="34" charset="-120"/>
              </a:rPr>
              <a:t>🌏 Supports all languages popular in SE Asia incl. JS, TS, Python, Go</a:t>
            </a:r>
            <a:endParaRPr lang="en-US" sz="600" dirty="0"/>
          </a:p>
        </p:txBody>
      </p:sp>
      <p:sp>
        <p:nvSpPr>
          <p:cNvPr id="33" name="Shape 31"/>
          <p:cNvSpPr/>
          <p:nvPr/>
        </p:nvSpPr>
        <p:spPr>
          <a:xfrm>
            <a:off x="2560320" y="2331720"/>
            <a:ext cx="1847088" cy="932688"/>
          </a:xfrm>
          <a:prstGeom prst="roundRect">
            <a:avLst>
              <a:gd name="adj" fmla="val 4902"/>
            </a:avLst>
          </a:prstGeom>
          <a:solidFill>
            <a:srgbClr val="101411"/>
          </a:solidFill>
          <a:ln/>
        </p:spPr>
        <p:txBody>
          <a:bodyPr/>
          <a:lstStyle/>
          <a:p>
            <a:endParaRPr lang="en-US"/>
          </a:p>
        </p:txBody>
      </p:sp>
      <p:sp>
        <p:nvSpPr>
          <p:cNvPr id="34" name="Text 32"/>
          <p:cNvSpPr/>
          <p:nvPr/>
        </p:nvSpPr>
        <p:spPr>
          <a:xfrm>
            <a:off x="2633472" y="2377440"/>
            <a:ext cx="1709928" cy="182880"/>
          </a:xfrm>
          <a:prstGeom prst="rect">
            <a:avLst/>
          </a:prstGeom>
          <a:noFill/>
          <a:ln/>
        </p:spPr>
        <p:txBody>
          <a:bodyPr wrap="square" rtlCol="0" anchor="ctr"/>
          <a:lstStyle/>
          <a:p>
            <a:pPr marL="0" indent="0">
              <a:buNone/>
            </a:pPr>
            <a:r>
              <a:rPr lang="en-US" sz="850" b="1" dirty="0">
                <a:solidFill>
                  <a:srgbClr val="C898FD"/>
                </a:solidFill>
                <a:latin typeface="Mona Sans" pitchFamily="34" charset="0"/>
                <a:ea typeface="Mona Sans" pitchFamily="34" charset="-122"/>
                <a:cs typeface="Mona Sans" pitchFamily="34" charset="-120"/>
              </a:rPr>
              <a:t>🤖  Coding Agents</a:t>
            </a:r>
            <a:endParaRPr lang="en-US" sz="850" dirty="0"/>
          </a:p>
        </p:txBody>
      </p:sp>
      <p:sp>
        <p:nvSpPr>
          <p:cNvPr id="35" name="Text 33"/>
          <p:cNvSpPr/>
          <p:nvPr/>
        </p:nvSpPr>
        <p:spPr>
          <a:xfrm>
            <a:off x="2633472" y="2587752"/>
            <a:ext cx="1709928" cy="274320"/>
          </a:xfrm>
          <a:prstGeom prst="rect">
            <a:avLst/>
          </a:prstGeom>
          <a:noFill/>
          <a:ln/>
        </p:spPr>
        <p:txBody>
          <a:bodyPr wrap="square" rtlCol="0" anchor="ctr"/>
          <a:lstStyle/>
          <a:p>
            <a:pPr marL="0" indent="0">
              <a:lnSpc>
                <a:spcPct val="115000"/>
              </a:lnSpc>
              <a:buNone/>
            </a:pPr>
            <a:r>
              <a:rPr lang="en-US" sz="700" dirty="0">
                <a:solidFill>
                  <a:srgbClr val="B6BFB8"/>
                </a:solidFill>
                <a:latin typeface="Mona Sans" pitchFamily="34" charset="0"/>
                <a:ea typeface="Mona Sans" pitchFamily="34" charset="-122"/>
                <a:cs typeface="Mona Sans" pitchFamily="34" charset="-120"/>
              </a:rPr>
              <a:t>Assign issues to agents that autonomously write code &amp; create PRs</a:t>
            </a:r>
            <a:endParaRPr lang="en-US" sz="700" dirty="0"/>
          </a:p>
        </p:txBody>
      </p:sp>
      <p:sp>
        <p:nvSpPr>
          <p:cNvPr id="36" name="Shape 34"/>
          <p:cNvSpPr/>
          <p:nvPr/>
        </p:nvSpPr>
        <p:spPr>
          <a:xfrm>
            <a:off x="2633472" y="2880360"/>
            <a:ext cx="1709928" cy="2743"/>
          </a:xfrm>
          <a:prstGeom prst="rect">
            <a:avLst/>
          </a:prstGeom>
          <a:solidFill>
            <a:srgbClr val="3D4540"/>
          </a:solidFill>
          <a:ln/>
        </p:spPr>
        <p:txBody>
          <a:bodyPr/>
          <a:lstStyle/>
          <a:p>
            <a:endParaRPr lang="en-US"/>
          </a:p>
        </p:txBody>
      </p:sp>
      <p:sp>
        <p:nvSpPr>
          <p:cNvPr id="37" name="Text 35"/>
          <p:cNvSpPr/>
          <p:nvPr/>
        </p:nvSpPr>
        <p:spPr>
          <a:xfrm>
            <a:off x="2633472" y="2916936"/>
            <a:ext cx="1709928" cy="292608"/>
          </a:xfrm>
          <a:prstGeom prst="rect">
            <a:avLst/>
          </a:prstGeom>
          <a:noFill/>
          <a:ln/>
        </p:spPr>
        <p:txBody>
          <a:bodyPr wrap="square" rtlCol="0" anchor="ctr"/>
          <a:lstStyle/>
          <a:p>
            <a:pPr marL="0" indent="0">
              <a:lnSpc>
                <a:spcPct val="110000"/>
              </a:lnSpc>
              <a:buNone/>
            </a:pPr>
            <a:r>
              <a:rPr lang="en-US" sz="600" dirty="0">
                <a:solidFill>
                  <a:srgbClr val="0FBF3E"/>
                </a:solidFill>
                <a:latin typeface="Mona Sans" pitchFamily="34" charset="0"/>
                <a:ea typeface="Mona Sans" pitchFamily="34" charset="-122"/>
                <a:cs typeface="Mona Sans" pitchFamily="34" charset="-120"/>
              </a:rPr>
              <a:t>🌏 Small SE Asian teams ship like large orgs — do more with less</a:t>
            </a:r>
            <a:endParaRPr lang="en-US" sz="600" dirty="0"/>
          </a:p>
        </p:txBody>
      </p:sp>
      <p:sp>
        <p:nvSpPr>
          <p:cNvPr id="38" name="Shape 36"/>
          <p:cNvSpPr/>
          <p:nvPr/>
        </p:nvSpPr>
        <p:spPr>
          <a:xfrm>
            <a:off x="4498848" y="2331720"/>
            <a:ext cx="1847088" cy="932688"/>
          </a:xfrm>
          <a:prstGeom prst="roundRect">
            <a:avLst>
              <a:gd name="adj" fmla="val 4902"/>
            </a:avLst>
          </a:prstGeom>
          <a:solidFill>
            <a:srgbClr val="101411"/>
          </a:solidFill>
          <a:ln/>
        </p:spPr>
        <p:txBody>
          <a:bodyPr/>
          <a:lstStyle/>
          <a:p>
            <a:endParaRPr lang="en-US"/>
          </a:p>
        </p:txBody>
      </p:sp>
      <p:sp>
        <p:nvSpPr>
          <p:cNvPr id="39" name="Text 37"/>
          <p:cNvSpPr/>
          <p:nvPr/>
        </p:nvSpPr>
        <p:spPr>
          <a:xfrm>
            <a:off x="4572000" y="2377440"/>
            <a:ext cx="1709928" cy="182880"/>
          </a:xfrm>
          <a:prstGeom prst="rect">
            <a:avLst/>
          </a:prstGeom>
          <a:noFill/>
          <a:ln/>
        </p:spPr>
        <p:txBody>
          <a:bodyPr wrap="square" rtlCol="0" anchor="ctr"/>
          <a:lstStyle/>
          <a:p>
            <a:pPr marL="0" indent="0">
              <a:buNone/>
            </a:pPr>
            <a:r>
              <a:rPr lang="en-US" sz="850" b="1" dirty="0">
                <a:solidFill>
                  <a:srgbClr val="C898FD"/>
                </a:solidFill>
                <a:latin typeface="Mona Sans" pitchFamily="34" charset="0"/>
                <a:ea typeface="Mona Sans" pitchFamily="34" charset="-122"/>
                <a:cs typeface="Mona Sans" pitchFamily="34" charset="-120"/>
              </a:rPr>
              <a:t>⌨️  Copilot CLI</a:t>
            </a:r>
            <a:endParaRPr lang="en-US" sz="850" dirty="0"/>
          </a:p>
        </p:txBody>
      </p:sp>
      <p:sp>
        <p:nvSpPr>
          <p:cNvPr id="40" name="Text 38"/>
          <p:cNvSpPr/>
          <p:nvPr/>
        </p:nvSpPr>
        <p:spPr>
          <a:xfrm>
            <a:off x="4572000" y="2587752"/>
            <a:ext cx="1709928" cy="274320"/>
          </a:xfrm>
          <a:prstGeom prst="rect">
            <a:avLst/>
          </a:prstGeom>
          <a:noFill/>
          <a:ln/>
        </p:spPr>
        <p:txBody>
          <a:bodyPr wrap="square" rtlCol="0" anchor="ctr"/>
          <a:lstStyle/>
          <a:p>
            <a:pPr marL="0" indent="0">
              <a:lnSpc>
                <a:spcPct val="115000"/>
              </a:lnSpc>
              <a:buNone/>
            </a:pPr>
            <a:r>
              <a:rPr lang="en-US" sz="700" dirty="0">
                <a:solidFill>
                  <a:srgbClr val="B6BFB8"/>
                </a:solidFill>
                <a:latin typeface="Mona Sans" pitchFamily="34" charset="0"/>
                <a:ea typeface="Mona Sans" pitchFamily="34" charset="-122"/>
                <a:cs typeface="Mona Sans" pitchFamily="34" charset="-120"/>
              </a:rPr>
              <a:t>Natural language commands in terminal to plan, build &amp; execute workflows</a:t>
            </a:r>
            <a:endParaRPr lang="en-US" sz="700" dirty="0"/>
          </a:p>
        </p:txBody>
      </p:sp>
      <p:sp>
        <p:nvSpPr>
          <p:cNvPr id="41" name="Shape 39"/>
          <p:cNvSpPr/>
          <p:nvPr/>
        </p:nvSpPr>
        <p:spPr>
          <a:xfrm>
            <a:off x="4572000" y="2880360"/>
            <a:ext cx="1709928" cy="2743"/>
          </a:xfrm>
          <a:prstGeom prst="rect">
            <a:avLst/>
          </a:prstGeom>
          <a:solidFill>
            <a:srgbClr val="3D4540"/>
          </a:solidFill>
          <a:ln/>
        </p:spPr>
        <p:txBody>
          <a:bodyPr/>
          <a:lstStyle/>
          <a:p>
            <a:endParaRPr lang="en-US"/>
          </a:p>
        </p:txBody>
      </p:sp>
      <p:sp>
        <p:nvSpPr>
          <p:cNvPr id="42" name="Text 40"/>
          <p:cNvSpPr/>
          <p:nvPr/>
        </p:nvSpPr>
        <p:spPr>
          <a:xfrm>
            <a:off x="4572000" y="2916936"/>
            <a:ext cx="1709928" cy="292608"/>
          </a:xfrm>
          <a:prstGeom prst="rect">
            <a:avLst/>
          </a:prstGeom>
          <a:noFill/>
          <a:ln/>
        </p:spPr>
        <p:txBody>
          <a:bodyPr wrap="square" rtlCol="0" anchor="ctr"/>
          <a:lstStyle/>
          <a:p>
            <a:pPr marL="0" indent="0">
              <a:lnSpc>
                <a:spcPct val="110000"/>
              </a:lnSpc>
              <a:buNone/>
            </a:pPr>
            <a:r>
              <a:rPr lang="en-US" sz="600" dirty="0">
                <a:solidFill>
                  <a:srgbClr val="0FBF3E"/>
                </a:solidFill>
                <a:latin typeface="Mona Sans" pitchFamily="34" charset="0"/>
                <a:ea typeface="Mona Sans" pitchFamily="34" charset="-122"/>
                <a:cs typeface="Mona Sans" pitchFamily="34" charset="-120"/>
              </a:rPr>
              <a:t>🌏 Accelerates onboarding for SE Asia's wave of new developers</a:t>
            </a:r>
            <a:endParaRPr lang="en-US" sz="600" dirty="0"/>
          </a:p>
        </p:txBody>
      </p:sp>
      <p:sp>
        <p:nvSpPr>
          <p:cNvPr id="43" name="Shape 41"/>
          <p:cNvSpPr/>
          <p:nvPr/>
        </p:nvSpPr>
        <p:spPr>
          <a:xfrm>
            <a:off x="6437376" y="2331720"/>
            <a:ext cx="1847088" cy="932688"/>
          </a:xfrm>
          <a:prstGeom prst="roundRect">
            <a:avLst>
              <a:gd name="adj" fmla="val 4902"/>
            </a:avLst>
          </a:prstGeom>
          <a:solidFill>
            <a:srgbClr val="101411"/>
          </a:solidFill>
          <a:ln/>
        </p:spPr>
        <p:txBody>
          <a:bodyPr/>
          <a:lstStyle/>
          <a:p>
            <a:endParaRPr lang="en-US"/>
          </a:p>
        </p:txBody>
      </p:sp>
      <p:sp>
        <p:nvSpPr>
          <p:cNvPr id="44" name="Text 42"/>
          <p:cNvSpPr/>
          <p:nvPr/>
        </p:nvSpPr>
        <p:spPr>
          <a:xfrm>
            <a:off x="6510528" y="2377440"/>
            <a:ext cx="1709928" cy="182880"/>
          </a:xfrm>
          <a:prstGeom prst="rect">
            <a:avLst/>
          </a:prstGeom>
          <a:noFill/>
          <a:ln/>
        </p:spPr>
        <p:txBody>
          <a:bodyPr wrap="square" rtlCol="0" anchor="ctr"/>
          <a:lstStyle/>
          <a:p>
            <a:pPr marL="0" indent="0">
              <a:buNone/>
            </a:pPr>
            <a:r>
              <a:rPr lang="en-US" sz="850" b="1" dirty="0">
                <a:solidFill>
                  <a:srgbClr val="C898FD"/>
                </a:solidFill>
                <a:latin typeface="Mona Sans" pitchFamily="34" charset="0"/>
                <a:ea typeface="Mona Sans" pitchFamily="34" charset="-122"/>
                <a:cs typeface="Mona Sans" pitchFamily="34" charset="-120"/>
              </a:rPr>
              <a:t>🏢  Enterprise</a:t>
            </a:r>
            <a:endParaRPr lang="en-US" sz="850" dirty="0"/>
          </a:p>
        </p:txBody>
      </p:sp>
      <p:sp>
        <p:nvSpPr>
          <p:cNvPr id="45" name="Text 43"/>
          <p:cNvSpPr/>
          <p:nvPr/>
        </p:nvSpPr>
        <p:spPr>
          <a:xfrm>
            <a:off x="6510528" y="2587752"/>
            <a:ext cx="1709928" cy="274320"/>
          </a:xfrm>
          <a:prstGeom prst="rect">
            <a:avLst/>
          </a:prstGeom>
          <a:noFill/>
          <a:ln/>
        </p:spPr>
        <p:txBody>
          <a:bodyPr wrap="square" rtlCol="0" anchor="ctr"/>
          <a:lstStyle/>
          <a:p>
            <a:pPr marL="0" indent="0">
              <a:lnSpc>
                <a:spcPct val="115000"/>
              </a:lnSpc>
              <a:buNone/>
            </a:pPr>
            <a:r>
              <a:rPr lang="en-US" sz="700" dirty="0">
                <a:solidFill>
                  <a:srgbClr val="B6BFB8"/>
                </a:solidFill>
                <a:latin typeface="Mona Sans" pitchFamily="34" charset="0"/>
                <a:ea typeface="Mona Sans" pitchFamily="34" charset="-122"/>
                <a:cs typeface="Mona Sans" pitchFamily="34" charset="-120"/>
              </a:rPr>
              <a:t>Custom knowledge bases, policy controls, IP indemnity &amp; MCP integration</a:t>
            </a:r>
            <a:endParaRPr lang="en-US" sz="700" dirty="0"/>
          </a:p>
        </p:txBody>
      </p:sp>
      <p:sp>
        <p:nvSpPr>
          <p:cNvPr id="46" name="Shape 44"/>
          <p:cNvSpPr/>
          <p:nvPr/>
        </p:nvSpPr>
        <p:spPr>
          <a:xfrm>
            <a:off x="6510528" y="2880360"/>
            <a:ext cx="1709928" cy="2743"/>
          </a:xfrm>
          <a:prstGeom prst="rect">
            <a:avLst/>
          </a:prstGeom>
          <a:solidFill>
            <a:srgbClr val="3D4540"/>
          </a:solidFill>
          <a:ln/>
        </p:spPr>
        <p:txBody>
          <a:bodyPr/>
          <a:lstStyle/>
          <a:p>
            <a:endParaRPr lang="en-US"/>
          </a:p>
        </p:txBody>
      </p:sp>
      <p:sp>
        <p:nvSpPr>
          <p:cNvPr id="47" name="Text 45"/>
          <p:cNvSpPr/>
          <p:nvPr/>
        </p:nvSpPr>
        <p:spPr>
          <a:xfrm>
            <a:off x="6510528" y="2916936"/>
            <a:ext cx="1709928" cy="292608"/>
          </a:xfrm>
          <a:prstGeom prst="rect">
            <a:avLst/>
          </a:prstGeom>
          <a:noFill/>
          <a:ln/>
        </p:spPr>
        <p:txBody>
          <a:bodyPr wrap="square" rtlCol="0" anchor="ctr"/>
          <a:lstStyle/>
          <a:p>
            <a:pPr marL="0" indent="0">
              <a:lnSpc>
                <a:spcPct val="110000"/>
              </a:lnSpc>
              <a:buNone/>
            </a:pPr>
            <a:r>
              <a:rPr lang="en-US" sz="600" dirty="0">
                <a:solidFill>
                  <a:srgbClr val="0FBF3E"/>
                </a:solidFill>
                <a:latin typeface="Mona Sans" pitchFamily="34" charset="0"/>
                <a:ea typeface="Mona Sans" pitchFamily="34" charset="-122"/>
                <a:cs typeface="Mona Sans" pitchFamily="34" charset="-120"/>
              </a:rPr>
              <a:t>🌏 Ready for Tokopedia-scale orgs: 1,000+ engineers, regulated industries</a:t>
            </a:r>
            <a:endParaRPr lang="en-US" sz="600" dirty="0"/>
          </a:p>
        </p:txBody>
      </p:sp>
      <p:sp>
        <p:nvSpPr>
          <p:cNvPr id="48" name="Shape 46"/>
          <p:cNvSpPr/>
          <p:nvPr/>
        </p:nvSpPr>
        <p:spPr>
          <a:xfrm>
            <a:off x="457200" y="3520440"/>
            <a:ext cx="8229600" cy="1170432"/>
          </a:xfrm>
          <a:prstGeom prst="roundRect">
            <a:avLst>
              <a:gd name="adj" fmla="val 6250"/>
            </a:avLst>
          </a:prstGeom>
          <a:solidFill>
            <a:srgbClr val="160048"/>
          </a:solidFill>
          <a:ln w="12700">
            <a:solidFill>
              <a:srgbClr val="26115F"/>
            </a:solidFill>
            <a:prstDash val="solid"/>
          </a:ln>
        </p:spPr>
        <p:txBody>
          <a:bodyPr/>
          <a:lstStyle/>
          <a:p>
            <a:endParaRPr lang="en-US"/>
          </a:p>
        </p:txBody>
      </p:sp>
      <p:sp>
        <p:nvSpPr>
          <p:cNvPr id="49" name="Shape 47"/>
          <p:cNvSpPr/>
          <p:nvPr/>
        </p:nvSpPr>
        <p:spPr>
          <a:xfrm>
            <a:off x="658368" y="3749040"/>
            <a:ext cx="41148" cy="731520"/>
          </a:xfrm>
          <a:prstGeom prst="rect">
            <a:avLst/>
          </a:prstGeom>
          <a:solidFill>
            <a:srgbClr val="0FBF3E"/>
          </a:solidFill>
          <a:ln/>
        </p:spPr>
        <p:txBody>
          <a:bodyPr/>
          <a:lstStyle/>
          <a:p>
            <a:endParaRPr lang="en-US"/>
          </a:p>
        </p:txBody>
      </p:sp>
      <p:sp>
        <p:nvSpPr>
          <p:cNvPr id="50" name="Text 48"/>
          <p:cNvSpPr/>
          <p:nvPr/>
        </p:nvSpPr>
        <p:spPr>
          <a:xfrm>
            <a:off x="914400" y="3657600"/>
            <a:ext cx="6400800" cy="320040"/>
          </a:xfrm>
          <a:prstGeom prst="rect">
            <a:avLst/>
          </a:prstGeom>
          <a:noFill/>
          <a:ln/>
        </p:spPr>
        <p:txBody>
          <a:bodyPr wrap="square" rtlCol="0" anchor="ctr"/>
          <a:lstStyle/>
          <a:p>
            <a:pPr marL="0" indent="0">
              <a:buNone/>
            </a:pPr>
            <a:r>
              <a:rPr lang="en-US" sz="1800" b="1" dirty="0">
                <a:solidFill>
                  <a:srgbClr val="F2F5F3"/>
                </a:solidFill>
                <a:latin typeface="Mona Sans" pitchFamily="34" charset="0"/>
                <a:ea typeface="Mona Sans" pitchFamily="34" charset="-122"/>
                <a:cs typeface="Mona Sans" pitchFamily="34" charset="-120"/>
              </a:rPr>
              <a:t>Building the Future of Software in Asia</a:t>
            </a:r>
            <a:endParaRPr lang="en-US" sz="1800" dirty="0"/>
          </a:p>
        </p:txBody>
      </p:sp>
      <p:sp>
        <p:nvSpPr>
          <p:cNvPr id="51" name="Text 49"/>
          <p:cNvSpPr/>
          <p:nvPr/>
        </p:nvSpPr>
        <p:spPr>
          <a:xfrm>
            <a:off x="914400" y="3977640"/>
            <a:ext cx="7132320" cy="594360"/>
          </a:xfrm>
          <a:prstGeom prst="rect">
            <a:avLst/>
          </a:prstGeom>
          <a:noFill/>
          <a:ln/>
        </p:spPr>
        <p:txBody>
          <a:bodyPr wrap="square" rtlCol="0" anchor="ctr"/>
          <a:lstStyle/>
          <a:p>
            <a:pPr marL="0" indent="0">
              <a:lnSpc>
                <a:spcPct val="130000"/>
              </a:lnSpc>
              <a:buNone/>
            </a:pPr>
            <a:r>
              <a:rPr lang="en-US" sz="850" dirty="0">
                <a:solidFill>
                  <a:srgbClr val="C898FD"/>
                </a:solidFill>
                <a:latin typeface="Mona Sans" pitchFamily="34" charset="0"/>
                <a:ea typeface="Mona Sans" pitchFamily="34" charset="-122"/>
                <a:cs typeface="Mona Sans" pitchFamily="34" charset="-120"/>
              </a:rPr>
              <a:t>Southeast Asia is home to the world's fastest-growing developer communities. With GitHub Copilot, the region's developers — from first-time coders in Jakarta to enterprise engineering teams in Singapore — have the same AI-powered tools as the world's leading technology companies. As one in three new GitHub developers will come from this region by 2030, Copilot ensures Asia doesn't just participate in the future of software — it leads it.</a:t>
            </a:r>
            <a:endParaRPr lang="en-US" sz="850" dirty="0"/>
          </a:p>
        </p:txBody>
      </p:sp>
      <p:pic>
        <p:nvPicPr>
          <p:cNvPr id="52" name="Image 0" descr="https://github.githubassets.com/images/modules/logos_page/GitHub-Mark.png"/>
          <p:cNvPicPr>
            <a:picLocks noChangeAspect="1"/>
          </p:cNvPicPr>
          <p:nvPr/>
        </p:nvPicPr>
        <p:blipFill>
          <a:blip r:embed="rId3"/>
          <a:stretch>
            <a:fillRect/>
          </a:stretch>
        </p:blipFill>
        <p:spPr>
          <a:xfrm>
            <a:off x="8092440" y="3703320"/>
            <a:ext cx="411480" cy="411480"/>
          </a:xfrm>
          <a:prstGeom prst="rect">
            <a:avLst/>
          </a:prstGeom>
        </p:spPr>
      </p:pic>
      <p:sp>
        <p:nvSpPr>
          <p:cNvPr id="53" name="Shape 50"/>
          <p:cNvSpPr/>
          <p:nvPr/>
        </p:nvSpPr>
        <p:spPr>
          <a:xfrm>
            <a:off x="457200" y="4905756"/>
            <a:ext cx="8229600" cy="3658"/>
          </a:xfrm>
          <a:prstGeom prst="rect">
            <a:avLst/>
          </a:prstGeom>
          <a:solidFill>
            <a:srgbClr val="3D4540"/>
          </a:solidFill>
          <a:ln/>
        </p:spPr>
        <p:txBody>
          <a:bodyPr/>
          <a:lstStyle/>
          <a:p>
            <a:endParaRPr lang="en-US"/>
          </a:p>
        </p:txBody>
      </p:sp>
      <p:sp>
        <p:nvSpPr>
          <p:cNvPr id="54" name="Text 51"/>
          <p:cNvSpPr/>
          <p:nvPr/>
        </p:nvSpPr>
        <p:spPr>
          <a:xfrm>
            <a:off x="457200" y="4942332"/>
            <a:ext cx="3657600" cy="137160"/>
          </a:xfrm>
          <a:prstGeom prst="rect">
            <a:avLst/>
          </a:prstGeom>
          <a:noFill/>
          <a:ln/>
        </p:spPr>
        <p:txBody>
          <a:bodyPr wrap="square" rtlCol="0" anchor="ctr"/>
          <a:lstStyle/>
          <a:p>
            <a:pPr marL="0" indent="0">
              <a:buNone/>
            </a:pPr>
            <a:r>
              <a:rPr lang="en-US" sz="650" u="sng" dirty="0">
                <a:solidFill>
                  <a:srgbClr val="909692"/>
                </a:solidFill>
                <a:latin typeface="Mona Sans" pitchFamily="34" charset="0"/>
                <a:ea typeface="Mona Sans" pitchFamily="34" charset="-122"/>
                <a:cs typeface="Mona Sans" pitchFamily="34" charset="-120"/>
                <a:hlinkClick r:id="rId4">
                  <a:extLst>
                    <a:ext uri="{A12FA001-AC4F-418D-AE19-62706E023703}">
                      <ahyp:hlinkClr xmlns:ahyp="http://schemas.microsoft.com/office/drawing/2018/hyperlinkcolor" val="tx"/>
                    </a:ext>
                  </a:extLst>
                </a:hlinkClick>
              </a:rPr>
              <a:t>github.com/features/copilot</a:t>
            </a:r>
            <a:endParaRPr lang="en-US" sz="650" dirty="0"/>
          </a:p>
        </p:txBody>
      </p:sp>
      <p:sp>
        <p:nvSpPr>
          <p:cNvPr id="55" name="Text 52"/>
          <p:cNvSpPr/>
          <p:nvPr/>
        </p:nvSpPr>
        <p:spPr>
          <a:xfrm>
            <a:off x="5486400" y="4942332"/>
            <a:ext cx="3200400" cy="137160"/>
          </a:xfrm>
          <a:prstGeom prst="rect">
            <a:avLst/>
          </a:prstGeom>
          <a:noFill/>
          <a:ln/>
        </p:spPr>
        <p:txBody>
          <a:bodyPr wrap="square" rtlCol="0" anchor="ctr"/>
          <a:lstStyle/>
          <a:p>
            <a:pPr marL="0" indent="0" algn="r">
              <a:buNone/>
            </a:pPr>
            <a:r>
              <a:rPr lang="en-US" sz="650" dirty="0">
                <a:solidFill>
                  <a:srgbClr val="909692"/>
                </a:solidFill>
                <a:latin typeface="Mona Sans" pitchFamily="34" charset="0"/>
                <a:ea typeface="Mona Sans" pitchFamily="34" charset="-122"/>
                <a:cs typeface="Mona Sans" pitchFamily="34" charset="-120"/>
              </a:rPr>
              <a:t>Primer Copilot Theme  ·  primer.style</a:t>
            </a:r>
            <a:endParaRPr lang="en-US" sz="650" dirty="0"/>
          </a:p>
        </p:txBody>
      </p:sp>
    </p:spTree>
    <p:extLst>
      <p:ext uri="{BB962C8B-B14F-4D97-AF65-F5344CB8AC3E}">
        <p14:creationId xmlns:p14="http://schemas.microsoft.com/office/powerpoint/2010/main" val="121168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01411"/>
          </a:solidFill>
          <a:ln/>
        </p:spPr>
        <p:txBody>
          <a:bodyPr/>
          <a:lstStyle/>
          <a:p>
            <a:endParaRPr lang="en-US"/>
          </a:p>
        </p:txBody>
      </p:sp>
      <p:sp>
        <p:nvSpPr>
          <p:cNvPr id="3" name="Shape 1"/>
          <p:cNvSpPr/>
          <p:nvPr/>
        </p:nvSpPr>
        <p:spPr>
          <a:xfrm>
            <a:off x="0" y="0"/>
            <a:ext cx="9144000" cy="36576"/>
          </a:xfrm>
          <a:prstGeom prst="rect">
            <a:avLst/>
          </a:prstGeom>
          <a:solidFill>
            <a:srgbClr val="3094FF"/>
          </a:solidFill>
          <a:ln/>
        </p:spPr>
        <p:txBody>
          <a:bodyPr/>
          <a:lstStyle/>
          <a:p>
            <a:endParaRPr lang="en-US"/>
          </a:p>
        </p:txBody>
      </p:sp>
      <p:sp>
        <p:nvSpPr>
          <p:cNvPr id="4" name="Text 2"/>
          <p:cNvSpPr/>
          <p:nvPr/>
        </p:nvSpPr>
        <p:spPr>
          <a:xfrm>
            <a:off x="457200" y="91440"/>
            <a:ext cx="6400800" cy="137160"/>
          </a:xfrm>
          <a:prstGeom prst="rect">
            <a:avLst/>
          </a:prstGeom>
          <a:noFill/>
          <a:ln/>
        </p:spPr>
        <p:txBody>
          <a:bodyPr wrap="square" rtlCol="0" anchor="ctr"/>
          <a:lstStyle/>
          <a:p>
            <a:pPr marL="0" indent="0">
              <a:buNone/>
            </a:pPr>
            <a:r>
              <a:rPr lang="en-US" sz="700" b="1" dirty="0">
                <a:solidFill>
                  <a:srgbClr val="9EECFF"/>
                </a:solidFill>
                <a:latin typeface="Mona Sans" pitchFamily="34" charset="0"/>
                <a:ea typeface="Mona Sans" pitchFamily="34" charset="-122"/>
                <a:cs typeface="Mona Sans" pitchFamily="34" charset="-120"/>
              </a:rPr>
              <a:t>MICROSOFT &amp; AZURE  ·  SOUTHEAST ASIA INVESTMENT</a:t>
            </a:r>
            <a:endParaRPr lang="en-US" sz="700" dirty="0"/>
          </a:p>
        </p:txBody>
      </p:sp>
      <p:sp>
        <p:nvSpPr>
          <p:cNvPr id="5" name="Text 3"/>
          <p:cNvSpPr/>
          <p:nvPr/>
        </p:nvSpPr>
        <p:spPr>
          <a:xfrm>
            <a:off x="457200" y="219456"/>
            <a:ext cx="8229600" cy="310896"/>
          </a:xfrm>
          <a:prstGeom prst="rect">
            <a:avLst/>
          </a:prstGeom>
          <a:noFill/>
          <a:ln/>
        </p:spPr>
        <p:txBody>
          <a:bodyPr wrap="square" rtlCol="0" anchor="ctr"/>
          <a:lstStyle/>
          <a:p>
            <a:pPr marL="0" indent="0">
              <a:buNone/>
            </a:pPr>
            <a:r>
              <a:rPr lang="en-US" sz="2100" b="1" dirty="0">
                <a:solidFill>
                  <a:srgbClr val="F2F5F3"/>
                </a:solidFill>
                <a:latin typeface="Mona Sans" pitchFamily="34" charset="0"/>
                <a:ea typeface="Mona Sans" pitchFamily="34" charset="-122"/>
                <a:cs typeface="Mona Sans" pitchFamily="34" charset="-120"/>
              </a:rPr>
              <a:t>Powering SE Asia's AI &amp; Cloud Future</a:t>
            </a:r>
            <a:endParaRPr lang="en-US" sz="2100" dirty="0"/>
          </a:p>
        </p:txBody>
      </p:sp>
      <p:sp>
        <p:nvSpPr>
          <p:cNvPr id="6" name="Text 4"/>
          <p:cNvSpPr/>
          <p:nvPr/>
        </p:nvSpPr>
        <p:spPr>
          <a:xfrm>
            <a:off x="457200" y="521208"/>
            <a:ext cx="7315200" cy="146304"/>
          </a:xfrm>
          <a:prstGeom prst="rect">
            <a:avLst/>
          </a:prstGeom>
          <a:noFill/>
          <a:ln/>
        </p:spPr>
        <p:txBody>
          <a:bodyPr wrap="square" rtlCol="0" anchor="ctr"/>
          <a:lstStyle/>
          <a:p>
            <a:pPr marL="0" indent="0">
              <a:buNone/>
            </a:pPr>
            <a:r>
              <a:rPr lang="en-US" sz="850" dirty="0">
                <a:solidFill>
                  <a:srgbClr val="B6BFB8"/>
                </a:solidFill>
                <a:latin typeface="Mona Sans" pitchFamily="34" charset="0"/>
                <a:ea typeface="Mona Sans" pitchFamily="34" charset="-122"/>
                <a:cs typeface="Mona Sans" pitchFamily="34" charset="-120"/>
              </a:rPr>
              <a:t>Billions in infrastructure, new datacenter regions, and AI skilling commitments across the region</a:t>
            </a:r>
            <a:endParaRPr lang="en-US" sz="850" dirty="0"/>
          </a:p>
        </p:txBody>
      </p:sp>
      <p:sp>
        <p:nvSpPr>
          <p:cNvPr id="7" name="Shape 5"/>
          <p:cNvSpPr/>
          <p:nvPr/>
        </p:nvSpPr>
        <p:spPr>
          <a:xfrm>
            <a:off x="457200" y="713232"/>
            <a:ext cx="8229600" cy="4572"/>
          </a:xfrm>
          <a:prstGeom prst="rect">
            <a:avLst/>
          </a:prstGeom>
          <a:solidFill>
            <a:srgbClr val="3D4540"/>
          </a:solidFill>
          <a:ln/>
        </p:spPr>
        <p:txBody>
          <a:bodyPr/>
          <a:lstStyle/>
          <a:p>
            <a:endParaRPr lang="en-US"/>
          </a:p>
        </p:txBody>
      </p:sp>
      <p:sp>
        <p:nvSpPr>
          <p:cNvPr id="8" name="Shape 6"/>
          <p:cNvSpPr/>
          <p:nvPr/>
        </p:nvSpPr>
        <p:spPr>
          <a:xfrm>
            <a:off x="457200" y="804672"/>
            <a:ext cx="1920240" cy="658368"/>
          </a:xfrm>
          <a:prstGeom prst="roundRect">
            <a:avLst>
              <a:gd name="adj" fmla="val 8333"/>
            </a:avLst>
          </a:prstGeom>
          <a:solidFill>
            <a:srgbClr val="232925"/>
          </a:solidFill>
          <a:ln w="12700">
            <a:solidFill>
              <a:srgbClr val="3D4540"/>
            </a:solidFill>
            <a:prstDash val="solid"/>
          </a:ln>
        </p:spPr>
        <p:txBody>
          <a:bodyPr/>
          <a:lstStyle/>
          <a:p>
            <a:endParaRPr lang="en-US"/>
          </a:p>
        </p:txBody>
      </p:sp>
      <p:sp>
        <p:nvSpPr>
          <p:cNvPr id="9" name="Text 7"/>
          <p:cNvSpPr/>
          <p:nvPr/>
        </p:nvSpPr>
        <p:spPr>
          <a:xfrm>
            <a:off x="548640" y="841248"/>
            <a:ext cx="1737360" cy="320040"/>
          </a:xfrm>
          <a:prstGeom prst="rect">
            <a:avLst/>
          </a:prstGeom>
          <a:noFill/>
          <a:ln/>
        </p:spPr>
        <p:txBody>
          <a:bodyPr wrap="square" rtlCol="0" anchor="ctr"/>
          <a:lstStyle/>
          <a:p>
            <a:pPr marL="0" indent="0" algn="ctr">
              <a:buNone/>
            </a:pPr>
            <a:r>
              <a:rPr lang="en-US" sz="2200" b="1" dirty="0">
                <a:solidFill>
                  <a:srgbClr val="3094FF"/>
                </a:solidFill>
                <a:latin typeface="Mona Sans" pitchFamily="34" charset="0"/>
                <a:ea typeface="Mona Sans" pitchFamily="34" charset="-122"/>
                <a:cs typeface="Mona Sans" pitchFamily="34" charset="-120"/>
              </a:rPr>
              <a:t>$1.7B</a:t>
            </a:r>
            <a:endParaRPr lang="en-US" sz="2200" dirty="0"/>
          </a:p>
        </p:txBody>
      </p:sp>
      <p:sp>
        <p:nvSpPr>
          <p:cNvPr id="10" name="Text 8"/>
          <p:cNvSpPr/>
          <p:nvPr/>
        </p:nvSpPr>
        <p:spPr>
          <a:xfrm>
            <a:off x="548640" y="1161288"/>
            <a:ext cx="1737360" cy="256032"/>
          </a:xfrm>
          <a:prstGeom prst="rect">
            <a:avLst/>
          </a:prstGeom>
          <a:noFill/>
          <a:ln/>
        </p:spPr>
        <p:txBody>
          <a:bodyPr wrap="square" rtlCol="0" anchor="t"/>
          <a:lstStyle/>
          <a:p>
            <a:pPr marL="0" indent="0" algn="ctr">
              <a:buNone/>
            </a:pPr>
            <a:r>
              <a:rPr lang="en-US" sz="700" dirty="0">
                <a:solidFill>
                  <a:srgbClr val="B6BFB8"/>
                </a:solidFill>
                <a:latin typeface="Mona Sans" pitchFamily="34" charset="0"/>
                <a:ea typeface="Mona Sans" pitchFamily="34" charset="-122"/>
                <a:cs typeface="Mona Sans" pitchFamily="34" charset="-120"/>
              </a:rPr>
              <a:t>invested in</a:t>
            </a:r>
            <a:endParaRPr lang="en-US" sz="700" dirty="0"/>
          </a:p>
          <a:p>
            <a:pPr marL="0" indent="0" algn="ctr">
              <a:buNone/>
            </a:pPr>
            <a:r>
              <a:rPr lang="en-US" sz="700" dirty="0">
                <a:solidFill>
                  <a:srgbClr val="B6BFB8"/>
                </a:solidFill>
                <a:latin typeface="Mona Sans" pitchFamily="34" charset="0"/>
                <a:ea typeface="Mona Sans" pitchFamily="34" charset="-122"/>
                <a:cs typeface="Mona Sans" pitchFamily="34" charset="-120"/>
              </a:rPr>
              <a:t>Indonesia</a:t>
            </a:r>
            <a:endParaRPr lang="en-US" sz="700" dirty="0"/>
          </a:p>
        </p:txBody>
      </p:sp>
      <p:sp>
        <p:nvSpPr>
          <p:cNvPr id="11" name="Shape 9"/>
          <p:cNvSpPr/>
          <p:nvPr/>
        </p:nvSpPr>
        <p:spPr>
          <a:xfrm>
            <a:off x="2587752" y="804672"/>
            <a:ext cx="1920240" cy="658368"/>
          </a:xfrm>
          <a:prstGeom prst="roundRect">
            <a:avLst>
              <a:gd name="adj" fmla="val 8333"/>
            </a:avLst>
          </a:prstGeom>
          <a:solidFill>
            <a:srgbClr val="232925"/>
          </a:solidFill>
          <a:ln w="12700">
            <a:solidFill>
              <a:srgbClr val="3D4540"/>
            </a:solidFill>
            <a:prstDash val="solid"/>
          </a:ln>
        </p:spPr>
        <p:txBody>
          <a:bodyPr/>
          <a:lstStyle/>
          <a:p>
            <a:endParaRPr lang="en-US"/>
          </a:p>
        </p:txBody>
      </p:sp>
      <p:sp>
        <p:nvSpPr>
          <p:cNvPr id="12" name="Text 10"/>
          <p:cNvSpPr/>
          <p:nvPr/>
        </p:nvSpPr>
        <p:spPr>
          <a:xfrm>
            <a:off x="2679192" y="841248"/>
            <a:ext cx="1737360" cy="320040"/>
          </a:xfrm>
          <a:prstGeom prst="rect">
            <a:avLst/>
          </a:prstGeom>
          <a:noFill/>
          <a:ln/>
        </p:spPr>
        <p:txBody>
          <a:bodyPr wrap="square" rtlCol="0" anchor="ctr"/>
          <a:lstStyle/>
          <a:p>
            <a:pPr marL="0" indent="0" algn="ctr">
              <a:buNone/>
            </a:pPr>
            <a:r>
              <a:rPr lang="en-US" sz="2200" b="1" dirty="0">
                <a:solidFill>
                  <a:srgbClr val="3094FF"/>
                </a:solidFill>
                <a:latin typeface="Mona Sans" pitchFamily="34" charset="0"/>
                <a:ea typeface="Mona Sans" pitchFamily="34" charset="-122"/>
                <a:cs typeface="Mona Sans" pitchFamily="34" charset="-120"/>
              </a:rPr>
              <a:t>3</a:t>
            </a:r>
            <a:endParaRPr lang="en-US" sz="2200" dirty="0"/>
          </a:p>
        </p:txBody>
      </p:sp>
      <p:sp>
        <p:nvSpPr>
          <p:cNvPr id="13" name="Text 11"/>
          <p:cNvSpPr/>
          <p:nvPr/>
        </p:nvSpPr>
        <p:spPr>
          <a:xfrm>
            <a:off x="2679192" y="1161288"/>
            <a:ext cx="1737360" cy="256032"/>
          </a:xfrm>
          <a:prstGeom prst="rect">
            <a:avLst/>
          </a:prstGeom>
          <a:noFill/>
          <a:ln/>
        </p:spPr>
        <p:txBody>
          <a:bodyPr wrap="square" rtlCol="0" anchor="t"/>
          <a:lstStyle/>
          <a:p>
            <a:pPr marL="0" indent="0" algn="ctr">
              <a:buNone/>
            </a:pPr>
            <a:r>
              <a:rPr lang="en-US" sz="700" dirty="0">
                <a:solidFill>
                  <a:srgbClr val="B6BFB8"/>
                </a:solidFill>
                <a:latin typeface="Mona Sans" pitchFamily="34" charset="0"/>
                <a:ea typeface="Mona Sans" pitchFamily="34" charset="-122"/>
                <a:cs typeface="Mona Sans" pitchFamily="34" charset="-120"/>
              </a:rPr>
              <a:t>new datacenter</a:t>
            </a:r>
            <a:endParaRPr lang="en-US" sz="700" dirty="0"/>
          </a:p>
          <a:p>
            <a:pPr marL="0" indent="0" algn="ctr">
              <a:buNone/>
            </a:pPr>
            <a:r>
              <a:rPr lang="en-US" sz="700" dirty="0">
                <a:solidFill>
                  <a:srgbClr val="B6BFB8"/>
                </a:solidFill>
                <a:latin typeface="Mona Sans" pitchFamily="34" charset="0"/>
                <a:ea typeface="Mona Sans" pitchFamily="34" charset="-122"/>
                <a:cs typeface="Mona Sans" pitchFamily="34" charset="-120"/>
              </a:rPr>
              <a:t>regions in SE Asia</a:t>
            </a:r>
            <a:endParaRPr lang="en-US" sz="700" dirty="0"/>
          </a:p>
        </p:txBody>
      </p:sp>
      <p:sp>
        <p:nvSpPr>
          <p:cNvPr id="14" name="Shape 12"/>
          <p:cNvSpPr/>
          <p:nvPr/>
        </p:nvSpPr>
        <p:spPr>
          <a:xfrm>
            <a:off x="4718304" y="804672"/>
            <a:ext cx="1920240" cy="658368"/>
          </a:xfrm>
          <a:prstGeom prst="roundRect">
            <a:avLst>
              <a:gd name="adj" fmla="val 8333"/>
            </a:avLst>
          </a:prstGeom>
          <a:solidFill>
            <a:srgbClr val="232925"/>
          </a:solidFill>
          <a:ln w="12700">
            <a:solidFill>
              <a:srgbClr val="3D4540"/>
            </a:solidFill>
            <a:prstDash val="solid"/>
          </a:ln>
        </p:spPr>
        <p:txBody>
          <a:bodyPr/>
          <a:lstStyle/>
          <a:p>
            <a:endParaRPr lang="en-US"/>
          </a:p>
        </p:txBody>
      </p:sp>
      <p:sp>
        <p:nvSpPr>
          <p:cNvPr id="15" name="Text 13"/>
          <p:cNvSpPr/>
          <p:nvPr/>
        </p:nvSpPr>
        <p:spPr>
          <a:xfrm>
            <a:off x="4809744" y="841248"/>
            <a:ext cx="1737360" cy="320040"/>
          </a:xfrm>
          <a:prstGeom prst="rect">
            <a:avLst/>
          </a:prstGeom>
          <a:noFill/>
          <a:ln/>
        </p:spPr>
        <p:txBody>
          <a:bodyPr wrap="square" rtlCol="0" anchor="ctr"/>
          <a:lstStyle/>
          <a:p>
            <a:pPr marL="0" indent="0" algn="ctr">
              <a:buNone/>
            </a:pPr>
            <a:r>
              <a:rPr lang="en-US" sz="2200" b="1" dirty="0">
                <a:solidFill>
                  <a:srgbClr val="0FBF3E"/>
                </a:solidFill>
                <a:latin typeface="Mona Sans" pitchFamily="34" charset="0"/>
                <a:ea typeface="Mona Sans" pitchFamily="34" charset="-122"/>
                <a:cs typeface="Mona Sans" pitchFamily="34" charset="-120"/>
              </a:rPr>
              <a:t>2.5M</a:t>
            </a:r>
            <a:endParaRPr lang="en-US" sz="2200" dirty="0"/>
          </a:p>
        </p:txBody>
      </p:sp>
      <p:sp>
        <p:nvSpPr>
          <p:cNvPr id="16" name="Text 14"/>
          <p:cNvSpPr/>
          <p:nvPr/>
        </p:nvSpPr>
        <p:spPr>
          <a:xfrm>
            <a:off x="4809744" y="1161288"/>
            <a:ext cx="1737360" cy="256032"/>
          </a:xfrm>
          <a:prstGeom prst="rect">
            <a:avLst/>
          </a:prstGeom>
          <a:noFill/>
          <a:ln/>
        </p:spPr>
        <p:txBody>
          <a:bodyPr wrap="square" rtlCol="0" anchor="t"/>
          <a:lstStyle/>
          <a:p>
            <a:pPr marL="0" indent="0" algn="ctr">
              <a:buNone/>
            </a:pPr>
            <a:r>
              <a:rPr lang="en-US" sz="700" dirty="0">
                <a:solidFill>
                  <a:srgbClr val="B6BFB8"/>
                </a:solidFill>
                <a:latin typeface="Mona Sans" pitchFamily="34" charset="0"/>
                <a:ea typeface="Mona Sans" pitchFamily="34" charset="-122"/>
                <a:cs typeface="Mona Sans" pitchFamily="34" charset="-120"/>
              </a:rPr>
              <a:t>ASEAN AI</a:t>
            </a:r>
            <a:endParaRPr lang="en-US" sz="700" dirty="0"/>
          </a:p>
          <a:p>
            <a:pPr marL="0" indent="0" algn="ctr">
              <a:buNone/>
            </a:pPr>
            <a:r>
              <a:rPr lang="en-US" sz="700" dirty="0">
                <a:solidFill>
                  <a:srgbClr val="B6BFB8"/>
                </a:solidFill>
                <a:latin typeface="Mona Sans" pitchFamily="34" charset="0"/>
                <a:ea typeface="Mona Sans" pitchFamily="34" charset="-122"/>
                <a:cs typeface="Mona Sans" pitchFamily="34" charset="-120"/>
              </a:rPr>
              <a:t>skilling target</a:t>
            </a:r>
            <a:endParaRPr lang="en-US" sz="700" dirty="0"/>
          </a:p>
        </p:txBody>
      </p:sp>
      <p:sp>
        <p:nvSpPr>
          <p:cNvPr id="17" name="Shape 15"/>
          <p:cNvSpPr/>
          <p:nvPr/>
        </p:nvSpPr>
        <p:spPr>
          <a:xfrm>
            <a:off x="6848856" y="804672"/>
            <a:ext cx="1920240" cy="658368"/>
          </a:xfrm>
          <a:prstGeom prst="roundRect">
            <a:avLst>
              <a:gd name="adj" fmla="val 8333"/>
            </a:avLst>
          </a:prstGeom>
          <a:solidFill>
            <a:srgbClr val="232925"/>
          </a:solidFill>
          <a:ln w="12700">
            <a:solidFill>
              <a:srgbClr val="3D4540"/>
            </a:solidFill>
            <a:prstDash val="solid"/>
          </a:ln>
        </p:spPr>
        <p:txBody>
          <a:bodyPr/>
          <a:lstStyle/>
          <a:p>
            <a:endParaRPr lang="en-US"/>
          </a:p>
        </p:txBody>
      </p:sp>
      <p:sp>
        <p:nvSpPr>
          <p:cNvPr id="18" name="Text 16"/>
          <p:cNvSpPr/>
          <p:nvPr/>
        </p:nvSpPr>
        <p:spPr>
          <a:xfrm>
            <a:off x="6940296" y="841248"/>
            <a:ext cx="1737360" cy="320040"/>
          </a:xfrm>
          <a:prstGeom prst="rect">
            <a:avLst/>
          </a:prstGeom>
          <a:noFill/>
          <a:ln/>
        </p:spPr>
        <p:txBody>
          <a:bodyPr wrap="square" rtlCol="0" anchor="ctr"/>
          <a:lstStyle/>
          <a:p>
            <a:pPr marL="0" indent="0" algn="ctr">
              <a:buNone/>
            </a:pPr>
            <a:r>
              <a:rPr lang="en-US" sz="2200" b="1" dirty="0">
                <a:solidFill>
                  <a:srgbClr val="0FBF3E"/>
                </a:solidFill>
                <a:latin typeface="Mona Sans" pitchFamily="34" charset="0"/>
                <a:ea typeface="Mona Sans" pitchFamily="34" charset="-122"/>
                <a:cs typeface="Mona Sans" pitchFamily="34" charset="-120"/>
              </a:rPr>
              <a:t>$1T</a:t>
            </a:r>
            <a:endParaRPr lang="en-US" sz="2200" dirty="0"/>
          </a:p>
        </p:txBody>
      </p:sp>
      <p:sp>
        <p:nvSpPr>
          <p:cNvPr id="19" name="Text 17"/>
          <p:cNvSpPr/>
          <p:nvPr/>
        </p:nvSpPr>
        <p:spPr>
          <a:xfrm>
            <a:off x="6940296" y="1161288"/>
            <a:ext cx="1737360" cy="256032"/>
          </a:xfrm>
          <a:prstGeom prst="rect">
            <a:avLst/>
          </a:prstGeom>
          <a:noFill/>
          <a:ln/>
        </p:spPr>
        <p:txBody>
          <a:bodyPr wrap="square" rtlCol="0" anchor="t"/>
          <a:lstStyle/>
          <a:p>
            <a:pPr marL="0" indent="0" algn="ctr">
              <a:buNone/>
            </a:pPr>
            <a:r>
              <a:rPr lang="en-US" sz="700" dirty="0">
                <a:solidFill>
                  <a:srgbClr val="B6BFB8"/>
                </a:solidFill>
                <a:latin typeface="Mona Sans" pitchFamily="34" charset="0"/>
                <a:ea typeface="Mona Sans" pitchFamily="34" charset="-122"/>
                <a:cs typeface="Mona Sans" pitchFamily="34" charset="-120"/>
              </a:rPr>
              <a:t>AI GDP impact</a:t>
            </a:r>
            <a:endParaRPr lang="en-US" sz="700" dirty="0"/>
          </a:p>
          <a:p>
            <a:pPr marL="0" indent="0" algn="ctr">
              <a:buNone/>
            </a:pPr>
            <a:r>
              <a:rPr lang="en-US" sz="700" dirty="0">
                <a:solidFill>
                  <a:srgbClr val="B6BFB8"/>
                </a:solidFill>
                <a:latin typeface="Mona Sans" pitchFamily="34" charset="0"/>
                <a:ea typeface="Mona Sans" pitchFamily="34" charset="-122"/>
                <a:cs typeface="Mona Sans" pitchFamily="34" charset="-120"/>
              </a:rPr>
              <a:t>by 2030 (Kearney)</a:t>
            </a:r>
            <a:endParaRPr lang="en-US" sz="700" dirty="0"/>
          </a:p>
        </p:txBody>
      </p:sp>
      <p:sp>
        <p:nvSpPr>
          <p:cNvPr id="20" name="Shape 18"/>
          <p:cNvSpPr/>
          <p:nvPr/>
        </p:nvSpPr>
        <p:spPr>
          <a:xfrm>
            <a:off x="457200" y="1609344"/>
            <a:ext cx="2651760" cy="1874520"/>
          </a:xfrm>
          <a:prstGeom prst="roundRect">
            <a:avLst>
              <a:gd name="adj" fmla="val 3415"/>
            </a:avLst>
          </a:prstGeom>
          <a:solidFill>
            <a:srgbClr val="232925"/>
          </a:solidFill>
          <a:ln w="12700">
            <a:solidFill>
              <a:srgbClr val="3D4540"/>
            </a:solidFill>
            <a:prstDash val="solid"/>
          </a:ln>
        </p:spPr>
        <p:txBody>
          <a:bodyPr/>
          <a:lstStyle/>
          <a:p>
            <a:endParaRPr lang="en-US"/>
          </a:p>
        </p:txBody>
      </p:sp>
      <p:sp>
        <p:nvSpPr>
          <p:cNvPr id="21" name="Shape 19"/>
          <p:cNvSpPr/>
          <p:nvPr/>
        </p:nvSpPr>
        <p:spPr>
          <a:xfrm>
            <a:off x="594360" y="1682496"/>
            <a:ext cx="658368" cy="155448"/>
          </a:xfrm>
          <a:prstGeom prst="roundRect">
            <a:avLst>
              <a:gd name="adj" fmla="val 23529"/>
            </a:avLst>
          </a:prstGeom>
          <a:solidFill>
            <a:srgbClr val="001C4D"/>
          </a:solidFill>
          <a:ln/>
        </p:spPr>
        <p:txBody>
          <a:bodyPr/>
          <a:lstStyle/>
          <a:p>
            <a:endParaRPr lang="en-US"/>
          </a:p>
        </p:txBody>
      </p:sp>
      <p:sp>
        <p:nvSpPr>
          <p:cNvPr id="22" name="Text 20"/>
          <p:cNvSpPr/>
          <p:nvPr/>
        </p:nvSpPr>
        <p:spPr>
          <a:xfrm>
            <a:off x="594360" y="1682496"/>
            <a:ext cx="658368" cy="155448"/>
          </a:xfrm>
          <a:prstGeom prst="rect">
            <a:avLst/>
          </a:prstGeom>
          <a:noFill/>
          <a:ln/>
        </p:spPr>
        <p:txBody>
          <a:bodyPr wrap="square" rtlCol="0" anchor="ctr"/>
          <a:lstStyle/>
          <a:p>
            <a:pPr marL="0" indent="0" algn="ctr">
              <a:buNone/>
            </a:pPr>
            <a:r>
              <a:rPr lang="en-US" sz="550" b="1" dirty="0">
                <a:solidFill>
                  <a:srgbClr val="9EECFF"/>
                </a:solidFill>
                <a:latin typeface="Mona Sans" pitchFamily="34" charset="0"/>
                <a:ea typeface="Mona Sans" pitchFamily="34" charset="-122"/>
                <a:cs typeface="Mona Sans" pitchFamily="34" charset="-120"/>
              </a:rPr>
              <a:t>🇮🇩 INDONESIA</a:t>
            </a:r>
            <a:endParaRPr lang="en-US" sz="550" dirty="0"/>
          </a:p>
        </p:txBody>
      </p:sp>
      <p:sp>
        <p:nvSpPr>
          <p:cNvPr id="23" name="Text 21"/>
          <p:cNvSpPr/>
          <p:nvPr/>
        </p:nvSpPr>
        <p:spPr>
          <a:xfrm>
            <a:off x="594360" y="1883664"/>
            <a:ext cx="2377440" cy="182880"/>
          </a:xfrm>
          <a:prstGeom prst="rect">
            <a:avLst/>
          </a:prstGeom>
          <a:noFill/>
          <a:ln/>
        </p:spPr>
        <p:txBody>
          <a:bodyPr wrap="square" rtlCol="0" anchor="ctr"/>
          <a:lstStyle/>
          <a:p>
            <a:pPr marL="0" indent="0">
              <a:buNone/>
            </a:pPr>
            <a:r>
              <a:rPr lang="en-US" sz="1100" b="1" dirty="0">
                <a:solidFill>
                  <a:srgbClr val="F2F5F3"/>
                </a:solidFill>
                <a:latin typeface="Mona Sans" pitchFamily="34" charset="0"/>
                <a:ea typeface="Mona Sans" pitchFamily="34" charset="-122"/>
                <a:cs typeface="Mona Sans" pitchFamily="34" charset="-120"/>
              </a:rPr>
              <a:t>$1.7B Cloud &amp; AI</a:t>
            </a:r>
            <a:endParaRPr lang="en-US" sz="1100" dirty="0"/>
          </a:p>
        </p:txBody>
      </p:sp>
      <p:sp>
        <p:nvSpPr>
          <p:cNvPr id="24" name="Text 22"/>
          <p:cNvSpPr/>
          <p:nvPr/>
        </p:nvSpPr>
        <p:spPr>
          <a:xfrm>
            <a:off x="594360" y="2066544"/>
            <a:ext cx="2377440" cy="128016"/>
          </a:xfrm>
          <a:prstGeom prst="rect">
            <a:avLst/>
          </a:prstGeom>
          <a:noFill/>
          <a:ln/>
        </p:spPr>
        <p:txBody>
          <a:bodyPr wrap="square" rtlCol="0" anchor="ctr"/>
          <a:lstStyle/>
          <a:p>
            <a:pPr marL="0" indent="0">
              <a:buNone/>
            </a:pPr>
            <a:r>
              <a:rPr lang="en-US" sz="700" dirty="0">
                <a:solidFill>
                  <a:srgbClr val="3094FF"/>
                </a:solidFill>
                <a:latin typeface="Mona Sans" pitchFamily="34" charset="0"/>
                <a:ea typeface="Mona Sans" pitchFamily="34" charset="-122"/>
                <a:cs typeface="Mona Sans" pitchFamily="34" charset="-120"/>
              </a:rPr>
              <a:t>Indonesia Central region launched May 2025</a:t>
            </a:r>
            <a:endParaRPr lang="en-US" sz="700" dirty="0"/>
          </a:p>
        </p:txBody>
      </p:sp>
      <p:sp>
        <p:nvSpPr>
          <p:cNvPr id="25" name="Shape 23"/>
          <p:cNvSpPr/>
          <p:nvPr/>
        </p:nvSpPr>
        <p:spPr>
          <a:xfrm>
            <a:off x="594360" y="2249424"/>
            <a:ext cx="2377440" cy="2743"/>
          </a:xfrm>
          <a:prstGeom prst="rect">
            <a:avLst/>
          </a:prstGeom>
          <a:solidFill>
            <a:srgbClr val="3D4540"/>
          </a:solidFill>
          <a:ln/>
        </p:spPr>
        <p:txBody>
          <a:bodyPr/>
          <a:lstStyle/>
          <a:p>
            <a:endParaRPr lang="en-US"/>
          </a:p>
        </p:txBody>
      </p:sp>
      <p:sp>
        <p:nvSpPr>
          <p:cNvPr id="26" name="Text 24"/>
          <p:cNvSpPr/>
          <p:nvPr/>
        </p:nvSpPr>
        <p:spPr>
          <a:xfrm>
            <a:off x="594360" y="2304288"/>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$2.5B new economic value projected</a:t>
            </a:r>
            <a:endParaRPr lang="en-US" sz="650" dirty="0"/>
          </a:p>
        </p:txBody>
      </p:sp>
      <p:sp>
        <p:nvSpPr>
          <p:cNvPr id="27" name="Text 25"/>
          <p:cNvSpPr/>
          <p:nvPr/>
        </p:nvSpPr>
        <p:spPr>
          <a:xfrm>
            <a:off x="594360" y="2478024"/>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106K new jobs (2025–2028)</a:t>
            </a:r>
            <a:endParaRPr lang="en-US" sz="650" dirty="0"/>
          </a:p>
        </p:txBody>
      </p:sp>
      <p:sp>
        <p:nvSpPr>
          <p:cNvPr id="28" name="Text 26"/>
          <p:cNvSpPr/>
          <p:nvPr/>
        </p:nvSpPr>
        <p:spPr>
          <a:xfrm>
            <a:off x="594360" y="2651760"/>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704K people skilled, 1M target</a:t>
            </a:r>
            <a:endParaRPr lang="en-US" sz="650" dirty="0"/>
          </a:p>
        </p:txBody>
      </p:sp>
      <p:sp>
        <p:nvSpPr>
          <p:cNvPr id="29" name="Text 27"/>
          <p:cNvSpPr/>
          <p:nvPr/>
        </p:nvSpPr>
        <p:spPr>
          <a:xfrm>
            <a:off x="594360" y="2825496"/>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GoTo: Copilot saves 7 hrs/wk/engineer</a:t>
            </a:r>
            <a:endParaRPr lang="en-US" sz="650" dirty="0"/>
          </a:p>
        </p:txBody>
      </p:sp>
      <p:sp>
        <p:nvSpPr>
          <p:cNvPr id="30" name="Text 28"/>
          <p:cNvSpPr/>
          <p:nvPr/>
        </p:nvSpPr>
        <p:spPr>
          <a:xfrm>
            <a:off x="594360" y="2999232"/>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Telkomsel: self-service 19% → 45%</a:t>
            </a:r>
            <a:endParaRPr lang="en-US" sz="650" dirty="0"/>
          </a:p>
        </p:txBody>
      </p:sp>
      <p:sp>
        <p:nvSpPr>
          <p:cNvPr id="31" name="Text 29"/>
          <p:cNvSpPr/>
          <p:nvPr/>
        </p:nvSpPr>
        <p:spPr>
          <a:xfrm>
            <a:off x="594360" y="3172968"/>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BCA, BRI, Pertamina, Telkom onboard</a:t>
            </a:r>
            <a:endParaRPr lang="en-US" sz="650" dirty="0"/>
          </a:p>
        </p:txBody>
      </p:sp>
      <p:sp>
        <p:nvSpPr>
          <p:cNvPr id="32" name="Shape 30"/>
          <p:cNvSpPr/>
          <p:nvPr/>
        </p:nvSpPr>
        <p:spPr>
          <a:xfrm>
            <a:off x="3246120" y="1609344"/>
            <a:ext cx="2651760" cy="1874520"/>
          </a:xfrm>
          <a:prstGeom prst="roundRect">
            <a:avLst>
              <a:gd name="adj" fmla="val 3415"/>
            </a:avLst>
          </a:prstGeom>
          <a:solidFill>
            <a:srgbClr val="232925"/>
          </a:solidFill>
          <a:ln w="12700">
            <a:solidFill>
              <a:srgbClr val="3D4540"/>
            </a:solidFill>
            <a:prstDash val="solid"/>
          </a:ln>
        </p:spPr>
        <p:txBody>
          <a:bodyPr/>
          <a:lstStyle/>
          <a:p>
            <a:endParaRPr lang="en-US"/>
          </a:p>
        </p:txBody>
      </p:sp>
      <p:sp>
        <p:nvSpPr>
          <p:cNvPr id="33" name="Shape 31"/>
          <p:cNvSpPr/>
          <p:nvPr/>
        </p:nvSpPr>
        <p:spPr>
          <a:xfrm>
            <a:off x="3383280" y="1682496"/>
            <a:ext cx="640080" cy="155448"/>
          </a:xfrm>
          <a:prstGeom prst="roundRect">
            <a:avLst>
              <a:gd name="adj" fmla="val 23529"/>
            </a:avLst>
          </a:prstGeom>
          <a:solidFill>
            <a:srgbClr val="001C4D"/>
          </a:solidFill>
          <a:ln/>
        </p:spPr>
        <p:txBody>
          <a:bodyPr/>
          <a:lstStyle/>
          <a:p>
            <a:endParaRPr lang="en-US"/>
          </a:p>
        </p:txBody>
      </p:sp>
      <p:sp>
        <p:nvSpPr>
          <p:cNvPr id="34" name="Text 32"/>
          <p:cNvSpPr/>
          <p:nvPr/>
        </p:nvSpPr>
        <p:spPr>
          <a:xfrm>
            <a:off x="3383280" y="1682496"/>
            <a:ext cx="640080" cy="155448"/>
          </a:xfrm>
          <a:prstGeom prst="rect">
            <a:avLst/>
          </a:prstGeom>
          <a:noFill/>
          <a:ln/>
        </p:spPr>
        <p:txBody>
          <a:bodyPr wrap="square" rtlCol="0" anchor="ctr"/>
          <a:lstStyle/>
          <a:p>
            <a:pPr marL="0" indent="0" algn="ctr">
              <a:buNone/>
            </a:pPr>
            <a:r>
              <a:rPr lang="en-US" sz="550" b="1" dirty="0">
                <a:solidFill>
                  <a:srgbClr val="9EECFF"/>
                </a:solidFill>
                <a:latin typeface="Mona Sans" pitchFamily="34" charset="0"/>
                <a:ea typeface="Mona Sans" pitchFamily="34" charset="-122"/>
                <a:cs typeface="Mona Sans" pitchFamily="34" charset="-120"/>
              </a:rPr>
              <a:t>🇲🇾 MALAYSIA</a:t>
            </a:r>
            <a:endParaRPr lang="en-US" sz="550" dirty="0"/>
          </a:p>
        </p:txBody>
      </p:sp>
      <p:sp>
        <p:nvSpPr>
          <p:cNvPr id="35" name="Text 33"/>
          <p:cNvSpPr/>
          <p:nvPr/>
        </p:nvSpPr>
        <p:spPr>
          <a:xfrm>
            <a:off x="3383280" y="1883664"/>
            <a:ext cx="2377440" cy="182880"/>
          </a:xfrm>
          <a:prstGeom prst="rect">
            <a:avLst/>
          </a:prstGeom>
          <a:noFill/>
          <a:ln/>
        </p:spPr>
        <p:txBody>
          <a:bodyPr wrap="square" rtlCol="0" anchor="ctr"/>
          <a:lstStyle/>
          <a:p>
            <a:pPr marL="0" indent="0">
              <a:buNone/>
            </a:pPr>
            <a:r>
              <a:rPr lang="en-US" sz="1100" b="1" dirty="0">
                <a:solidFill>
                  <a:srgbClr val="F2F5F3"/>
                </a:solidFill>
                <a:latin typeface="Mona Sans" pitchFamily="34" charset="0"/>
                <a:ea typeface="Mona Sans" pitchFamily="34" charset="-122"/>
                <a:cs typeface="Mona Sans" pitchFamily="34" charset="-120"/>
              </a:rPr>
              <a:t>2 Datacenter Regions</a:t>
            </a:r>
            <a:endParaRPr lang="en-US" sz="1100" dirty="0"/>
          </a:p>
        </p:txBody>
      </p:sp>
      <p:sp>
        <p:nvSpPr>
          <p:cNvPr id="36" name="Text 34"/>
          <p:cNvSpPr/>
          <p:nvPr/>
        </p:nvSpPr>
        <p:spPr>
          <a:xfrm>
            <a:off x="3383280" y="2066544"/>
            <a:ext cx="2377440" cy="128016"/>
          </a:xfrm>
          <a:prstGeom prst="rect">
            <a:avLst/>
          </a:prstGeom>
          <a:noFill/>
          <a:ln/>
        </p:spPr>
        <p:txBody>
          <a:bodyPr wrap="square" rtlCol="0" anchor="ctr"/>
          <a:lstStyle/>
          <a:p>
            <a:pPr marL="0" indent="0">
              <a:buNone/>
            </a:pPr>
            <a:r>
              <a:rPr lang="en-US" sz="700" dirty="0">
                <a:solidFill>
                  <a:srgbClr val="3094FF"/>
                </a:solidFill>
                <a:latin typeface="Mona Sans" pitchFamily="34" charset="0"/>
                <a:ea typeface="Mona Sans" pitchFamily="34" charset="-122"/>
                <a:cs typeface="Mona Sans" pitchFamily="34" charset="-120"/>
              </a:rPr>
              <a:t>First cloud region in Malaysia + SE Asia 3</a:t>
            </a:r>
            <a:endParaRPr lang="en-US" sz="700" dirty="0"/>
          </a:p>
        </p:txBody>
      </p:sp>
      <p:sp>
        <p:nvSpPr>
          <p:cNvPr id="37" name="Shape 35"/>
          <p:cNvSpPr/>
          <p:nvPr/>
        </p:nvSpPr>
        <p:spPr>
          <a:xfrm>
            <a:off x="3383280" y="2249424"/>
            <a:ext cx="2377440" cy="2743"/>
          </a:xfrm>
          <a:prstGeom prst="rect">
            <a:avLst/>
          </a:prstGeom>
          <a:solidFill>
            <a:srgbClr val="3D4540"/>
          </a:solidFill>
          <a:ln/>
        </p:spPr>
        <p:txBody>
          <a:bodyPr/>
          <a:lstStyle/>
          <a:p>
            <a:endParaRPr lang="en-US"/>
          </a:p>
        </p:txBody>
      </p:sp>
      <p:sp>
        <p:nvSpPr>
          <p:cNvPr id="38" name="Text 36"/>
          <p:cNvSpPr/>
          <p:nvPr/>
        </p:nvSpPr>
        <p:spPr>
          <a:xfrm>
            <a:off x="3383280" y="2304288"/>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Malaysia West launched May 2025</a:t>
            </a:r>
            <a:endParaRPr lang="en-US" sz="650" dirty="0"/>
          </a:p>
        </p:txBody>
      </p:sp>
      <p:sp>
        <p:nvSpPr>
          <p:cNvPr id="39" name="Text 37"/>
          <p:cNvSpPr/>
          <p:nvPr/>
        </p:nvSpPr>
        <p:spPr>
          <a:xfrm>
            <a:off x="3383280" y="2478024"/>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SE Asia 3 planned in Johor Bahru</a:t>
            </a:r>
            <a:endParaRPr lang="en-US" sz="650" dirty="0"/>
          </a:p>
        </p:txBody>
      </p:sp>
      <p:sp>
        <p:nvSpPr>
          <p:cNvPr id="40" name="Text 38"/>
          <p:cNvSpPr/>
          <p:nvPr/>
        </p:nvSpPr>
        <p:spPr>
          <a:xfrm>
            <a:off x="3383280" y="2651760"/>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Next-gen AI-ready hyperscale infra</a:t>
            </a:r>
            <a:endParaRPr lang="en-US" sz="650" dirty="0"/>
          </a:p>
        </p:txBody>
      </p:sp>
      <p:sp>
        <p:nvSpPr>
          <p:cNvPr id="41" name="Text 39"/>
          <p:cNvSpPr/>
          <p:nvPr/>
        </p:nvSpPr>
        <p:spPr>
          <a:xfrm>
            <a:off x="3383280" y="2825496"/>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PETRONAS: cloud + AI + clean energy</a:t>
            </a:r>
            <a:endParaRPr lang="en-US" sz="650" dirty="0"/>
          </a:p>
        </p:txBody>
      </p:sp>
      <p:sp>
        <p:nvSpPr>
          <p:cNvPr id="42" name="Text 40"/>
          <p:cNvSpPr/>
          <p:nvPr/>
        </p:nvSpPr>
        <p:spPr>
          <a:xfrm>
            <a:off x="3383280" y="2999232"/>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TNG Digital (eWallet) onboard</a:t>
            </a:r>
            <a:endParaRPr lang="en-US" sz="650" dirty="0"/>
          </a:p>
        </p:txBody>
      </p:sp>
      <p:sp>
        <p:nvSpPr>
          <p:cNvPr id="43" name="Text 41"/>
          <p:cNvSpPr/>
          <p:nvPr/>
        </p:nvSpPr>
        <p:spPr>
          <a:xfrm>
            <a:off x="3383280" y="3172968"/>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3 availability zones per region</a:t>
            </a:r>
            <a:endParaRPr lang="en-US" sz="650" dirty="0"/>
          </a:p>
        </p:txBody>
      </p:sp>
      <p:sp>
        <p:nvSpPr>
          <p:cNvPr id="44" name="Shape 42"/>
          <p:cNvSpPr/>
          <p:nvPr/>
        </p:nvSpPr>
        <p:spPr>
          <a:xfrm>
            <a:off x="6035040" y="1609344"/>
            <a:ext cx="2651760" cy="1874520"/>
          </a:xfrm>
          <a:prstGeom prst="roundRect">
            <a:avLst>
              <a:gd name="adj" fmla="val 3415"/>
            </a:avLst>
          </a:prstGeom>
          <a:solidFill>
            <a:srgbClr val="232925"/>
          </a:solidFill>
          <a:ln w="12700">
            <a:solidFill>
              <a:srgbClr val="3D4540"/>
            </a:solidFill>
            <a:prstDash val="solid"/>
          </a:ln>
        </p:spPr>
        <p:txBody>
          <a:bodyPr/>
          <a:lstStyle/>
          <a:p>
            <a:endParaRPr lang="en-US"/>
          </a:p>
        </p:txBody>
      </p:sp>
      <p:sp>
        <p:nvSpPr>
          <p:cNvPr id="45" name="Shape 43"/>
          <p:cNvSpPr/>
          <p:nvPr/>
        </p:nvSpPr>
        <p:spPr>
          <a:xfrm>
            <a:off x="6172200" y="1682496"/>
            <a:ext cx="640080" cy="155448"/>
          </a:xfrm>
          <a:prstGeom prst="roundRect">
            <a:avLst>
              <a:gd name="adj" fmla="val 23529"/>
            </a:avLst>
          </a:prstGeom>
          <a:solidFill>
            <a:srgbClr val="001C4D"/>
          </a:solidFill>
          <a:ln/>
        </p:spPr>
        <p:txBody>
          <a:bodyPr/>
          <a:lstStyle/>
          <a:p>
            <a:endParaRPr lang="en-US"/>
          </a:p>
        </p:txBody>
      </p:sp>
      <p:sp>
        <p:nvSpPr>
          <p:cNvPr id="46" name="Text 44"/>
          <p:cNvSpPr/>
          <p:nvPr/>
        </p:nvSpPr>
        <p:spPr>
          <a:xfrm>
            <a:off x="6172200" y="1682496"/>
            <a:ext cx="640080" cy="155448"/>
          </a:xfrm>
          <a:prstGeom prst="rect">
            <a:avLst/>
          </a:prstGeom>
          <a:noFill/>
          <a:ln/>
        </p:spPr>
        <p:txBody>
          <a:bodyPr wrap="square" rtlCol="0" anchor="ctr"/>
          <a:lstStyle/>
          <a:p>
            <a:pPr marL="0" indent="0" algn="ctr">
              <a:buNone/>
            </a:pPr>
            <a:r>
              <a:rPr lang="en-US" sz="550" b="1" dirty="0">
                <a:solidFill>
                  <a:srgbClr val="9EECFF"/>
                </a:solidFill>
                <a:latin typeface="Mona Sans" pitchFamily="34" charset="0"/>
                <a:ea typeface="Mona Sans" pitchFamily="34" charset="-122"/>
                <a:cs typeface="Mona Sans" pitchFamily="34" charset="-120"/>
              </a:rPr>
              <a:t>🇹🇭 THAILAND</a:t>
            </a:r>
            <a:endParaRPr lang="en-US" sz="550" dirty="0"/>
          </a:p>
        </p:txBody>
      </p:sp>
      <p:sp>
        <p:nvSpPr>
          <p:cNvPr id="47" name="Text 45"/>
          <p:cNvSpPr/>
          <p:nvPr/>
        </p:nvSpPr>
        <p:spPr>
          <a:xfrm>
            <a:off x="6172200" y="1883664"/>
            <a:ext cx="2377440" cy="182880"/>
          </a:xfrm>
          <a:prstGeom prst="rect">
            <a:avLst/>
          </a:prstGeom>
          <a:noFill/>
          <a:ln/>
        </p:spPr>
        <p:txBody>
          <a:bodyPr wrap="square" rtlCol="0" anchor="ctr"/>
          <a:lstStyle/>
          <a:p>
            <a:pPr marL="0" indent="0">
              <a:buNone/>
            </a:pPr>
            <a:r>
              <a:rPr lang="en-US" sz="1100" b="1" dirty="0">
                <a:solidFill>
                  <a:srgbClr val="F2F5F3"/>
                </a:solidFill>
                <a:latin typeface="Mona Sans" pitchFamily="34" charset="0"/>
                <a:ea typeface="Mona Sans" pitchFamily="34" charset="-122"/>
                <a:cs typeface="Mona Sans" pitchFamily="34" charset="-120"/>
              </a:rPr>
              <a:t>New Cloud Region</a:t>
            </a:r>
            <a:endParaRPr lang="en-US" sz="1100" dirty="0"/>
          </a:p>
        </p:txBody>
      </p:sp>
      <p:sp>
        <p:nvSpPr>
          <p:cNvPr id="48" name="Text 46"/>
          <p:cNvSpPr/>
          <p:nvPr/>
        </p:nvSpPr>
        <p:spPr>
          <a:xfrm>
            <a:off x="6172200" y="2066544"/>
            <a:ext cx="2377440" cy="128016"/>
          </a:xfrm>
          <a:prstGeom prst="rect">
            <a:avLst/>
          </a:prstGeom>
          <a:noFill/>
          <a:ln/>
        </p:spPr>
        <p:txBody>
          <a:bodyPr wrap="square" rtlCol="0" anchor="ctr"/>
          <a:lstStyle/>
          <a:p>
            <a:pPr marL="0" indent="0">
              <a:buNone/>
            </a:pPr>
            <a:r>
              <a:rPr lang="en-US" sz="700" dirty="0">
                <a:solidFill>
                  <a:srgbClr val="3094FF"/>
                </a:solidFill>
                <a:latin typeface="Mona Sans" pitchFamily="34" charset="0"/>
                <a:ea typeface="Mona Sans" pitchFamily="34" charset="-122"/>
                <a:cs typeface="Mona Sans" pitchFamily="34" charset="-120"/>
              </a:rPr>
              <a:t>Announced by Satya Nadella, May 2024</a:t>
            </a:r>
            <a:endParaRPr lang="en-US" sz="700" dirty="0"/>
          </a:p>
        </p:txBody>
      </p:sp>
      <p:sp>
        <p:nvSpPr>
          <p:cNvPr id="49" name="Shape 47"/>
          <p:cNvSpPr/>
          <p:nvPr/>
        </p:nvSpPr>
        <p:spPr>
          <a:xfrm>
            <a:off x="6172200" y="2249424"/>
            <a:ext cx="2377440" cy="2743"/>
          </a:xfrm>
          <a:prstGeom prst="rect">
            <a:avLst/>
          </a:prstGeom>
          <a:solidFill>
            <a:srgbClr val="3D4540"/>
          </a:solidFill>
          <a:ln/>
        </p:spPr>
        <p:txBody>
          <a:bodyPr/>
          <a:lstStyle/>
          <a:p>
            <a:endParaRPr lang="en-US"/>
          </a:p>
        </p:txBody>
      </p:sp>
      <p:sp>
        <p:nvSpPr>
          <p:cNvPr id="50" name="Text 48"/>
          <p:cNvSpPr/>
          <p:nvPr/>
        </p:nvSpPr>
        <p:spPr>
          <a:xfrm>
            <a:off x="6172200" y="2304288"/>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100K+ people AI skilling target</a:t>
            </a:r>
            <a:endParaRPr lang="en-US" sz="650" dirty="0"/>
          </a:p>
        </p:txBody>
      </p:sp>
      <p:sp>
        <p:nvSpPr>
          <p:cNvPr id="51" name="Text 49"/>
          <p:cNvSpPr/>
          <p:nvPr/>
        </p:nvSpPr>
        <p:spPr>
          <a:xfrm>
            <a:off x="6172200" y="2478024"/>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900K+ devs on GitHub (24% YoY)</a:t>
            </a:r>
            <a:endParaRPr lang="en-US" sz="650" dirty="0"/>
          </a:p>
        </p:txBody>
      </p:sp>
      <p:sp>
        <p:nvSpPr>
          <p:cNvPr id="52" name="Text 50"/>
          <p:cNvSpPr/>
          <p:nvPr/>
        </p:nvSpPr>
        <p:spPr>
          <a:xfrm>
            <a:off x="6172200" y="2651760"/>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$117B AI GDP potential by 2030</a:t>
            </a:r>
            <a:endParaRPr lang="en-US" sz="650" dirty="0"/>
          </a:p>
        </p:txBody>
      </p:sp>
      <p:sp>
        <p:nvSpPr>
          <p:cNvPr id="53" name="Text 51"/>
          <p:cNvSpPr/>
          <p:nvPr/>
        </p:nvSpPr>
        <p:spPr>
          <a:xfrm>
            <a:off x="6172200" y="2825496"/>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AIS: GitHub Copilot + Azure OpenAI</a:t>
            </a:r>
            <a:endParaRPr lang="en-US" sz="650" dirty="0"/>
          </a:p>
        </p:txBody>
      </p:sp>
      <p:sp>
        <p:nvSpPr>
          <p:cNvPr id="54" name="Text 52"/>
          <p:cNvSpPr/>
          <p:nvPr/>
        </p:nvSpPr>
        <p:spPr>
          <a:xfrm>
            <a:off x="6172200" y="2999232"/>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SCBX/SCB: AI-first banking with Azure</a:t>
            </a:r>
            <a:endParaRPr lang="en-US" sz="650" dirty="0"/>
          </a:p>
        </p:txBody>
      </p:sp>
      <p:sp>
        <p:nvSpPr>
          <p:cNvPr id="55" name="Text 53"/>
          <p:cNvSpPr/>
          <p:nvPr/>
        </p:nvSpPr>
        <p:spPr>
          <a:xfrm>
            <a:off x="6172200" y="3172968"/>
            <a:ext cx="2377440" cy="155448"/>
          </a:xfrm>
          <a:prstGeom prst="rect">
            <a:avLst/>
          </a:prstGeom>
          <a:noFill/>
          <a:ln/>
        </p:spPr>
        <p:txBody>
          <a:bodyPr wrap="square" rtlCol="0" anchor="ctr"/>
          <a:lstStyle/>
          <a:p>
            <a:pPr marL="0" indent="0">
              <a:buNone/>
            </a:pPr>
            <a:r>
              <a:rPr lang="en-US" sz="650" dirty="0">
                <a:solidFill>
                  <a:srgbClr val="B6BFB8"/>
                </a:solidFill>
                <a:latin typeface="Mona Sans" pitchFamily="34" charset="0"/>
                <a:ea typeface="Mona Sans" pitchFamily="34" charset="-122"/>
                <a:cs typeface="Mona Sans" pitchFamily="34" charset="-120"/>
              </a:rPr>
              <a:t>🏥  NHSO: AI healthcare for 66M citizens</a:t>
            </a:r>
            <a:endParaRPr lang="en-US" sz="650" dirty="0"/>
          </a:p>
        </p:txBody>
      </p:sp>
      <p:sp>
        <p:nvSpPr>
          <p:cNvPr id="56" name="Shape 54"/>
          <p:cNvSpPr/>
          <p:nvPr/>
        </p:nvSpPr>
        <p:spPr>
          <a:xfrm>
            <a:off x="457200" y="3639312"/>
            <a:ext cx="8229600" cy="1024128"/>
          </a:xfrm>
          <a:prstGeom prst="roundRect">
            <a:avLst>
              <a:gd name="adj" fmla="val 6250"/>
            </a:avLst>
          </a:prstGeom>
          <a:solidFill>
            <a:srgbClr val="001C4D"/>
          </a:solidFill>
          <a:ln w="12700">
            <a:solidFill>
              <a:srgbClr val="212183"/>
            </a:solidFill>
            <a:prstDash val="solid"/>
          </a:ln>
        </p:spPr>
        <p:txBody>
          <a:bodyPr/>
          <a:lstStyle/>
          <a:p>
            <a:endParaRPr lang="en-US"/>
          </a:p>
        </p:txBody>
      </p:sp>
      <p:sp>
        <p:nvSpPr>
          <p:cNvPr id="57" name="Shape 55"/>
          <p:cNvSpPr/>
          <p:nvPr/>
        </p:nvSpPr>
        <p:spPr>
          <a:xfrm>
            <a:off x="640080" y="3776472"/>
            <a:ext cx="36576" cy="749808"/>
          </a:xfrm>
          <a:prstGeom prst="rect">
            <a:avLst/>
          </a:prstGeom>
          <a:solidFill>
            <a:srgbClr val="3094FF"/>
          </a:solidFill>
          <a:ln/>
        </p:spPr>
        <p:txBody>
          <a:bodyPr/>
          <a:lstStyle/>
          <a:p>
            <a:endParaRPr lang="en-US"/>
          </a:p>
        </p:txBody>
      </p:sp>
      <p:sp>
        <p:nvSpPr>
          <p:cNvPr id="58" name="Text 56"/>
          <p:cNvSpPr/>
          <p:nvPr/>
        </p:nvSpPr>
        <p:spPr>
          <a:xfrm>
            <a:off x="868680" y="3712464"/>
            <a:ext cx="4572000" cy="201168"/>
          </a:xfrm>
          <a:prstGeom prst="rect">
            <a:avLst/>
          </a:prstGeom>
          <a:noFill/>
          <a:ln/>
        </p:spPr>
        <p:txBody>
          <a:bodyPr wrap="square" rtlCol="0" anchor="ctr"/>
          <a:lstStyle/>
          <a:p>
            <a:pPr marL="0" indent="0">
              <a:buNone/>
            </a:pPr>
            <a:r>
              <a:rPr lang="en-US" sz="1200" b="1" dirty="0">
                <a:solidFill>
                  <a:srgbClr val="F2F5F3"/>
                </a:solidFill>
                <a:latin typeface="Mona Sans" pitchFamily="34" charset="0"/>
                <a:ea typeface="Mona Sans" pitchFamily="34" charset="-122"/>
                <a:cs typeface="Mona Sans" pitchFamily="34" charset="-120"/>
              </a:rPr>
              <a:t>A Platform for Growth Across ASEAN</a:t>
            </a:r>
            <a:endParaRPr lang="en-US" sz="1200" dirty="0"/>
          </a:p>
        </p:txBody>
      </p:sp>
      <p:sp>
        <p:nvSpPr>
          <p:cNvPr id="59" name="Text 57"/>
          <p:cNvSpPr/>
          <p:nvPr/>
        </p:nvSpPr>
        <p:spPr>
          <a:xfrm>
            <a:off x="868680" y="3931920"/>
            <a:ext cx="5303520" cy="658368"/>
          </a:xfrm>
          <a:prstGeom prst="rect">
            <a:avLst/>
          </a:prstGeom>
          <a:noFill/>
          <a:ln/>
        </p:spPr>
        <p:txBody>
          <a:bodyPr wrap="square" rtlCol="0" anchor="ctr"/>
          <a:lstStyle/>
          <a:p>
            <a:pPr marL="0" indent="0">
              <a:lnSpc>
                <a:spcPct val="125000"/>
              </a:lnSpc>
              <a:buNone/>
            </a:pPr>
            <a:r>
              <a:rPr lang="en-US" sz="750" dirty="0">
                <a:solidFill>
                  <a:srgbClr val="9EECFF"/>
                </a:solidFill>
                <a:latin typeface="Mona Sans" pitchFamily="34" charset="0"/>
                <a:ea typeface="Mona Sans" pitchFamily="34" charset="-122"/>
                <a:cs typeface="Mona Sans" pitchFamily="34" charset="-120"/>
              </a:rPr>
              <a:t>Microsoft's commitment extends across the ASEAN region — 2.5 million people targeted for AI skilling across Indonesia, Malaysia, Thailand, Philippines, and Vietnam. Combined with new datacenter regions, GitHub Copilot adoption at companies like GoTo Group and AIS, and Azure OpenAI deployments across banking, telco, healthcare and education, Microsoft is building the foundational infrastructure for Southeast Asia's AI-powered economy.</a:t>
            </a:r>
            <a:endParaRPr lang="en-US" sz="750" dirty="0"/>
          </a:p>
        </p:txBody>
      </p:sp>
      <p:sp>
        <p:nvSpPr>
          <p:cNvPr id="60" name="Shape 58"/>
          <p:cNvSpPr/>
          <p:nvPr/>
        </p:nvSpPr>
        <p:spPr>
          <a:xfrm>
            <a:off x="6583680" y="3776472"/>
            <a:ext cx="1920240" cy="749808"/>
          </a:xfrm>
          <a:prstGeom prst="roundRect">
            <a:avLst>
              <a:gd name="adj" fmla="val 7317"/>
            </a:avLst>
          </a:prstGeom>
          <a:solidFill>
            <a:srgbClr val="001433"/>
          </a:solidFill>
          <a:ln/>
        </p:spPr>
        <p:txBody>
          <a:bodyPr/>
          <a:lstStyle/>
          <a:p>
            <a:endParaRPr lang="en-US"/>
          </a:p>
        </p:txBody>
      </p:sp>
      <p:sp>
        <p:nvSpPr>
          <p:cNvPr id="61" name="Text 59"/>
          <p:cNvSpPr/>
          <p:nvPr/>
        </p:nvSpPr>
        <p:spPr>
          <a:xfrm>
            <a:off x="6583680" y="3803904"/>
            <a:ext cx="1920240" cy="320040"/>
          </a:xfrm>
          <a:prstGeom prst="rect">
            <a:avLst/>
          </a:prstGeom>
          <a:noFill/>
          <a:ln/>
        </p:spPr>
        <p:txBody>
          <a:bodyPr wrap="square" rtlCol="0" anchor="ctr"/>
          <a:lstStyle/>
          <a:p>
            <a:pPr marL="0" indent="0" algn="ctr">
              <a:buNone/>
            </a:pPr>
            <a:r>
              <a:rPr lang="en-US" sz="2800" b="1" dirty="0">
                <a:solidFill>
                  <a:srgbClr val="3094FF"/>
                </a:solidFill>
                <a:latin typeface="Mona Sans" pitchFamily="34" charset="0"/>
                <a:ea typeface="Mona Sans" pitchFamily="34" charset="-122"/>
                <a:cs typeface="Mona Sans" pitchFamily="34" charset="-120"/>
              </a:rPr>
              <a:t>70+</a:t>
            </a:r>
            <a:endParaRPr lang="en-US" sz="2800" dirty="0"/>
          </a:p>
        </p:txBody>
      </p:sp>
      <p:sp>
        <p:nvSpPr>
          <p:cNvPr id="62" name="Text 60"/>
          <p:cNvSpPr/>
          <p:nvPr/>
        </p:nvSpPr>
        <p:spPr>
          <a:xfrm>
            <a:off x="6583680" y="4114800"/>
            <a:ext cx="1920240" cy="365760"/>
          </a:xfrm>
          <a:prstGeom prst="rect">
            <a:avLst/>
          </a:prstGeom>
          <a:noFill/>
          <a:ln/>
        </p:spPr>
        <p:txBody>
          <a:bodyPr wrap="square" rtlCol="0" anchor="ctr"/>
          <a:lstStyle/>
          <a:p>
            <a:pPr marL="0" indent="0" algn="ctr">
              <a:lnSpc>
                <a:spcPct val="120000"/>
              </a:lnSpc>
              <a:buNone/>
            </a:pPr>
            <a:r>
              <a:rPr lang="en-US" sz="700" dirty="0">
                <a:solidFill>
                  <a:srgbClr val="B6BFB8"/>
                </a:solidFill>
                <a:latin typeface="Mona Sans" pitchFamily="34" charset="0"/>
                <a:ea typeface="Mona Sans" pitchFamily="34" charset="-122"/>
                <a:cs typeface="Mona Sans" pitchFamily="34" charset="-120"/>
              </a:rPr>
              <a:t>Azure datacenter regions</a:t>
            </a:r>
            <a:endParaRPr lang="en-US" sz="700" dirty="0"/>
          </a:p>
          <a:p>
            <a:pPr marL="0" indent="0" algn="ctr">
              <a:lnSpc>
                <a:spcPct val="120000"/>
              </a:lnSpc>
              <a:buNone/>
            </a:pPr>
            <a:r>
              <a:rPr lang="en-US" sz="700" dirty="0">
                <a:solidFill>
                  <a:srgbClr val="B6BFB8"/>
                </a:solidFill>
                <a:latin typeface="Mona Sans" pitchFamily="34" charset="0"/>
                <a:ea typeface="Mona Sans" pitchFamily="34" charset="-122"/>
                <a:cs typeface="Mona Sans" pitchFamily="34" charset="-120"/>
              </a:rPr>
              <a:t>across 33 countries</a:t>
            </a:r>
            <a:endParaRPr lang="en-US" sz="700" dirty="0"/>
          </a:p>
          <a:p>
            <a:pPr marL="0" indent="0" algn="ctr">
              <a:lnSpc>
                <a:spcPct val="120000"/>
              </a:lnSpc>
              <a:buNone/>
            </a:pPr>
            <a:r>
              <a:rPr lang="en-US" sz="700" dirty="0">
                <a:solidFill>
                  <a:srgbClr val="B6BFB8"/>
                </a:solidFill>
                <a:latin typeface="Mona Sans" pitchFamily="34" charset="0"/>
                <a:ea typeface="Mona Sans" pitchFamily="34" charset="-122"/>
                <a:cs typeface="Mona Sans" pitchFamily="34" charset="-120"/>
              </a:rPr>
              <a:t>More than any cloud provider</a:t>
            </a:r>
            <a:endParaRPr lang="en-US" sz="700" dirty="0"/>
          </a:p>
        </p:txBody>
      </p:sp>
      <p:sp>
        <p:nvSpPr>
          <p:cNvPr id="63" name="Shape 61"/>
          <p:cNvSpPr/>
          <p:nvPr/>
        </p:nvSpPr>
        <p:spPr>
          <a:xfrm>
            <a:off x="457200" y="4905756"/>
            <a:ext cx="8229600" cy="3658"/>
          </a:xfrm>
          <a:prstGeom prst="rect">
            <a:avLst/>
          </a:prstGeom>
          <a:solidFill>
            <a:srgbClr val="3D4540"/>
          </a:solidFill>
          <a:ln/>
        </p:spPr>
        <p:txBody>
          <a:bodyPr/>
          <a:lstStyle/>
          <a:p>
            <a:endParaRPr lang="en-US"/>
          </a:p>
        </p:txBody>
      </p:sp>
      <p:sp>
        <p:nvSpPr>
          <p:cNvPr id="64" name="Text 62"/>
          <p:cNvSpPr/>
          <p:nvPr/>
        </p:nvSpPr>
        <p:spPr>
          <a:xfrm>
            <a:off x="457200" y="4942332"/>
            <a:ext cx="4572000" cy="137160"/>
          </a:xfrm>
          <a:prstGeom prst="rect">
            <a:avLst/>
          </a:prstGeom>
          <a:noFill/>
          <a:ln/>
        </p:spPr>
        <p:txBody>
          <a:bodyPr wrap="square" rtlCol="0" anchor="ctr"/>
          <a:lstStyle/>
          <a:p>
            <a:pPr marL="0" indent="0">
              <a:buNone/>
            </a:pPr>
            <a:r>
              <a:rPr lang="en-US" sz="600" u="sng" dirty="0">
                <a:solidFill>
                  <a:srgbClr val="909692"/>
                </a:solidFill>
                <a:latin typeface="Mona Sans" pitchFamily="34" charset="0"/>
                <a:ea typeface="Mona Sans" pitchFamily="34" charset="-122"/>
                <a:cs typeface="Mona Sans" pitchFamily="34" charset="-120"/>
                <a:hlinkClick r:id="rId3">
                  <a:extLst>
                    <a:ext uri="{A12FA001-AC4F-418D-AE19-62706E023703}">
                      <ahyp:hlinkClr xmlns:ahyp="http://schemas.microsoft.com/office/drawing/2018/hyperlinkcolor" val="tx"/>
                    </a:ext>
                  </a:extLst>
                </a:hlinkClick>
              </a:rPr>
              <a:t>Source: azure.microsoft.com/blog  ·  news.microsoft.com</a:t>
            </a:r>
            <a:endParaRPr lang="en-US" sz="600" dirty="0"/>
          </a:p>
        </p:txBody>
      </p:sp>
      <p:sp>
        <p:nvSpPr>
          <p:cNvPr id="65" name="Text 63"/>
          <p:cNvSpPr/>
          <p:nvPr/>
        </p:nvSpPr>
        <p:spPr>
          <a:xfrm>
            <a:off x="5943600" y="4942332"/>
            <a:ext cx="2743200" cy="137160"/>
          </a:xfrm>
          <a:prstGeom prst="rect">
            <a:avLst/>
          </a:prstGeom>
          <a:noFill/>
          <a:ln/>
        </p:spPr>
        <p:txBody>
          <a:bodyPr wrap="square" rtlCol="0" anchor="ctr"/>
          <a:lstStyle/>
          <a:p>
            <a:pPr marL="0" indent="0" algn="r">
              <a:buNone/>
            </a:pPr>
            <a:r>
              <a:rPr lang="en-US" sz="600" dirty="0">
                <a:solidFill>
                  <a:srgbClr val="909692"/>
                </a:solidFill>
                <a:latin typeface="Mona Sans" pitchFamily="34" charset="0"/>
                <a:ea typeface="Mona Sans" pitchFamily="34" charset="-122"/>
                <a:cs typeface="Mona Sans" pitchFamily="34" charset="-120"/>
              </a:rPr>
              <a:t>Primer Security Theme  ·  primer.style</a:t>
            </a:r>
            <a:endParaRPr lang="en-US" sz="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7224B91-EB88-C146-A0F3-E66689001FD2}">
  <we:reference id="12345678-1234-1234-1234-123456789012" version="1.0.0.0" store="developer" storeType="Registry"/>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82</TotalTime>
  <Words>1366</Words>
  <Application>Microsoft Macintosh PowerPoint</Application>
  <PresentationFormat>On-screen Show (16:9)</PresentationFormat>
  <Paragraphs>217</Paragraphs>
  <Slides>7</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Aptos</vt:lpstr>
      <vt:lpstr>Arial</vt:lpstr>
      <vt:lpstr>Calibri</vt:lpstr>
      <vt:lpstr>Mona Sans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Benjamin Smillie</cp:lastModifiedBy>
  <cp:revision>8</cp:revision>
  <dcterms:created xsi:type="dcterms:W3CDTF">2013-01-27T09:14:16Z</dcterms:created>
  <dcterms:modified xsi:type="dcterms:W3CDTF">2026-03-19T11:08:56Z</dcterms:modified>
  <cp:category/>
</cp:coreProperties>
</file>