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6" r:id="rId4"/>
  </p:sldIdLst>
  <p:sldSz cx="9144000" cy="5143500" type="screen16x9"/>
  <p:notesSz cx="6858000" cy="9144000"/>
  <p:defaultTextStyle>
    <a:defPPr>
      <a:defRPr lang="en-US"/>
    </a:defPPr>
    <a:lvl1pPr marL="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93"/>
    <p:restoredTop sz="94677"/>
  </p:normalViewPr>
  <p:slideViewPr>
    <p:cSldViewPr snapToGrid="0" snapToObjects="1">
      <p:cViewPr varScale="1">
        <p:scale>
          <a:sx n="138" d="100"/>
          <a:sy n="138" d="100"/>
        </p:scale>
        <p:origin x="176" y="193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65ADB7-7410-3445-AF9C-1CE71E165676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CE8620-84B8-444D-AB48-33C73ACB79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50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722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6576" cy="2926080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https://github.githubassets.com/images/modules/logos_page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91440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651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SDK Demo Presentation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Presentation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291840" y="4389120"/>
            <a:ext cx="2560320" cy="502920"/>
          </a:xfrm>
          <a:prstGeom prst="roundRect">
            <a:avLst>
              <a:gd name="adj" fmla="val 27273"/>
            </a:avLst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291840" y="43891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Started →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8288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1031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3774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6517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9260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32004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4747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7490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0233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2976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5720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8463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51206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3949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56692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94360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21792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649224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676656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7040880" y="56692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18288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21031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23774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26517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29260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32004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34747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37490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40233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42976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45720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48463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51206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0"/>
          <p:cNvSpPr/>
          <p:nvPr/>
        </p:nvSpPr>
        <p:spPr>
          <a:xfrm>
            <a:off x="53949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56692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594360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621792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649224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676656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6"/>
          <p:cNvSpPr/>
          <p:nvPr/>
        </p:nvSpPr>
        <p:spPr>
          <a:xfrm>
            <a:off x="7040880" y="58978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7"/>
          <p:cNvSpPr/>
          <p:nvPr/>
        </p:nvSpPr>
        <p:spPr>
          <a:xfrm>
            <a:off x="18288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8"/>
          <p:cNvSpPr/>
          <p:nvPr/>
        </p:nvSpPr>
        <p:spPr>
          <a:xfrm>
            <a:off x="21031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49"/>
          <p:cNvSpPr/>
          <p:nvPr/>
        </p:nvSpPr>
        <p:spPr>
          <a:xfrm>
            <a:off x="23774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0"/>
          <p:cNvSpPr/>
          <p:nvPr/>
        </p:nvSpPr>
        <p:spPr>
          <a:xfrm>
            <a:off x="26517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1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2"/>
          <p:cNvSpPr/>
          <p:nvPr/>
        </p:nvSpPr>
        <p:spPr>
          <a:xfrm>
            <a:off x="32004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3"/>
          <p:cNvSpPr/>
          <p:nvPr/>
        </p:nvSpPr>
        <p:spPr>
          <a:xfrm>
            <a:off x="34747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4"/>
          <p:cNvSpPr/>
          <p:nvPr/>
        </p:nvSpPr>
        <p:spPr>
          <a:xfrm>
            <a:off x="37490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5"/>
          <p:cNvSpPr/>
          <p:nvPr/>
        </p:nvSpPr>
        <p:spPr>
          <a:xfrm>
            <a:off x="40233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6"/>
          <p:cNvSpPr/>
          <p:nvPr/>
        </p:nvSpPr>
        <p:spPr>
          <a:xfrm>
            <a:off x="42976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45720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463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51206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53949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1"/>
          <p:cNvSpPr/>
          <p:nvPr/>
        </p:nvSpPr>
        <p:spPr>
          <a:xfrm>
            <a:off x="56692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2"/>
          <p:cNvSpPr/>
          <p:nvPr/>
        </p:nvSpPr>
        <p:spPr>
          <a:xfrm>
            <a:off x="594360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3"/>
          <p:cNvSpPr/>
          <p:nvPr/>
        </p:nvSpPr>
        <p:spPr>
          <a:xfrm>
            <a:off x="621792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4"/>
          <p:cNvSpPr/>
          <p:nvPr/>
        </p:nvSpPr>
        <p:spPr>
          <a:xfrm>
            <a:off x="649224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5"/>
          <p:cNvSpPr/>
          <p:nvPr/>
        </p:nvSpPr>
        <p:spPr>
          <a:xfrm>
            <a:off x="676656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6"/>
          <p:cNvSpPr/>
          <p:nvPr/>
        </p:nvSpPr>
        <p:spPr>
          <a:xfrm>
            <a:off x="7040880" y="6126480"/>
            <a:ext cx="54864" cy="54864"/>
          </a:xfrm>
          <a:prstGeom prst="ellipse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7"/>
          <p:cNvSpPr/>
          <p:nvPr/>
        </p:nvSpPr>
        <p:spPr>
          <a:xfrm>
            <a:off x="457200" y="6217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1400" dirty="0"/>
          </a:p>
        </p:txBody>
      </p:sp>
      <p:sp>
        <p:nvSpPr>
          <p:cNvPr id="71" name="Text 68"/>
          <p:cNvSpPr/>
          <p:nvPr/>
        </p:nvSpPr>
        <p:spPr>
          <a:xfrm>
            <a:off x="6858000" y="6217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34127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45720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OF THE OCTOVERSE 2025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2286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Rise of Southeast Asia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512064"/>
            <a:ext cx="7315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fast-growing developer ecosystem powered by digital transformation, AI adoption &amp; open source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694944"/>
            <a:ext cx="8229600" cy="5486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777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03504" y="868680"/>
            <a:ext cx="91440" cy="91440"/>
          </a:xfrm>
          <a:prstGeom prst="ellipse">
            <a:avLst/>
          </a:prstGeom>
          <a:solidFill>
            <a:srgbClr val="DA36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  ·  SE Asia's Digital Powerhouse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03504" y="10058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4.37M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03504" y="1344168"/>
            <a:ext cx="32004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 on GitHub in 2025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3504" y="1527048"/>
            <a:ext cx="1234440" cy="182880"/>
          </a:xfrm>
          <a:prstGeom prst="roundRect">
            <a:avLst>
              <a:gd name="adj" fmla="val 20000"/>
            </a:avLst>
          </a:prstGeom>
          <a:solidFill>
            <a:srgbClr val="0E3A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" y="15270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 ~4.9× since 2020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901952" y="1527048"/>
            <a:ext cx="1280160" cy="182880"/>
          </a:xfrm>
          <a:prstGeom prst="roundRect">
            <a:avLst>
              <a:gd name="adj" fmla="val 20000"/>
            </a:avLst>
          </a:prstGeom>
          <a:solidFill>
            <a:srgbClr val="1C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901952" y="15270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0.9M in 2020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3504" y="1755648"/>
            <a:ext cx="96012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3504" y="1755648"/>
            <a:ext cx="960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Ranked #8 globally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1627632" y="1755648"/>
            <a:ext cx="128016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627632" y="17556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5 OSS contributors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2971800" y="1755648"/>
            <a:ext cx="123444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971800" y="17556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~50% of SE Asia economy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4754880" y="777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19472" y="822960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Regional Momentum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19472" y="1051560"/>
            <a:ext cx="960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870448" y="1051560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devs join from APAC every minute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919472" y="1298448"/>
            <a:ext cx="352044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19472" y="1344168"/>
            <a:ext cx="960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+13M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870448" y="1344168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new APAC devs in 2024–2025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919472" y="1591056"/>
            <a:ext cx="352044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19472" y="1636776"/>
            <a:ext cx="960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~50%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870448" y="1636776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SE Asia's online economy is Indonesia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919472" y="1883664"/>
            <a:ext cx="3520440" cy="365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19472" y="1929384"/>
            <a:ext cx="960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870448" y="1929384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new devs use Copilot in week one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237744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1792" y="243230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Fueling the Boom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" y="267004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94944" y="27249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🏛️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69264" y="272491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Government Skilling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13232" y="299008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National digital literacy initiatives and developer talent pipeline investment across the region.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736592" y="267004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09744" y="27249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🤖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084064" y="272491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Rapid AI Adoption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28032" y="299008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80% of new GitHub devs use Copilot in week one. AI projects surged +178% YoY.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21792" y="367588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4944" y="373075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69264" y="373075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Internet &amp; Startup Growth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3232" y="399592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Expanding broadband access fueling booming startup and fintech ecosystems.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736592" y="367588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809744" y="373075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084064" y="373075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 Momentum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828032" y="399592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 now a top-5 global OSS contributor. 255K new contributors in Mar '25.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57200" y="4887468"/>
            <a:ext cx="82296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57200" y="4924044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 Octoverse 2025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029200" y="4924044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octoverse.github.com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537087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9728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CUSTOMER STORIES  ·  SOUTHEAST ASIA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24688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at Scale in Indonesia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Tokopedia scaled from 300 to 1,000+ engineers — and transformed their entire software architecture with GitHub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768096"/>
            <a:ext cx="8229600" cy="5486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3108960" cy="374904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1792" y="987552"/>
            <a:ext cx="640080" cy="201168"/>
          </a:xfrm>
          <a:prstGeom prst="roundRect">
            <a:avLst>
              <a:gd name="adj" fmla="val 18182"/>
            </a:avLst>
          </a:prstGeom>
          <a:solidFill>
            <a:srgbClr val="0E3A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98755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FEATURED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621792" y="1234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Tokopedia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" y="1463040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Indonesia's Leading E-Commerce Platform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21792" y="1691640"/>
            <a:ext cx="2743200" cy="457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17830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7.6M+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27632" y="17830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merchants on platform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21792" y="2103120"/>
            <a:ext cx="27432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" y="216712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86.5%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27632" y="216712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first-time entrepreneurs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1792" y="2487168"/>
            <a:ext cx="27432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1792" y="255117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1,000+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627632" y="255117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engineers (from 300)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27432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1792" y="293522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200–300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27632" y="2935224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pushes to production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21792" y="3255264"/>
            <a:ext cx="27432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" y="331927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80%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627632" y="33192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automation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21792" y="3767328"/>
            <a:ext cx="86868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1792" y="3767328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Cloud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1545336" y="3767328"/>
            <a:ext cx="59436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545336" y="3767328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Actions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2194560" y="3767328"/>
            <a:ext cx="59436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194560" y="3767328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Packages</a:t>
            </a:r>
            <a:endParaRPr lang="en-US" sz="600" dirty="0"/>
          </a:p>
        </p:txBody>
      </p:sp>
      <p:sp>
        <p:nvSpPr>
          <p:cNvPr id="34" name="Shape 32"/>
          <p:cNvSpPr/>
          <p:nvPr/>
        </p:nvSpPr>
        <p:spPr>
          <a:xfrm>
            <a:off x="2843784" y="3767328"/>
            <a:ext cx="1005840" cy="182880"/>
          </a:xfrm>
          <a:prstGeom prst="roundRect">
            <a:avLst>
              <a:gd name="adj" fmla="val 20000"/>
            </a:avLst>
          </a:prstGeom>
          <a:solidFill>
            <a:srgbClr val="1A15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843784" y="3767328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Advisories</a:t>
            </a:r>
            <a:endParaRPr lang="en-US" sz="600" dirty="0"/>
          </a:p>
        </p:txBody>
      </p:sp>
      <p:sp>
        <p:nvSpPr>
          <p:cNvPr id="36" name="Shape 34"/>
          <p:cNvSpPr/>
          <p:nvPr/>
        </p:nvSpPr>
        <p:spPr>
          <a:xfrm>
            <a:off x="621792" y="4041648"/>
            <a:ext cx="1828800" cy="164592"/>
          </a:xfrm>
          <a:prstGeom prst="roundRect">
            <a:avLst>
              <a:gd name="adj" fmla="val 22222"/>
            </a:avLst>
          </a:prstGeom>
          <a:solidFill>
            <a:srgbClr val="1C1E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1792" y="4041648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50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github.com/customer-stories/tokopedia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3794760" y="86868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931920" y="9601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931920" y="9601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233672" y="9601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931920" y="1252728"/>
            <a:ext cx="4572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Tokopedia's monolith architecture couldn't scale with their engineering team growth from 300 to 1,000+ developers across multiple locations. On-premises code management created bottlenecks — everything had to go through one team for deployment.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794760" y="205740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931920" y="21488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931920" y="21488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🛠️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233672" y="21488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931920" y="2441448"/>
            <a:ext cx="4572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Migrated to GitHub Enterprise Cloud and transitioned to a microservices architecture. Individual engineers now manage their own code and deploy independently. GitHub Actions automates 80% of workflows — up from 20% with their previous vendor.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794760" y="324612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3931920" y="333756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931920" y="3337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</a:rPr>
              <a:t>🚀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233672" y="333756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Impact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931920" y="3611880"/>
            <a:ext cx="36576" cy="594360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069080" y="3611880"/>
            <a:ext cx="4407408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i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"We don't have to do deployment on a particular day or at a particular time. Now we do it 24/7, all throughout the year. GitHub is providing the essential tools to help us be more productive and also more stable."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069080" y="40873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Purnaresa Yuliartanto, Security Engineer Lead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457200" y="4887468"/>
            <a:ext cx="822960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57200" y="4924044"/>
            <a:ext cx="4114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github.com/customer-stories/tokopedia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029200" y="4924044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github.com/customer-stories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7224B91-EB88-C146-A0F3-E66689001FD2}">
  <we:reference id="12345678-1234-1234-1234-123456789012" version="1.0.0.0" store="developer" storeType="Registry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428</Words>
  <Application>Microsoft Macintosh PowerPoint</Application>
  <PresentationFormat>On-screen Show (16:9)</PresentationFormat>
  <Paragraphs>76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Benjamin Smillie</cp:lastModifiedBy>
  <cp:revision>4</cp:revision>
  <dcterms:created xsi:type="dcterms:W3CDTF">2013-01-27T09:14:16Z</dcterms:created>
  <dcterms:modified xsi:type="dcterms:W3CDTF">2026-03-19T10:25:26Z</dcterms:modified>
  <cp:category/>
</cp:coreProperties>
</file>