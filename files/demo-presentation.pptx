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6" r:id="rId4"/>
    <p:sldId id="260" r:id="rId5"/>
  </p:sldIdLst>
  <p:sldSz cx="9144000" cy="5143500" type="screen16x9"/>
  <p:notesSz cx="6858000" cy="9144000"/>
  <p:defaultTextStyle>
    <a:defPPr>
      <a:defRPr lang="en-US"/>
    </a:defPPr>
    <a:lvl1pPr marL="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93"/>
    <p:restoredTop sz="94677"/>
  </p:normalViewPr>
  <p:slideViewPr>
    <p:cSldViewPr snapToGrid="0" snapToObjects="1">
      <p:cViewPr varScale="1">
        <p:scale>
          <a:sx n="138" d="100"/>
          <a:sy n="138" d="100"/>
        </p:scale>
        <p:origin x="176" y="193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5ADB7-7410-3445-AF9C-1CE71E165676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CE8620-84B8-444D-AB48-33C73ACB7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0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722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ustomer-stories/duolingo" TargetMode="External"/><Relationship Id="rId3" Type="http://schemas.openxmlformats.org/officeDocument/2006/relationships/hyperlink" Target="https://github.com/customer-stories/tokopedia" TargetMode="External"/><Relationship Id="rId7" Type="http://schemas.openxmlformats.org/officeDocument/2006/relationships/hyperlink" Target="https://github.com/customer-stories/philip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ustomer-stories/mercedes-benz" TargetMode="External"/><Relationship Id="rId5" Type="http://schemas.openxmlformats.org/officeDocument/2006/relationships/hyperlink" Target="https://github.com/customer-stories/vodafone" TargetMode="External"/><Relationship Id="rId4" Type="http://schemas.openxmlformats.org/officeDocument/2006/relationships/hyperlink" Target="https://github.com/customer-stories/stripe" TargetMode="External"/><Relationship Id="rId9" Type="http://schemas.openxmlformats.org/officeDocument/2006/relationships/hyperlink" Target="https://github.com/customer-stori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" cy="292608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https://github.githubassets.com/images/modules/logos_page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91440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SDK Demo Presentation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Presentation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291840" y="438912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291840" y="4389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288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1031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3774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517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9260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2004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4747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7490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0233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2976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5720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1206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3949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6692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9436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2179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4922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7665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0408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18288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21031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3774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26517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29260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32004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34747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37490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0233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2976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45720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8463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51206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53949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56692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59436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62179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64922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67665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70408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18288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21031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9"/>
          <p:cNvSpPr/>
          <p:nvPr/>
        </p:nvSpPr>
        <p:spPr>
          <a:xfrm>
            <a:off x="23774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26517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2"/>
          <p:cNvSpPr/>
          <p:nvPr/>
        </p:nvSpPr>
        <p:spPr>
          <a:xfrm>
            <a:off x="32004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34747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37490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40233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42976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45720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463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51206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53949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1"/>
          <p:cNvSpPr/>
          <p:nvPr/>
        </p:nvSpPr>
        <p:spPr>
          <a:xfrm>
            <a:off x="56692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59436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3"/>
          <p:cNvSpPr/>
          <p:nvPr/>
        </p:nvSpPr>
        <p:spPr>
          <a:xfrm>
            <a:off x="62179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4"/>
          <p:cNvSpPr/>
          <p:nvPr/>
        </p:nvSpPr>
        <p:spPr>
          <a:xfrm>
            <a:off x="64922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67665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70408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7"/>
          <p:cNvSpPr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1400" dirty="0"/>
          </a:p>
        </p:txBody>
      </p:sp>
      <p:sp>
        <p:nvSpPr>
          <p:cNvPr id="71" name="Text 68"/>
          <p:cNvSpPr/>
          <p:nvPr/>
        </p:nvSpPr>
        <p:spPr>
          <a:xfrm>
            <a:off x="6858000" y="6217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3412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45720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OF THE OCTOVERSE 2025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Rise of Southeast Asia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512064"/>
            <a:ext cx="7315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fast-growing developer ecosystem powered by digital transformation, AI adoption &amp; open source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694944"/>
            <a:ext cx="8229600" cy="5486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777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3504" y="868680"/>
            <a:ext cx="91440" cy="91440"/>
          </a:xfrm>
          <a:prstGeom prst="ellipse">
            <a:avLst/>
          </a:prstGeom>
          <a:solidFill>
            <a:srgbClr val="DA36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  ·  SE Asia's Digital Powerhouse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3504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03504" y="1344168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on GitHub in 2025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3504" y="1527048"/>
            <a:ext cx="1234440" cy="182880"/>
          </a:xfrm>
          <a:prstGeom prst="roundRect">
            <a:avLst>
              <a:gd name="adj" fmla="val 20000"/>
            </a:avLst>
          </a:prstGeom>
          <a:solidFill>
            <a:srgbClr val="0E3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15270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~4.9× since 2020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01952" y="1527048"/>
            <a:ext cx="1280160" cy="182880"/>
          </a:xfrm>
          <a:prstGeom prst="roundRect">
            <a:avLst>
              <a:gd name="adj" fmla="val 20000"/>
            </a:avLst>
          </a:prstGeom>
          <a:solidFill>
            <a:srgbClr val="1C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901952" y="15270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0.9M in 2020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3504" y="1755648"/>
            <a:ext cx="96012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3504" y="1755648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#8 globally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1627632" y="1755648"/>
            <a:ext cx="128016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27632" y="17556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5 OSS contributors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2971800" y="1755648"/>
            <a:ext cx="123444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971800" y="1755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~50% of SE Asia economy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754880" y="777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19472" y="822960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Regional Momentum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19472" y="1051560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870448" y="1051560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devs join from APAC every minute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919472" y="1298448"/>
            <a:ext cx="352044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19472" y="1344168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+13M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870448" y="1344168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new APAC devs in 2024–2025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919472" y="1591056"/>
            <a:ext cx="352044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19472" y="1636776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~50%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70448" y="1636776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SE Asia's online economy is Indonesia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919472" y="1883664"/>
            <a:ext cx="352044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19472" y="1929384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870448" y="192938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new devs use Copilot in week one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37744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1792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Fueling the Boom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" y="267004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4944" y="27249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🏛️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69264" y="27249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Skilling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3232" y="299008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digital literacy initiatives and developer talent pipeline investment across the region.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736592" y="267004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09744" y="27249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🤖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84064" y="27249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AI Adoption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28032" y="299008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 of new GitHub devs use Copilot in week one. AI projects surged +178% YoY.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1792" y="36758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4944" y="373075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69264" y="3730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Internet &amp; Startup Growth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3232" y="399592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Expanding broadband access fueling booming startup and fintech ecosystems.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736592" y="36758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809744" y="373075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084064" y="3730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Momentum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28032" y="399592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 now a top-5 global OSS contributor. 255K new contributors in Mar '25.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57200" y="4887468"/>
            <a:ext cx="82296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492404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 Octoverse 2025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029200" y="492404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octoverse.github.com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537087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9728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CUSTOMER STORIES  ·  SOUTHEAST ASIA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24688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at Scale in Indonesia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Tokopedia scaled from 300 to 1,000+ engineers — and transformed their entire software architecture with GitHub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768096"/>
            <a:ext cx="8229600" cy="5486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3108960" cy="374904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" y="987552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0E3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98755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FEATURED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621792" y="1234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Tokopedia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" y="1463040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Indonesia's Leading E-Commerce Platform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21792" y="1691640"/>
            <a:ext cx="2743200" cy="457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17830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7.6M+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27632" y="17830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merchants on platform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" y="2103120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21671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86.5%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27632" y="216712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first-time entrepreneurs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" y="2487168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" y="255117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27632" y="25511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engineers (from 300)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1792" y="293522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200–300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27632" y="293522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pushes to production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21792" y="3255264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" y="33192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27632" y="3319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automation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21792" y="3767328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" y="3767328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Cloud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1545336" y="3767328"/>
            <a:ext cx="59436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545336" y="3767328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Actions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2194560" y="3767328"/>
            <a:ext cx="59436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194560" y="3767328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2843784" y="3767328"/>
            <a:ext cx="100584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843784" y="376732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Advisories</a:t>
            </a:r>
            <a:endParaRPr lang="en-US" sz="600" dirty="0"/>
          </a:p>
        </p:txBody>
      </p:sp>
      <p:sp>
        <p:nvSpPr>
          <p:cNvPr id="36" name="Shape 34"/>
          <p:cNvSpPr/>
          <p:nvPr/>
        </p:nvSpPr>
        <p:spPr>
          <a:xfrm>
            <a:off x="621792" y="4041648"/>
            <a:ext cx="1828800" cy="164592"/>
          </a:xfrm>
          <a:prstGeom prst="roundRect">
            <a:avLst>
              <a:gd name="adj" fmla="val 22222"/>
            </a:avLst>
          </a:prstGeom>
          <a:solidFill>
            <a:srgbClr val="1C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1792" y="4041648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github.com/customer-stories/tokopedia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3794760" y="8686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31920" y="9601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931920" y="9601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33672" y="9601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931920" y="1252728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Tokopedia's monolith architecture couldn't scale with their engineering team growth from 300 to 1,000+ developers across multiple locations. On-premises code management created bottlenecks — everything had to go through one team for deployment.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794760" y="205740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931920" y="21488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931920" y="21488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🛠️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233672" y="21488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931920" y="2441448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Migrated to GitHub Enterprise Cloud and transitioned to a microservices architecture. Individual engineers now manage their own code and deploy independently. GitHub Actions automates 80% of workflows — up from 20% with their previous vendor.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794760" y="324612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931920" y="333756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3337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🚀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233672" y="33375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Impact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931920" y="3611880"/>
            <a:ext cx="36576" cy="59436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069080" y="3611880"/>
            <a:ext cx="4407408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have to do deployment on a particular day or at a particular time. Now we do it 24/7, all throughout the year. GitHub is providing the essential tools to help us be more productive and also more stable."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0690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Purnaresa Yuliartanto, Security Engineer Lead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57200" y="4887468"/>
            <a:ext cx="82296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57200" y="4924044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github.com/customer-stories/tokopedia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029200" y="492404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github.com/customer-stories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54864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CUSTOMER STORIES  ·  INDUSTRY MAPPING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65760" y="21945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Across SE Asia's Key Verticals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7315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 proven customer stories to Southeast Asia's highest-growth industries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65760" y="694944"/>
            <a:ext cx="8412480" cy="457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804672"/>
            <a:ext cx="2743200" cy="2011680"/>
          </a:xfrm>
          <a:prstGeom prst="roundRect">
            <a:avLst>
              <a:gd name="adj" fmla="val 3182"/>
            </a:avLst>
          </a:prstGeom>
          <a:solidFill>
            <a:srgbClr val="0E2117"/>
          </a:solidFill>
          <a:ln w="12700">
            <a:solidFill>
              <a:srgbClr val="2386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877824"/>
            <a:ext cx="777240" cy="155448"/>
          </a:xfrm>
          <a:prstGeom prst="roundRect">
            <a:avLst>
              <a:gd name="adj" fmla="val 23529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77824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</a:t>
            </a:r>
            <a:endParaRPr lang="en-US" sz="550" dirty="0"/>
          </a:p>
        </p:txBody>
      </p:sp>
      <p:sp>
        <p:nvSpPr>
          <p:cNvPr id="11" name="Shape 9"/>
          <p:cNvSpPr/>
          <p:nvPr/>
        </p:nvSpPr>
        <p:spPr>
          <a:xfrm>
            <a:off x="1280160" y="877824"/>
            <a:ext cx="594360" cy="155448"/>
          </a:xfrm>
          <a:prstGeom prst="roundRect">
            <a:avLst>
              <a:gd name="adj" fmla="val 23529"/>
            </a:avLst>
          </a:prstGeom>
          <a:solidFill>
            <a:srgbClr val="0E3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80160" y="877824"/>
            <a:ext cx="59436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ASIA ✦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457200" y="107899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🛒  Digital Marketplace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129844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u="sng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Tokopedia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737360" y="129844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🇮🇩 Indonesia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1499616"/>
            <a:ext cx="256032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155448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"200–300 daily pushes to production with 80% workflow automation via GitHub Actions."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5603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Cloud · Actions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645920" y="256032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full story →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3200400" y="804672"/>
            <a:ext cx="2743200" cy="2011680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91840" y="877824"/>
            <a:ext cx="777240" cy="155448"/>
          </a:xfrm>
          <a:prstGeom prst="roundRect">
            <a:avLst>
              <a:gd name="adj" fmla="val 23529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91840" y="877824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FINTECH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3291840" y="107899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 Payments &amp; Banking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0" y="129844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Stripe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0" y="129844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🇸🇬 Singapore hub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291840" y="1499616"/>
            <a:ext cx="256032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91840" y="155448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"Live in 34 countries from its Singapore engineering hub. GitHub Enterprise at the heart of their DevOps."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291840" y="25603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· Open Source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4480560" y="256032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full story →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6035040" y="804672"/>
            <a:ext cx="2743200" cy="2011680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126480" y="877824"/>
            <a:ext cx="777240" cy="155448"/>
          </a:xfrm>
          <a:prstGeom prst="roundRect">
            <a:avLst>
              <a:gd name="adj" fmla="val 23529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126480" y="877824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TELECOMMUNICATIONS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6126480" y="107899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 Telco &amp; Connectivity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26480" y="129844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u="sng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Vodafone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06640" y="129844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🌏 21 countries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26480" y="1499616"/>
            <a:ext cx="256032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0" y="155448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"9,000+ devs across 12 countries unified on GitHub Enterprise. CI with Actions driving cultural shift."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126480" y="25603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· Actions · GHAS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315200" y="256032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full story →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365760" y="2907792"/>
            <a:ext cx="2743200" cy="2011680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7200" y="2980944"/>
            <a:ext cx="777240" cy="155448"/>
          </a:xfrm>
          <a:prstGeom prst="roundRect">
            <a:avLst>
              <a:gd name="adj" fmla="val 23529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57200" y="2980944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D2A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AUTOMOTIVE</a:t>
            </a:r>
            <a:endParaRPr lang="en-US" sz="550" dirty="0"/>
          </a:p>
        </p:txBody>
      </p:sp>
      <p:sp>
        <p:nvSpPr>
          <p:cNvPr id="43" name="Text 41"/>
          <p:cNvSpPr/>
          <p:nvPr/>
        </p:nvSpPr>
        <p:spPr>
          <a:xfrm>
            <a:off x="457200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🚗  Mobility &amp; Manufacturing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40156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u="sng" dirty="0">
                <a:solidFill>
                  <a:srgbClr val="D2A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Mercedes-Benz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737360" y="340156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🌏 Global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57200" y="3602736"/>
            <a:ext cx="256032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6576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"55,000+ devs accepted 2M+ lines of Copilot code. 115K repos across 4,300 orgs."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66344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· Copilot · Actions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1645920" y="466344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full story →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200400" y="2907792"/>
            <a:ext cx="2743200" cy="2011680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3291840" y="2980944"/>
            <a:ext cx="777240" cy="155448"/>
          </a:xfrm>
          <a:prstGeom prst="roundRect">
            <a:avLst>
              <a:gd name="adj" fmla="val 23529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3291840" y="2980944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TECH</a:t>
            </a:r>
            <a:endParaRPr lang="en-US" sz="550" dirty="0"/>
          </a:p>
        </p:txBody>
      </p:sp>
      <p:sp>
        <p:nvSpPr>
          <p:cNvPr id="53" name="Text 51"/>
          <p:cNvSpPr/>
          <p:nvPr/>
        </p:nvSpPr>
        <p:spPr>
          <a:xfrm>
            <a:off x="3291840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🏥  Healthcare &amp; MedTech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291840" y="340156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u="sng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0" y="340156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🌏 Global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291840" y="3602736"/>
            <a:ext cx="256032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291840" y="36576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"6,000+ devs, 85% of code innersourced. GitHub accelerating innovation to improve 2.5B lives/yr."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291840" y="466344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Cloud · Actions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4480560" y="466344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full story →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6035040" y="2907792"/>
            <a:ext cx="2743200" cy="2011680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126480" y="2980944"/>
            <a:ext cx="777240" cy="155448"/>
          </a:xfrm>
          <a:prstGeom prst="roundRect">
            <a:avLst>
              <a:gd name="adj" fmla="val 23529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126480" y="2980944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</a:t>
            </a:r>
            <a:endParaRPr lang="en-US" sz="550" dirty="0"/>
          </a:p>
        </p:txBody>
      </p:sp>
      <p:sp>
        <p:nvSpPr>
          <p:cNvPr id="63" name="Text 61"/>
          <p:cNvSpPr/>
          <p:nvPr/>
        </p:nvSpPr>
        <p:spPr>
          <a:xfrm>
            <a:off x="6126480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 EdTech &amp; Learning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126480" y="340156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u="sng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Duolingo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406640" y="340156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🌏 500M+ users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126480" y="3602736"/>
            <a:ext cx="256032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126480" y="36576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"Dropped median code review turnaround from 3 hours to 1 hour. 400 repos from innersource growth."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126480" y="466344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· Copilot · APIs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15200" y="466344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full story →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365760" y="4905756"/>
            <a:ext cx="841248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365760" y="4942332"/>
            <a:ext cx="6400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github.com/customer-stories  ·  Tokopedia is the only published SE Asian story; others are global parallels for key verticals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5943600" y="4942332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50" u="sng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github.com/customer-stories</a:t>
            </a:r>
            <a:endParaRPr lang="en-US" sz="650" dirty="0"/>
          </a:p>
        </p:txBody>
      </p:sp>
    </p:spTree>
    <p:extLst>
      <p:ext uri="{BB962C8B-B14F-4D97-AF65-F5344CB8AC3E}">
        <p14:creationId xmlns:p14="http://schemas.microsoft.com/office/powerpoint/2010/main" val="2068637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7224B91-EB88-C146-A0F3-E66689001FD2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697</Words>
  <Application>Microsoft Macintosh PowerPoint</Application>
  <PresentationFormat>On-screen Show (16:9)</PresentationFormat>
  <Paragraphs>125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Benjamin Smillie</cp:lastModifiedBy>
  <cp:revision>6</cp:revision>
  <dcterms:created xsi:type="dcterms:W3CDTF">2013-01-27T09:14:16Z</dcterms:created>
  <dcterms:modified xsi:type="dcterms:W3CDTF">2026-03-19T10:38:14Z</dcterms:modified>
  <cp:category/>
</cp:coreProperties>
</file>